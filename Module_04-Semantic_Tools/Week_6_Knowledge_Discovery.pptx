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515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Semantic Tools. Today we cross into territory that ties everything together — and also points directly toward where we're going with causal inference and Neo4j.
What we’ve done so far? Probability gave you a language for uncertainty — which is really just a formal way of saying "I'm not sure, but here's how not-sure I am." Dimensionality reduction showed you that data has hidden shape, and that finding that shape often matters more than the raw features. And last week, with word embeddings, you saw something remarkable: that you can encode *meaning* as a point in space, and then do arithmetic on it. Blue minus red plus green gives you something close to teal. King minus man plus woman gives you something close to queen. Meaning became geometry.
Today's question is: what happens when geometry isn't enough? What if you don't just want to know that two things are similar — you want to know *how* and *why* they're related? That's what knowledge discovery and semantic tools are about. Let's dig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anywhere new, let's take a minute to orient ourselves. Think of this course as a layered argument — each module hands something essential to the one that follows.
We started with probability: how to think formally about uncertainty, how distributions describe what could happen and how likely each possibility is, and why the normal distribution keeps showing up even when your data doesn't look normal. Probability is the disciplined alternative to gut instinct — and gut instinct, as we saw with the lottery story, is surprisingly unreliable.
Then we moved into high-dimensional geometry. We saw that as the number of features grows, distance stops working the way you expect — everything starts looking equally far from everything else, which is exactly why nearest-neighbor methods and clustering can fall apart on large feature sets. SVD, PCA, and UMAP are the tools that fight that, compressing redundant structure down to what actually matters.
Last time we discussed word embeddings — and this is where things started feeling almost philosophical. A word is a point. Distance is similarity. You can do vector arithmetic on meaning. That's a powerful idea, and today we're going to push it further: what happens when geometry alone isn't enough to capture the relationships you care about?
That's where knowledge graphs and semantic tools come in — and eventually, where we're going: causal inference and the graph universe, where the relationships carry explicit meaning, direction, and sometimes even causality.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what a search engine actually does when you type a query. It doesn't understand your question the way a librarian would. It's doing sophisticated statistical pattern-matching — finding documents where the words you used appear frequently, in contexts where other words like them also appear. It's incredibly powerful. And it's also fundamentally limited, because it's working with text patterns, not meaning.
Here's a concrete illustration. If you type "Apple stock price" into a search engine, it can figure out you mean the company, not the fruit — because "stock price" disambiguates it statistically. But what if you type "I need something to pair with brie"? Now the engine has to work hard. Is this a wine question? A food question? The word "pair" is used in a dozen different senses.
Humans resolve this effortlessly because we carry context, experience, and shared knowledge. We know that brie is a cheese. We know cheese goes with wine. We make that leap instantly and invisibly.
The ongoing project of the semantic web is to give machines some version of that contextual knowledge — not by making them smarter in a general sense, but by formalizing the structure of knowledge itself, so that machines can navigate it without having to guess. Today we're going to look at the tools that make that possible: how we structure knowledge, how we store it, and how we query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distinction that trips people up constantly, even people who work in tech, because the names are so similar. Let me be very direct about this.
Web3 — no space, no decimal point — is about blockchain. It's a vision of a decentralized internet where you own your data and your digital assets, and no single company controls the infrastructure. That's a legitimate idea with its own interesting problems. But the key technical characteristic is that once data is on a blockchain, it's essentially permanent — distributed across so many nodes that changing it is extraordinarily difficult. That immutability is the point of blockchain. It's a feature, not a bug.
Web 3.0 — with the space and the decimal point — is completely different. It's the Semantic Web, a project that predates blockchain by about a decade. Tim Berners-Lee, who invented the World Wide Web, has been pushing this vision since the early 2000s. The idea is to extend the web not by changing who controls it, but by making its data interpretable by machines. And crucially, unlike blockchain, data in Web 3.0 is designed to be easily updated, corrected, and refined. It's built on W3C standards — RDF, SPARQL, OWL, SKOS — which we're going to look at today.
So: Web3 is about decentralized ownership. Web 3.0 is about machine-readable meaning. Both are real, both matter, and for the rest of today we're firmly in Web 3.0 territory.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 question. If I say to you right now, "hey, look at that apple" — you know exactly what I mean, right? Depending on where we are, depending on what we were just talking about, you'd glance at a piece of fruit, or look at someone's laptop, or notice a logo on a storefront. You don't even consciously process the disambiguation. It happens automatically, in milliseconds, because you're drawing on an enormous reservoir of shared context and experience.
A machine doesn't have that reservoir. Or rather, building that reservoir — giving machines some version of the shared knowledge that humans carry implicitly — is exactly what the semantic web project is trying to do.
The way linguists break this down is helpful. There are four distinct layers involved when we make meaning from language. Syntax is the rules — the grammar that makes a sentence well-formed rather than a word salad. Semantics is the literal meaning — what the words actually denote. Context is everything surrounding the statement — where you are, what just happened, who's speaking. And pragmatics is how context modifies meaning — the gap between what someone literally says and what they actually intend.
All four of these are things humans do automatically and constantly. The semantic web is an attempt to formalize them — to give machines the equivalent of a shared knowledge base that they can use to interpret statements the way we do. And interestingly, this connects back to what we did with word embeddings last week: embeddings capture some of the semantic layer geometrically. Today we're adding formal structure — relationships, types, and constraints — on top of that geometry.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of a schema actually comes from cognitive psychology before it ever appeared in computer science. In psychology, a schema is the mental framework that lets you make sense of new information by connecting it to things you already know. When I say "restaurant," you immediately activate a schema — host, table, menu, waiter, bill — even without me spelling any of that out. You have a pre-built template that fills in the gaps.
Schema.org takes that idea and applies it to the web. Most of you are probably familiar with HTML tags — the angle-bracket markup that tells a browser to display something as a heading, a paragraph, an image. The problem with plain HTML is that it tells the browser how to show something, but not what it is. A heading that says "Avatar" could be a movie, a profile picture, or a spiritual concept — the markup doesn't say.
Schema.org solves this by providing a shared vocabulary of types and properties that you can add to your HTML. Once you mark something as a Movie, or a Person, or a Product, the major search engines — Google, Microsoft, Yahoo, Yandex — can understand what they're looking at and reason about it accordingly. That's how Google knows to show you a rich card with ratings and cast when you search for a film. That's schema markup at work.
This is the starting point for today's journey. We're moving from "the browser knows how to display this" toward "the machine knows what this is." And from here, it gets considerably more powerful.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RDF — the Resource Description Framework — is the bedrock of the semantic web. Every single thing you can express in the semantic web ultimately breaks down into triples: a subject, a predicate, and an object. Three pieces. That's it.
The subject is the thing you're describing. The predicate is the relationship. The object is what the subject is related to. "Bob is interested in the Mona Lisa." Bob is the subject. "is interested in" is the predicate — the relationship. The Mona Lisa is the object. One triple.
What makes RDF powerful is that you can chain these together. Bob is a Person. The Mona Lisa was created by Leonardo da Vinci. Now you have a little graph — Bob connects to the Mona Lisa, the Mona Lisa connects to Leonardo, and a machine can traverse those connections, ask questions about them, and infer new things. Can you infer from these three triples that Bob is interested in something created by Leonardo? Yes. A machine can make that inference mechanically, because the structure is explicit.
This is fundamentally different from word embeddings, which we worked with last week. Embeddings capture semantic similarity — two words are close in vector space if they're used in similar contexts. But they don't capture structure. They don't tell you that Bob is a Person, or that the Mona Lisa was created by Leonardo specifically, not just that Leonardo and the Mona Lisa are semantically related. RDF gives you that specificity. It gives you typed, directed, labeled relationships — which is exactly what a knowledge graph is made of.
Each element of a triple is identified by a URI — a Uniform Resource Identifier — which we'll look at shortly. This is how RDF avoids ambiguity: "Apple the company" and "apple the fruit" have different URIs, so a triple about Apple the company can never be confused with one about fruit.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knowledge graph takes the triple idea from RDF and turns it into a network. Each node is an entity — a person, a place, an event, a concept. Each edge is a relationship. And crucially, unlike a generic graph in mathematics where nodes and edges are just shapes, in a knowledge graph the edges have labels with well-defined meanings. "Works at" is not the same as "created by" is not the same as "located in" — the type of relationship carries information.
Here's why this matters more than it might first seem. Last week, with word embeddings, we got similarity. "King" and "queen" are close in vector space. "Paris" and "France" are close. That's powerful. But it doesn't tell you that Paris is the capital of France, not just nearby to it in meaning. A knowledge graph does. It explicitly represents that relationship with a directed, labeled edge: Paris → is capital of → France.
That distinction — similarity vs. explicit relationship — is what makes knowledge graphs so useful for reasoning. A machine traversing a knowledge graph can ask: "who are all the people who created things that Bob is interested in?" and get an answer, because the relationships are explicit and traversable. You can't do that with embeddings alone.
Now, scale this up to millions or billions of entities. That's what Google's Knowledge Graph does — it's what powers the information panels you see when you search for a well-known person or place. Wikidata has over 100 million data items. DBpedia extracted structured data from Wikipedia and exposed it as a graph. These are not toys — they're among the most heavily queried databases in the world.
And as we look ahead toward Neo4j in coming weeks, what you'll see is that these same ideas — nodes, edges, typed relationships, directed connections — become the foundation for sophisticated data analysis that goes well beyond what a relational database can 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Ontology is one of the oldest words in philosophy. It comes from Greek — "ontos," meaning being, and "logos," meaning study. Ontology asks the deepest possible questions: what exists? What categories of things are there? What is most fundamental about reality? Aristotle thought about this. Descartes thought about this. Heidegger made an entire career of it.
What computer scientists did — in a move that would probably make Heidegger uneasy — was borrow the word and apply it to something much more practical: formally specifying what categories of things exist in some domain of interest, what properties those things can have, and how they relate to each other. A hospital ontology might specify that every Patient is a Person, that every Doctor treats at least one Patient, and that no Doctor can also be a Patient in the same episode of care. These are formal logical statements that a computer can reason with.
OWL — the Web Ontology Language — is the W3C standard for doing this on the semantic web. And one of the genuinely useful things OWL can do is consistency checking. If you have an OWL ontology and you assert something that contradicts it — for instance, you say that X is both a Parent and a Child in the same relationship — OWL reasoners can detect and flag that contradiction automatically.
One question that comes up: what's the difference between a schema in RDFS and an ontology in OWL? Honestly, not much in kind — both are formal specifications of how things are organized. By convention, "schema" tends to mean a simpler, less expressive model, while "ontology" implies something more complex and logically richer. If RDFS is a data dictionary, OWL is a logical theory. You use whichever level of expressiveness the problem requires.
And one more comparison worth making, since several of you have programming backgrounds: OWL ontologies superficially resemble class hierarchies in object-oriented programming. But they're designed to evolve constantly as new data sources connect to the web, which is very different from how code classes work. Your Python class for "Customer" changes slowly, through deliberate engineering. A knowledge graph's notion of "Customer" might be updated thousands of times a day as new data arrives.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four more pieces of the semantic web stack — each one plays a specific role.
SKOS — Simple Knowledge Organization System — is designed for controlled vocabularies. Think of a library's subject-heading system, or a medical thesaurus, or an organization's taxonomy of product categories. SKOS gives you a standard way to represent those hierarchies — broader terms, narrower terms, related terms — as linked data on the web. If you've ever wondered how a search engine knows that "myocardial infarction" and "heart attack" mean the same thing, controlled vocabularies encoded in something like SKOS are often part of the answer.
A triplestore is simply a database purpose-built for RDF triples. Relational databases store data in tables; triplestores store subject-predicate-object triples and are optimized for graph-pattern queries. You query a triplestore with SPARQL, which we'll look at in detail in a moment. Popular triplestores include Apache Jena, Virtuoso, Stardog, and GraphDB. DBpedia, which you'll work with in today's activity, runs on a Virtuoso triplestore.
Linked Data is a set of practices for publishing your data on the web in a way that connects it to other datasets. The core principles are simple: use URIs for everything, make those URIs resolvable on the web, and when you publish data, include links to other URIs in other datasets. The aspiration behind linked data is sometimes called the Linked Open Data cloud — a web of interconnected public datasets spanning government data, scientific research, cultural heritage, and much more. You can actually look at a visualization of this at lod-cloud.net — it's genuinely impressive how much structured data is already out there.
And finally, URIs — Uniform Resource Identifiers. These are the naming system that makes everything globally unambiguous. A URI is a unique string that identifies something — a web page, a person, a chemical compound, an abstract concept. Without URIs, "Paris" is ambiguous: Paris, France? Paris, Texas? Paris Hilton? With a URI, http://dbpedia.org/resource/Paris, there's no ambiguity at all. Every RDF triple's subject, predicate, and object can be a URI, which is what gives the semantic web its global coherence.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SPARQL is pronounced "sparkle" — and it's the query language for the semantic web, the same way SQL is the query language for relational databases. If you know SQL, SPARQL will feel familiar in structure, but it's doing something fundamentally different.
In SQL, you're querying tables. You say: give me all the rows from this table where these column values match these conditions. The data model is rectangular — rows and columns.
In SPARQL, you're querying graph patterns. You say: give me all the entities in this graph that match this pattern of triples. The data model is a graph — nodes and edges. And since RDF is open-ended — any triple can connect to any other triple — SPARQL can traverse connections that SQL would require complicated joins to handle.
Let me walk you through the Wikidata example on the right. This query retrieves all notable cats — seriously, Wikidata has an entry for every notable cat on Wikipedia. The SELECT clause says what you want back: the item identifier and its label. The WHERE clause specifies the pattern. ?item wdt:P31 wd:Q146 says: give me every ?item whose "instance of" property (P31) equals "domestic cat" (Q146). The question mark means "this is a variable" — it's what you're looking for. P31 and Q146 are Wikidata's internal identifiers for those specific properties and values.
This exact pattern — subject-predicate-object with variables — is what makes SPARQL so expressive. You can chain conditions, filter, aggregate, and ask for optional data, all using this graph-pattern logic. And in today's activity, you'll be writing exactly these kinds of queries on Wikidata's own query service — which is a live, interactive SPARQL interface that runs in your browser, no setup required.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Wikidata is one of those projects that's genuinely impressive in scope. It's a free, collaborative, multilingual knowledge base with over 100 million data items — maintained by the same Wikimedia Foundation behind Wikipedia. In fact, Wikidata is increasingly what powers the structured data that appears in Wikipedia's infoboxes and summaries: dates of birth, populations, geographic coordinates, titles, all of it comes from Wikidata, not from hand-written Wikipedia text.
The data model is clean and consistent. Every item gets a Q-number — Q64 is Berlin, Q183 is Germany, Q146 is domestic cat. Every property gets a P-number — P31 is "instance of," P17 is "country," P625 is "coordinates." A statement in Wikidata is a property-value pair attached to an item, optionally with qualifiers that add nuance. Berlin's population isn't just "3.8 million" — it's "3.8 million, as of 2023, according to the Berlin Statistical Office." That precision is what makes structured data genuinely useful for machines.
What makes Wikidata especially powerful for our purposes today is that it exposes a live, public SPARQL endpoint. You can go to query.wikidata.org right now, in your browser, and start querying over 100 million items using exactly the SPARQL syntax we just looked at. There's no account required, no API key, no setup. And that's exactly what you'll be doing in today's activity.
One more thing worth noting: Wikidata's data powers AI systems you use every day. Google's Knowledge Graph draws heavily from it. Apple's Siri and Microsoft's Cortana have both used it. Many language models were trained on data that includes Wikidata. When you ask an AI assistant a factual question and it gets the right answer, there's a reasonable chance a structured knowledge base — very possibly Wikidata — is part of what made that answer possible.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DBpedia takes a slightly different approach from Wikidata. Rather than asking humans to enter structured data directly, it automatically extracts structure from Wikipedia's infoboxes — those sidebar tables you see on most Wikipedia articles. Every time someone adds a birth date or a population figure to an infobox, DBpedia can parse that and convert it into an RDF triple.
The result is an enormous, publicly queryable knowledge graph that mirrors Wikipedia's breadth. Ships. Countries. Films. Chemical compounds. Scientists. Athletes. If it has a Wikipedia article with an infobox, there's a good chance DBpedia has structured data about it.
And I want to make a connection here to something you already know. Look at that SPARQL query — finding White Star Line ships. It's going to return RMS Titanic among its results. Now, in the probability module, we worked with Titanic survival data — passengers categorized by class, sex, and whether they survived. We used that to demonstrate probability calculations, conditional probabilities, the Prosecutor's Fallacy. That dataset was a CSV — flat, rectangular, anonymous rows and columns.
What DBpedia gives you is something different. It gives you the ship itself as a knowledge graph node, linked to its owner, its route, its fate, the people who sailed on it. The survival statistics are one lens on the Titanic. The knowledge graph is another lens — richer in structure, different in kind. Both are legitimate. The skill is knowing which lens serves the question you're asking.
In today's second activity, you'll query DBpedia's SPARQL endpoint directly — no installation required, just a browser. You'll be able to see exactly how this kind of structured data works in practice.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pause here for a moment and make sure this doesn't feel abstract. The technologies we've been talking about — RDF, SPARQL, knowledge graphs, ontologies — these are not academic exercises. They're actively running in production systems you interact with every single day.
When you Google a famous person and you see that sidebar panel with their birth date, their nationality, their occupation, their notable works — that's a knowledge graph. Google has spent years building and maintaining what they call the Google Knowledge Graph, which now has billions of entities and relationships. And a significant portion of that data originates from Wikidata and DBpedia.
When you ask Siri or Alexa "who directed Oppenheimer" and they give you an instant, accurate answer — that's not a document search. That's a knowledge graph query. The assistant recognizes "Oppenheimer" as a film entity, looks up the "director" property, and returns the value. It's exactly the SPARQL pattern we just discussed, wrapped in a voice interface.
And large language models — the technology behind ChatGPT and similar systems — have a complex relationship with knowledge graphs. LLMs were trained on text that included structured knowledge. But LLMs also famously hallucinate — they generate plausible-sounding but incorrect facts. One of the active research areas right now is "retrieval-augmented generation," where an LLM's response is grounded by looking up relevant facts in a knowledge graph before generating an answer. The knowledge graph acts as a factual anchor for the language model.
So when we look at where this course is going — causal inference, the graph universe — we're building toward tools that are directly adjacent to how modern AI systems actually work. This isn't background history. It's infrastructure.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take a moment to situate today's material in the larger arc of the course, because I think the connections are genuinely illuminating.
Probability gave you the language of uncertainty — how to describe what could happen, how likely each possibility is, how to update your beliefs as new evidence arrives. It's rigorous and powerful. But by itself, probability doesn't tell you anything about the structure of the world — which things are related to which other things, and how.
Embeddings — which we worked with last week — gave you something different: a geometric representation of meaning. Words that are used similarly end up close to each other in vector space. You can do analogical reasoning with arithmetic on vectors. This is a profound idea. But embeddings capture graded similarity, not typed relationships. "Paris" and "France" are close in embedding space. But the vector doesn't tell you that Paris is the capital of France, that it's located in the northern part of the country, that it has a population of over two million, and that it hosts the Eiffel Tower. Those are facts — specific, directional, typed facts — and that's what knowledge graphs add.
Knowledge graphs give you explicit, named, directed relationships between named entities. Not "Paris is similar to France" but "Paris is the capital of France." Not "Einstein is related to physics" but "Einstein developed the theory of special relativity in 1905." The specificity and directionality of those relationships is what makes knowledge graphs queryable in the way we've seen with SPARQL.
And causal inference — which is where we're headed — takes the next step. It's not enough to know that two things are related. You want to know which one causes the other. Does ice cream cause drowning? No — both are caused by summer heat. Causal inference is the discipline of distinguishing correlation from causation, using formal methods. And it turns out that knowledge graphs are one of the tools that causal inference frameworks build on. The tools you're learning today are not a detour. They're building blocks.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look ahead at where this is all going.
Neo4j is the world's most popular graph database, and it's where we'll work when we get to applied graph analytics. It shares the same conceptual foundation as everything we've talked about today — nodes, edges, properties, relationships. The query language is called Cypher rather than SPARQL, and it's designed to feel more intuitive for developers: you draw the pattern you're looking for using ASCII art-style arrows, and the query engine finds it in the graph. But the underlying idea — I want to find all nodes connected to this type of node by this type of edge — is exactly what you've been learning with SPARQL today.
The difference is emphasis. RDF and SPARQL are built around open-world semantics — designed for linked data that can grow, change, and connect to datasets you've never seen before. Neo4j is built for performance and enterprise use cases — fraud detection, recommendation engines, knowledge management, supply chain. Both are legitimate graph database approaches; they just make different trade-offs.
Causal inference is the final intellectual step in this arc, and I think it's genuinely one of the most important ideas in all of data science. Correlation is easy to find. Your machine learning models are correlation machines — they find patterns in historical data and use them to predict future outcomes. But correlation is not causation. Ice cream sales and drowning rates correlate strongly — both are driven by summer heat, but ice cream doesn't cause drowning. If you use correlation to make decisions — "let's reduce ice cream sales to save lives" — you'll make bad decisions.
Causal inference gives you the formal tools to distinguish correlation from causation: directed acyclic graphs to represent causal structure, do-calculus to reason about interventions, and a whole framework for asking "what would happen if we changed X" rather than just "what tends to happen when X is high." And the causal graphs you'll draw — nodes representing variables, directed edges representing causal relationships — are, conceptually, knowledge graphs with a specific kind of edge semantics. Everything connects.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let's get hands on. This first activity runs entirely in your browser. No installation, no accounts, no setup. Just go to query dot wikidata dot org.
When you first arrive, you'll see a query editor on the left and a results area on the right. I want you to click the Examples button at the top, find "Cats," and click it. This loads a simple query that retrieves all notable cats from Wikidata. Read through it carefully — the #Cats comment is just a label, SELECT says what columns you want back, WHERE contains the triple pattern that specifies what you're looking for.
Now I want you to modify it. Change the cats query to find dogs instead. After Q146 in the query, delete it and type wd: — then press Ctrl+Space. This opens Wikidata's autocomplete. Type "dog" in the search box that appears, and select the first suggested item, which should be Q144. Now run the query. You should see a table full of notable dogs.
What I want you to notice is the structure: the query didn't change in form, only in the specific value you were filtering on. That's the power of SPARQL — the pattern stays the same, you swap out the pieces.
Next, try adding a second condition. If you want dogs from a specific country, add a line like "?item wdt:P17 wd:Q30 ." where Q30 is the United States. This gives you American dogs. Then try clicking the "eye" icon on the results panel — Wikidata offers different views including maps and timelines, depending on what data your query returns.
Finally, click the link button to copy the URL of your current query, and save that URL. You'll submit it as part of your assignment — it lets me see exactly what query you wrote and what it returned.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activity uses DBpedia — and it's a slightly different experience from Wikidata. DBpedia's data comes from Wikipedia's infoboxes, so it reflects the kinds of structured data that Wikipedia authors have added over the years. It's broad in coverage but sometimes less consistent than Wikidata's more carefully curated entries.
Go to dbpedia dot org slash snorql. This is DBpedia's SPARQL query interface. Paste in the ship query from the slides — the one that finds White Star Line ships. Run it. You should see results that include HMS or RMS vessels, including the Titanic. And here's what I want you to notice: each result in the "ship" column is a URI — a link. Click on one. You'll jump to DBpedia's page for that resource, where you can see all of its properties as RDF triples. You're navigating the knowledge graph by traversal, just like a machine would.
Then try the countries query from the slide — it finds countries, their capitals, and their populations in one query. This one has more triple patterns and shows how SPARQL can join across multiple relationships in a single query, pulling together data that in a relational database would require several joins.
For the main deliverable of this activity, I want you to write your own query — on a topic of your choosing — with at least two or three triple patterns. Pick something you're genuinely curious about: films, athletes, scientific discoveries, cities, whatever. The goal is to use what you learned today to ask a question of a real knowledge graph and get a real answer. Copy your query URL and write a short paragraph explaining what you queried and what you found.
These activities together — Wikidata and DBpedia — give you hands-on experience with the complete pipeline: triple patterns, SPARQL syntax, live knowledge graph endpoints, and result interpretation. Everything you need to work with Neo4j in coming weeks.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this together before we move into the activities.
The web was built for humans. HTML tells browsers how to display information, not what it means. The semantic web project, driven by W3C standards, is an ongoing effort to add formal meaning to web data — so machines can do more than display it; they can reason about it.
The atomic unit of that formal meaning is the RDF triple: subject, predicate, object. Three pieces. Everything in the semantic web builds up from that.
Knowledge graphs take RDF triples and turn them into networks — where entities are nodes, relationships are directed edges with meaningful labels, and you can traverse, query, and infer across the entire structure. This is more expressive than vector embeddings, which capture similarity but not type and direction of relationship.
SPARQL is the language you use to ask questions of those graphs. It's a pattern language — you describe the shape of what you're looking for, and the engine finds it. And both Wikidata and DBpedia give you live, public SPARQL endpoints to practice on right now, with no setup at all.
These tools are not theoretical. They are running infrastructure at Google, Microsoft, Apple, and every major AI system. When a language model answers a factual question accurately, knowledge graphs are often part of how it does that.
And looking ahead: Neo4j brings graph database technology to enterprise applications, with a friendlier query language called Cypher. Causal inference gives directed edges an even stronger meaning — not just "A relates to B" but "A causes B, and here's the evidence." Everything you've learned today is a foundation for what comes next.
Now let's get into the activities. You've got query.wikidata.org for the first one and dbpedia.org/snorql for the second. Enjoy — and if you find something surprising or interesting in your queries, share it in the comments of your submission.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A2C"/>
        </a:solidFill>
        <a:effectLst/>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7772400" y="-274320"/>
            <a:ext cx="1828800" cy="1828800"/>
          </a:xfrm>
          <a:prstGeom prst="ellipse">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548640" y="3474720"/>
            <a:ext cx="2286000" cy="2286000"/>
          </a:xfrm>
          <a:prstGeom prst="ellipse">
            <a:avLst/>
          </a:prstGeom>
          <a:solidFill>
            <a:srgbClr val="065A82"/>
          </a:solidFill>
          <a:ln w="12700">
            <a:solidFill>
              <a:srgbClr val="065A82"/>
            </a:solidFill>
            <a:prstDash val="solid"/>
          </a:ln>
        </p:spPr>
        <p:txBody>
          <a:bodyPr/>
          <a:lstStyle/>
          <a:p>
            <a:endParaRPr lang="en-US"/>
          </a:p>
        </p:txBody>
      </p:sp>
      <p:sp>
        <p:nvSpPr>
          <p:cNvPr id="5" name="Text 3"/>
          <p:cNvSpPr txBox="1"/>
          <p:nvPr/>
        </p:nvSpPr>
        <p:spPr>
          <a:xfrm>
            <a:off x="640080" y="502920"/>
            <a:ext cx="5486400" cy="411480"/>
          </a:xfrm>
          <a:prstGeom prst="rect">
            <a:avLst/>
          </a:prstGeom>
          <a:noFill/>
          <a:ln/>
        </p:spPr>
        <p:txBody>
          <a:bodyPr wrap="square" rtlCol="0" anchor="ctr"/>
          <a:lstStyle/>
          <a:p>
            <a:pPr marL="0" indent="0">
              <a:buNone/>
            </a:pPr>
            <a:r>
              <a:rPr lang="en-US" sz="1400" kern="0" spc="400" dirty="0">
                <a:solidFill>
                  <a:srgbClr val="02C39A"/>
                </a:solidFill>
                <a:latin typeface="Calibri" pitchFamily="34" charset="0"/>
                <a:ea typeface="Calibri" pitchFamily="34" charset="-122"/>
                <a:cs typeface="Calibri" pitchFamily="34" charset="-120"/>
              </a:rPr>
              <a:t>INFO 5810</a:t>
            </a:r>
            <a:endParaRPr lang="en-US" sz="1400" dirty="0"/>
          </a:p>
        </p:txBody>
      </p:sp>
      <p:sp>
        <p:nvSpPr>
          <p:cNvPr id="7" name="Text 5"/>
          <p:cNvSpPr txBox="1"/>
          <p:nvPr/>
        </p:nvSpPr>
        <p:spPr>
          <a:xfrm>
            <a:off x="640080" y="1417320"/>
            <a:ext cx="7772400" cy="2011680"/>
          </a:xfrm>
          <a:prstGeom prst="rect">
            <a:avLst/>
          </a:prstGeom>
          <a:noFill/>
          <a:ln/>
        </p:spPr>
        <p:txBody>
          <a:bodyPr wrap="square" rtlCol="0" anchor="ctr"/>
          <a:lstStyle/>
          <a:p>
            <a:pPr marL="0" indent="0">
              <a:lnSpc>
                <a:spcPct val="115000"/>
              </a:lnSpc>
              <a:buNone/>
            </a:pPr>
            <a:r>
              <a:rPr lang="en-US" sz="4800" b="1" dirty="0">
                <a:solidFill>
                  <a:srgbClr val="FFFFFF"/>
                </a:solidFill>
                <a:latin typeface="Cambria" pitchFamily="34" charset="0"/>
                <a:ea typeface="Cambria" pitchFamily="34" charset="-122"/>
                <a:cs typeface="Cambria" pitchFamily="34" charset="-120"/>
              </a:rPr>
              <a:t>Knowledge Discovery</a:t>
            </a:r>
            <a:endParaRPr lang="en-US" sz="4800" dirty="0"/>
          </a:p>
          <a:p>
            <a:pPr marL="0" indent="0">
              <a:lnSpc>
                <a:spcPct val="115000"/>
              </a:lnSpc>
              <a:buNone/>
            </a:pPr>
            <a:r>
              <a:rPr lang="en-US" sz="4800" b="1" dirty="0">
                <a:solidFill>
                  <a:srgbClr val="FFFFFF"/>
                </a:solidFill>
                <a:latin typeface="Cambria" pitchFamily="34" charset="0"/>
                <a:ea typeface="Cambria" pitchFamily="34" charset="-122"/>
                <a:cs typeface="Cambria" pitchFamily="34" charset="-120"/>
              </a:rPr>
              <a:t>&amp; Semantic Tools</a:t>
            </a:r>
            <a:endParaRPr lang="en-US" sz="4800" dirty="0"/>
          </a:p>
        </p:txBody>
      </p:sp>
      <p:sp>
        <p:nvSpPr>
          <p:cNvPr id="8" name="Text 6"/>
          <p:cNvSpPr txBox="1"/>
          <p:nvPr/>
        </p:nvSpPr>
        <p:spPr>
          <a:xfrm>
            <a:off x="640080" y="3383280"/>
            <a:ext cx="6858000" cy="502920"/>
          </a:xfrm>
          <a:prstGeom prst="rect">
            <a:avLst/>
          </a:prstGeom>
          <a:noFill/>
          <a:ln/>
        </p:spPr>
        <p:txBody>
          <a:bodyPr wrap="square" rtlCol="0" anchor="ctr"/>
          <a:lstStyle/>
          <a:p>
            <a:pPr marL="0" indent="0">
              <a:buNone/>
            </a:pPr>
            <a:r>
              <a:rPr lang="en-US" sz="1700" i="1" dirty="0">
                <a:solidFill>
                  <a:srgbClr val="5A7A99"/>
                </a:solidFill>
                <a:latin typeface="Calibri" pitchFamily="34" charset="0"/>
                <a:ea typeface="Calibri" pitchFamily="34" charset="-122"/>
                <a:cs typeface="Calibri" pitchFamily="34" charset="-120"/>
              </a:rPr>
              <a:t>From Documents to Meaning — and Why Machines Need Help</a:t>
            </a:r>
            <a:endParaRPr lang="en-US" sz="1700" dirty="0"/>
          </a:p>
        </p:txBody>
      </p:sp>
      <p:sp>
        <p:nvSpPr>
          <p:cNvPr id="9" name="Text 7"/>
          <p:cNvSpPr txBox="1"/>
          <p:nvPr/>
        </p:nvSpPr>
        <p:spPr>
          <a:xfrm>
            <a:off x="640080" y="4434840"/>
            <a:ext cx="8229600" cy="411480"/>
          </a:xfrm>
          <a:prstGeom prst="rect">
            <a:avLst/>
          </a:prstGeom>
          <a:noFill/>
          <a:ln/>
        </p:spPr>
        <p:txBody>
          <a:bodyPr wrap="square" rtlCol="0" anchor="ctr"/>
          <a:lstStyle/>
          <a:p>
            <a:pPr marL="0" indent="0">
              <a:buNone/>
            </a:pPr>
            <a:r>
              <a:rPr lang="en-US" sz="1200" kern="0" spc="100" dirty="0">
                <a:solidFill>
                  <a:srgbClr val="5A7A99"/>
                </a:solidFill>
                <a:latin typeface="Calibri" pitchFamily="34" charset="0"/>
                <a:ea typeface="Calibri" pitchFamily="34" charset="-122"/>
                <a:cs typeface="Calibri" pitchFamily="34" charset="-120"/>
              </a:rPr>
              <a:t>RDF  ·  OWL  ·  SPARQL  ·  Knowledge Graphs  ·  Wikidata  ·  DBpedia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A2C"/>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Where We Are</a:t>
            </a:r>
            <a:endParaRPr lang="en-US" sz="2800" dirty="0"/>
          </a:p>
        </p:txBody>
      </p:sp>
      <p:sp>
        <p:nvSpPr>
          <p:cNvPr id="3" name="Text 1"/>
          <p:cNvSpPr txBox="1"/>
          <p:nvPr/>
        </p:nvSpPr>
        <p:spPr>
          <a:xfrm>
            <a:off x="548640" y="777240"/>
            <a:ext cx="7772400" cy="365760"/>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The course builds one idea at a time — each week hands something to the next</a:t>
            </a:r>
            <a:endParaRPr lang="en-US" sz="1400" dirty="0"/>
          </a:p>
        </p:txBody>
      </p:sp>
      <p:sp>
        <p:nvSpPr>
          <p:cNvPr id="4" name="Shape 2"/>
          <p:cNvSpPr/>
          <p:nvPr/>
        </p:nvSpPr>
        <p:spPr>
          <a:xfrm>
            <a:off x="594360" y="2651760"/>
            <a:ext cx="8229600" cy="64008"/>
          </a:xfrm>
          <a:prstGeom prst="rect">
            <a:avLst/>
          </a:prstGeom>
          <a:solidFill>
            <a:srgbClr val="1C7293"/>
          </a:solidFill>
          <a:ln w="12700">
            <a:solidFill>
              <a:srgbClr val="1C7293"/>
            </a:solidFill>
            <a:prstDash val="solid"/>
          </a:ln>
        </p:spPr>
        <p:txBody>
          <a:bodyPr/>
          <a:lstStyle/>
          <a:p>
            <a:endParaRPr lang="en-US"/>
          </a:p>
        </p:txBody>
      </p:sp>
      <p:sp>
        <p:nvSpPr>
          <p:cNvPr id="5" name="Shape 3"/>
          <p:cNvSpPr/>
          <p:nvPr/>
        </p:nvSpPr>
        <p:spPr>
          <a:xfrm>
            <a:off x="676656" y="2532888"/>
            <a:ext cx="292608" cy="292608"/>
          </a:xfrm>
          <a:prstGeom prst="ellipse">
            <a:avLst/>
          </a:prstGeom>
          <a:solidFill>
            <a:srgbClr val="1C7293"/>
          </a:solidFill>
          <a:ln w="12700">
            <a:solidFill>
              <a:srgbClr val="1C7293"/>
            </a:solidFill>
            <a:prstDash val="solid"/>
          </a:ln>
        </p:spPr>
        <p:txBody>
          <a:bodyPr/>
          <a:lstStyle/>
          <a:p>
            <a:endParaRPr lang="en-US"/>
          </a:p>
        </p:txBody>
      </p:sp>
      <p:sp>
        <p:nvSpPr>
          <p:cNvPr id="6" name="Text 4"/>
          <p:cNvSpPr txBox="1"/>
          <p:nvPr/>
        </p:nvSpPr>
        <p:spPr>
          <a:xfrm>
            <a:off x="228600" y="3063240"/>
            <a:ext cx="1463040" cy="594360"/>
          </a:xfrm>
          <a:prstGeom prst="rect">
            <a:avLst/>
          </a:prstGeom>
          <a:noFill/>
          <a:ln/>
        </p:spPr>
        <p:txBody>
          <a:bodyPr wrap="square" rtlCol="0" anchor="ctr"/>
          <a:lstStyle/>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Probability &amp;</a:t>
            </a:r>
            <a:endParaRPr lang="en-US" sz="1200" dirty="0"/>
          </a:p>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Uncertainty</a:t>
            </a:r>
            <a:endParaRPr lang="en-US" sz="1200" dirty="0"/>
          </a:p>
        </p:txBody>
      </p:sp>
      <p:sp>
        <p:nvSpPr>
          <p:cNvPr id="8" name="Shape 6"/>
          <p:cNvSpPr/>
          <p:nvPr/>
        </p:nvSpPr>
        <p:spPr>
          <a:xfrm>
            <a:off x="2414016" y="2532888"/>
            <a:ext cx="292608" cy="292608"/>
          </a:xfrm>
          <a:prstGeom prst="ellipse">
            <a:avLst/>
          </a:prstGeom>
          <a:solidFill>
            <a:srgbClr val="1C7293"/>
          </a:solidFill>
          <a:ln w="12700">
            <a:solidFill>
              <a:srgbClr val="1C7293"/>
            </a:solidFill>
            <a:prstDash val="solid"/>
          </a:ln>
        </p:spPr>
        <p:txBody>
          <a:bodyPr/>
          <a:lstStyle/>
          <a:p>
            <a:endParaRPr lang="en-US"/>
          </a:p>
        </p:txBody>
      </p:sp>
      <p:sp>
        <p:nvSpPr>
          <p:cNvPr id="9" name="Text 7"/>
          <p:cNvSpPr txBox="1"/>
          <p:nvPr/>
        </p:nvSpPr>
        <p:spPr>
          <a:xfrm>
            <a:off x="1965960" y="3063240"/>
            <a:ext cx="1463040" cy="594360"/>
          </a:xfrm>
          <a:prstGeom prst="rect">
            <a:avLst/>
          </a:prstGeom>
          <a:noFill/>
          <a:ln/>
        </p:spPr>
        <p:txBody>
          <a:bodyPr wrap="square" rtlCol="0" anchor="ctr"/>
          <a:lstStyle/>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High-Dim</a:t>
            </a:r>
            <a:endParaRPr lang="en-US" sz="1200" dirty="0"/>
          </a:p>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Tabular Mining</a:t>
            </a:r>
            <a:endParaRPr lang="en-US" sz="1200" dirty="0"/>
          </a:p>
        </p:txBody>
      </p:sp>
      <p:sp>
        <p:nvSpPr>
          <p:cNvPr id="11" name="Shape 9"/>
          <p:cNvSpPr/>
          <p:nvPr/>
        </p:nvSpPr>
        <p:spPr>
          <a:xfrm>
            <a:off x="4151376" y="2532888"/>
            <a:ext cx="292608" cy="292608"/>
          </a:xfrm>
          <a:prstGeom prst="ellipse">
            <a:avLst/>
          </a:prstGeom>
          <a:solidFill>
            <a:srgbClr val="1C7293"/>
          </a:solidFill>
          <a:ln w="12700">
            <a:solidFill>
              <a:srgbClr val="1C7293"/>
            </a:solidFill>
            <a:prstDash val="solid"/>
          </a:ln>
        </p:spPr>
        <p:txBody>
          <a:bodyPr/>
          <a:lstStyle/>
          <a:p>
            <a:endParaRPr lang="en-US"/>
          </a:p>
        </p:txBody>
      </p:sp>
      <p:sp>
        <p:nvSpPr>
          <p:cNvPr id="12" name="Text 10"/>
          <p:cNvSpPr txBox="1"/>
          <p:nvPr/>
        </p:nvSpPr>
        <p:spPr>
          <a:xfrm>
            <a:off x="3703320" y="3063240"/>
            <a:ext cx="1463040" cy="594360"/>
          </a:xfrm>
          <a:prstGeom prst="rect">
            <a:avLst/>
          </a:prstGeom>
          <a:noFill/>
          <a:ln/>
        </p:spPr>
        <p:txBody>
          <a:bodyPr wrap="square" rtlCol="0" anchor="ctr"/>
          <a:lstStyle/>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Vectors &amp;</a:t>
            </a:r>
            <a:endParaRPr lang="en-US" sz="1200" dirty="0"/>
          </a:p>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Meaning</a:t>
            </a:r>
            <a:endParaRPr lang="en-US" sz="1200" dirty="0"/>
          </a:p>
        </p:txBody>
      </p:sp>
      <p:sp>
        <p:nvSpPr>
          <p:cNvPr id="14" name="Shape 12"/>
          <p:cNvSpPr/>
          <p:nvPr/>
        </p:nvSpPr>
        <p:spPr>
          <a:xfrm>
            <a:off x="5888736" y="2532888"/>
            <a:ext cx="292608" cy="292608"/>
          </a:xfrm>
          <a:prstGeom prst="ellipse">
            <a:avLst/>
          </a:prstGeom>
          <a:solidFill>
            <a:srgbClr val="02C39A"/>
          </a:solidFill>
          <a:ln w="12700">
            <a:solidFill>
              <a:srgbClr val="02C39A"/>
            </a:solidFill>
            <a:prstDash val="solid"/>
          </a:ln>
        </p:spPr>
        <p:txBody>
          <a:bodyPr/>
          <a:lstStyle/>
          <a:p>
            <a:endParaRPr lang="en-US"/>
          </a:p>
        </p:txBody>
      </p:sp>
      <p:sp>
        <p:nvSpPr>
          <p:cNvPr id="15" name="Text 13"/>
          <p:cNvSpPr txBox="1"/>
          <p:nvPr/>
        </p:nvSpPr>
        <p:spPr>
          <a:xfrm>
            <a:off x="5440680" y="3063240"/>
            <a:ext cx="1463040" cy="594360"/>
          </a:xfrm>
          <a:prstGeom prst="rect">
            <a:avLst/>
          </a:prstGeom>
          <a:noFill/>
          <a:ln/>
        </p:spPr>
        <p:txBody>
          <a:bodyPr wrap="square" rtlCol="0" anchor="ctr"/>
          <a:lstStyle/>
          <a:p>
            <a:pPr marL="0" indent="0" algn="ctr">
              <a:lnSpc>
                <a:spcPct val="120000"/>
              </a:lnSpc>
              <a:buNone/>
            </a:pPr>
            <a:r>
              <a:rPr lang="en-US" sz="1200" b="1" dirty="0">
                <a:solidFill>
                  <a:srgbClr val="02C39A"/>
                </a:solidFill>
                <a:latin typeface="Calibri" pitchFamily="34" charset="0"/>
                <a:ea typeface="Calibri" pitchFamily="34" charset="-122"/>
                <a:cs typeface="Calibri" pitchFamily="34" charset="-120"/>
              </a:rPr>
              <a:t>Knowledge</a:t>
            </a:r>
            <a:endParaRPr lang="en-US" sz="1200" dirty="0"/>
          </a:p>
          <a:p>
            <a:pPr marL="0" indent="0" algn="ctr">
              <a:lnSpc>
                <a:spcPct val="120000"/>
              </a:lnSpc>
              <a:buNone/>
            </a:pPr>
            <a:r>
              <a:rPr lang="en-US" sz="1200" b="1" dirty="0">
                <a:solidFill>
                  <a:srgbClr val="02C39A"/>
                </a:solidFill>
                <a:latin typeface="Calibri" pitchFamily="34" charset="0"/>
                <a:ea typeface="Calibri" pitchFamily="34" charset="-122"/>
                <a:cs typeface="Calibri" pitchFamily="34" charset="-120"/>
              </a:rPr>
              <a:t>Discovery</a:t>
            </a:r>
            <a:endParaRPr lang="en-US" sz="1200" dirty="0"/>
          </a:p>
        </p:txBody>
      </p:sp>
      <p:sp>
        <p:nvSpPr>
          <p:cNvPr id="17" name="Shape 15"/>
          <p:cNvSpPr/>
          <p:nvPr/>
        </p:nvSpPr>
        <p:spPr>
          <a:xfrm>
            <a:off x="7580376" y="2532888"/>
            <a:ext cx="292608" cy="292608"/>
          </a:xfrm>
          <a:prstGeom prst="ellipse">
            <a:avLst/>
          </a:prstGeom>
          <a:solidFill>
            <a:srgbClr val="5A7A99"/>
          </a:solidFill>
          <a:ln w="12700">
            <a:solidFill>
              <a:srgbClr val="5A7A99"/>
            </a:solidFill>
            <a:prstDash val="solid"/>
          </a:ln>
        </p:spPr>
        <p:txBody>
          <a:bodyPr/>
          <a:lstStyle/>
          <a:p>
            <a:endParaRPr lang="en-US"/>
          </a:p>
        </p:txBody>
      </p:sp>
      <p:sp>
        <p:nvSpPr>
          <p:cNvPr id="18" name="Text 16"/>
          <p:cNvSpPr txBox="1"/>
          <p:nvPr/>
        </p:nvSpPr>
        <p:spPr>
          <a:xfrm>
            <a:off x="7132320" y="3063240"/>
            <a:ext cx="1463040" cy="594360"/>
          </a:xfrm>
          <a:prstGeom prst="rect">
            <a:avLst/>
          </a:prstGeom>
          <a:noFill/>
          <a:ln/>
        </p:spPr>
        <p:txBody>
          <a:bodyPr wrap="square" rtlCol="0" anchor="ctr"/>
          <a:lstStyle/>
          <a:p>
            <a:pPr marL="0" indent="0" algn="ctr">
              <a:lnSpc>
                <a:spcPct val="120000"/>
              </a:lnSpc>
              <a:buNone/>
            </a:pPr>
            <a:r>
              <a:rPr lang="en-US" sz="1200" dirty="0">
                <a:solidFill>
                  <a:srgbClr val="5A7A99"/>
                </a:solidFill>
                <a:latin typeface="Calibri" pitchFamily="34" charset="0"/>
                <a:ea typeface="Calibri" pitchFamily="34" charset="-122"/>
                <a:cs typeface="Calibri" pitchFamily="34" charset="-120"/>
              </a:rPr>
              <a:t>Causal Inference &amp;</a:t>
            </a:r>
            <a:endParaRPr lang="en-US" sz="1200" dirty="0"/>
          </a:p>
          <a:p>
            <a:pPr marL="0" indent="0" algn="ctr">
              <a:lnSpc>
                <a:spcPct val="120000"/>
              </a:lnSpc>
              <a:buNone/>
            </a:pPr>
            <a:r>
              <a:rPr lang="en-US" sz="1200" dirty="0">
                <a:solidFill>
                  <a:srgbClr val="5A7A99"/>
                </a:solidFill>
                <a:latin typeface="Calibri" pitchFamily="34" charset="0"/>
                <a:ea typeface="Calibri" pitchFamily="34" charset="-122"/>
                <a:cs typeface="Calibri" pitchFamily="34" charset="-120"/>
              </a:rPr>
              <a:t>the Graph Universe</a:t>
            </a:r>
            <a:endParaRPr lang="en-US" sz="1200" dirty="0"/>
          </a:p>
        </p:txBody>
      </p:sp>
      <p:sp>
        <p:nvSpPr>
          <p:cNvPr id="20" name="Shape 18"/>
          <p:cNvSpPr/>
          <p:nvPr/>
        </p:nvSpPr>
        <p:spPr>
          <a:xfrm>
            <a:off x="457200" y="4114800"/>
            <a:ext cx="2514600" cy="777240"/>
          </a:xfrm>
          <a:prstGeom prst="rect">
            <a:avLst/>
          </a:prstGeom>
          <a:solidFill>
            <a:srgbClr val="065A82"/>
          </a:solidFill>
          <a:ln w="12700">
            <a:solidFill>
              <a:srgbClr val="065A82"/>
            </a:solidFill>
            <a:prstDash val="solid"/>
          </a:ln>
        </p:spPr>
        <p:txBody>
          <a:bodyPr/>
          <a:lstStyle/>
          <a:p>
            <a:endParaRPr lang="en-US"/>
          </a:p>
        </p:txBody>
      </p:sp>
      <p:sp>
        <p:nvSpPr>
          <p:cNvPr id="21" name="Text 19"/>
          <p:cNvSpPr txBox="1"/>
          <p:nvPr/>
        </p:nvSpPr>
        <p:spPr>
          <a:xfrm>
            <a:off x="594360" y="4160520"/>
            <a:ext cx="2240280" cy="256032"/>
          </a:xfrm>
          <a:prstGeom prst="rect">
            <a:avLst/>
          </a:prstGeom>
          <a:noFill/>
          <a:ln/>
        </p:spPr>
        <p:txBody>
          <a:bodyPr wrap="square" lIns="0" tIns="0" rIns="0" bIns="0" rtlCol="0" anchor="ctr"/>
          <a:lstStyle/>
          <a:p>
            <a:pPr marL="0" indent="0">
              <a:buNone/>
            </a:pPr>
            <a:r>
              <a:rPr lang="en-US" sz="1300" b="1" dirty="0">
                <a:solidFill>
                  <a:srgbClr val="02C39A"/>
                </a:solidFill>
                <a:latin typeface="Cambria" pitchFamily="34" charset="0"/>
                <a:ea typeface="Cambria" pitchFamily="34" charset="-122"/>
                <a:cs typeface="Cambria" pitchFamily="34" charset="-120"/>
              </a:rPr>
              <a:t>Probability</a:t>
            </a:r>
            <a:endParaRPr lang="en-US" sz="1300" dirty="0"/>
          </a:p>
        </p:txBody>
      </p:sp>
      <p:sp>
        <p:nvSpPr>
          <p:cNvPr id="22" name="Text 20"/>
          <p:cNvSpPr txBox="1"/>
          <p:nvPr/>
        </p:nvSpPr>
        <p:spPr>
          <a:xfrm>
            <a:off x="594360" y="4407408"/>
            <a:ext cx="2240280" cy="438912"/>
          </a:xfrm>
          <a:prstGeom prst="rect">
            <a:avLst/>
          </a:prstGeom>
          <a:noFill/>
          <a:ln/>
        </p:spPr>
        <p:txBody>
          <a:bodyPr wrap="square" lIns="0" tIns="0" rIns="0" bIns="0" rtlCol="0" anchor="ctr"/>
          <a:lstStyle/>
          <a:p>
            <a:pPr marL="0" indent="0">
              <a:lnSpc>
                <a:spcPct val="115000"/>
              </a:lnSpc>
              <a:buNone/>
            </a:pPr>
            <a:r>
              <a:rPr lang="en-US" sz="1000" dirty="0">
                <a:solidFill>
                  <a:srgbClr val="FFFFFF"/>
                </a:solidFill>
                <a:latin typeface="Calibri" pitchFamily="34" charset="0"/>
                <a:ea typeface="Calibri" pitchFamily="34" charset="-122"/>
                <a:cs typeface="Calibri" pitchFamily="34" charset="-120"/>
              </a:rPr>
              <a:t>Formal reasoning about uncertainty; distributions, KDE, GMMs, Bayesian updates</a:t>
            </a:r>
            <a:endParaRPr lang="en-US" sz="1000" dirty="0"/>
          </a:p>
        </p:txBody>
      </p:sp>
      <p:sp>
        <p:nvSpPr>
          <p:cNvPr id="23" name="Shape 21"/>
          <p:cNvSpPr/>
          <p:nvPr/>
        </p:nvSpPr>
        <p:spPr>
          <a:xfrm>
            <a:off x="3291840" y="4114800"/>
            <a:ext cx="2514600" cy="777240"/>
          </a:xfrm>
          <a:prstGeom prst="rect">
            <a:avLst/>
          </a:prstGeom>
          <a:solidFill>
            <a:srgbClr val="065A82"/>
          </a:solidFill>
          <a:ln w="12700">
            <a:solidFill>
              <a:srgbClr val="065A82"/>
            </a:solidFill>
            <a:prstDash val="solid"/>
          </a:ln>
        </p:spPr>
        <p:txBody>
          <a:bodyPr/>
          <a:lstStyle/>
          <a:p>
            <a:endParaRPr lang="en-US"/>
          </a:p>
        </p:txBody>
      </p:sp>
      <p:sp>
        <p:nvSpPr>
          <p:cNvPr id="24" name="Text 22"/>
          <p:cNvSpPr txBox="1"/>
          <p:nvPr/>
        </p:nvSpPr>
        <p:spPr>
          <a:xfrm>
            <a:off x="3429000" y="4160520"/>
            <a:ext cx="2240280" cy="256032"/>
          </a:xfrm>
          <a:prstGeom prst="rect">
            <a:avLst/>
          </a:prstGeom>
          <a:noFill/>
          <a:ln/>
        </p:spPr>
        <p:txBody>
          <a:bodyPr wrap="square" lIns="0" tIns="0" rIns="0" bIns="0" rtlCol="0" anchor="ctr"/>
          <a:lstStyle/>
          <a:p>
            <a:pPr marL="0" indent="0">
              <a:buNone/>
            </a:pPr>
            <a:r>
              <a:rPr lang="en-US" sz="1300" b="1" dirty="0">
                <a:solidFill>
                  <a:srgbClr val="02C39A"/>
                </a:solidFill>
                <a:latin typeface="Cambria" pitchFamily="34" charset="0"/>
                <a:ea typeface="Cambria" pitchFamily="34" charset="-122"/>
                <a:cs typeface="Cambria" pitchFamily="34" charset="-120"/>
              </a:rPr>
              <a:t>Dimensionality</a:t>
            </a:r>
            <a:endParaRPr lang="en-US" sz="1300" dirty="0"/>
          </a:p>
        </p:txBody>
      </p:sp>
      <p:sp>
        <p:nvSpPr>
          <p:cNvPr id="25" name="Text 23"/>
          <p:cNvSpPr txBox="1"/>
          <p:nvPr/>
        </p:nvSpPr>
        <p:spPr>
          <a:xfrm>
            <a:off x="3429000" y="4407408"/>
            <a:ext cx="2240280" cy="438912"/>
          </a:xfrm>
          <a:prstGeom prst="rect">
            <a:avLst/>
          </a:prstGeom>
          <a:noFill/>
          <a:ln/>
        </p:spPr>
        <p:txBody>
          <a:bodyPr wrap="square" lIns="0" tIns="0" rIns="0" bIns="0" rtlCol="0" anchor="ctr"/>
          <a:lstStyle/>
          <a:p>
            <a:pPr marL="0" indent="0">
              <a:lnSpc>
                <a:spcPct val="115000"/>
              </a:lnSpc>
              <a:buNone/>
            </a:pPr>
            <a:r>
              <a:rPr lang="en-US" sz="1000" dirty="0">
                <a:solidFill>
                  <a:srgbClr val="FFFFFF"/>
                </a:solidFill>
                <a:latin typeface="Calibri" pitchFamily="34" charset="0"/>
                <a:ea typeface="Calibri" pitchFamily="34" charset="-122"/>
                <a:cs typeface="Calibri" pitchFamily="34" charset="-120"/>
              </a:rPr>
              <a:t>Curse of dimensionality, SVD, PCA, UMAP, regularization, CatBoost</a:t>
            </a:r>
            <a:endParaRPr lang="en-US" sz="1000" dirty="0"/>
          </a:p>
        </p:txBody>
      </p:sp>
      <p:sp>
        <p:nvSpPr>
          <p:cNvPr id="26" name="Shape 24"/>
          <p:cNvSpPr/>
          <p:nvPr/>
        </p:nvSpPr>
        <p:spPr>
          <a:xfrm>
            <a:off x="6126480" y="4114800"/>
            <a:ext cx="2514600" cy="777240"/>
          </a:xfrm>
          <a:prstGeom prst="rect">
            <a:avLst/>
          </a:prstGeom>
          <a:solidFill>
            <a:srgbClr val="065A82"/>
          </a:solidFill>
          <a:ln w="12700">
            <a:solidFill>
              <a:srgbClr val="065A82"/>
            </a:solidFill>
            <a:prstDash val="solid"/>
          </a:ln>
        </p:spPr>
        <p:txBody>
          <a:bodyPr/>
          <a:lstStyle/>
          <a:p>
            <a:endParaRPr lang="en-US"/>
          </a:p>
        </p:txBody>
      </p:sp>
      <p:sp>
        <p:nvSpPr>
          <p:cNvPr id="27" name="Text 25"/>
          <p:cNvSpPr txBox="1"/>
          <p:nvPr/>
        </p:nvSpPr>
        <p:spPr>
          <a:xfrm>
            <a:off x="6263640" y="4160520"/>
            <a:ext cx="2240280" cy="256032"/>
          </a:xfrm>
          <a:prstGeom prst="rect">
            <a:avLst/>
          </a:prstGeom>
          <a:noFill/>
          <a:ln/>
        </p:spPr>
        <p:txBody>
          <a:bodyPr wrap="square" lIns="0" tIns="0" rIns="0" bIns="0" rtlCol="0" anchor="ctr"/>
          <a:lstStyle/>
          <a:p>
            <a:pPr marL="0" indent="0">
              <a:buNone/>
            </a:pPr>
            <a:r>
              <a:rPr lang="en-US" sz="1300" b="1" dirty="0">
                <a:solidFill>
                  <a:srgbClr val="02C39A"/>
                </a:solidFill>
                <a:latin typeface="Cambria" pitchFamily="34" charset="0"/>
                <a:ea typeface="Cambria" pitchFamily="34" charset="-122"/>
                <a:cs typeface="Cambria" pitchFamily="34" charset="-120"/>
              </a:rPr>
              <a:t>Embeddings</a:t>
            </a:r>
            <a:endParaRPr lang="en-US" sz="1300" dirty="0"/>
          </a:p>
        </p:txBody>
      </p:sp>
      <p:sp>
        <p:nvSpPr>
          <p:cNvPr id="28" name="Text 26"/>
          <p:cNvSpPr txBox="1"/>
          <p:nvPr/>
        </p:nvSpPr>
        <p:spPr>
          <a:xfrm>
            <a:off x="6263640" y="4407408"/>
            <a:ext cx="2240280" cy="438912"/>
          </a:xfrm>
          <a:prstGeom prst="rect">
            <a:avLst/>
          </a:prstGeom>
          <a:noFill/>
          <a:ln/>
        </p:spPr>
        <p:txBody>
          <a:bodyPr wrap="square" lIns="0" tIns="0" rIns="0" bIns="0" rtlCol="0" anchor="ctr"/>
          <a:lstStyle/>
          <a:p>
            <a:pPr marL="0" indent="0">
              <a:lnSpc>
                <a:spcPct val="115000"/>
              </a:lnSpc>
              <a:buNone/>
            </a:pPr>
            <a:r>
              <a:rPr lang="en-US" sz="1000" dirty="0">
                <a:solidFill>
                  <a:srgbClr val="FFFFFF"/>
                </a:solidFill>
                <a:latin typeface="Calibri" pitchFamily="34" charset="0"/>
                <a:ea typeface="Calibri" pitchFamily="34" charset="-122"/>
                <a:cs typeface="Calibri" pitchFamily="34" charset="-120"/>
              </a:rPr>
              <a:t>Vectors as meaning, cosine similarity, semantic search, language geometry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65A82"/>
          </a:solidFill>
          <a:ln w="12700">
            <a:solidFill>
              <a:srgbClr val="065A82"/>
            </a:solidFill>
            <a:prstDash val="solid"/>
          </a:ln>
        </p:spPr>
        <p:txBody>
          <a:bodyPr/>
          <a:lstStyle/>
          <a:p>
            <a:endParaRPr lang="en-US"/>
          </a:p>
        </p:txBody>
      </p:sp>
      <p:sp>
        <p:nvSpPr>
          <p:cNvPr id="3" name="Text 1"/>
          <p:cNvSpPr txBox="1"/>
          <p:nvPr/>
        </p:nvSpPr>
        <p:spPr>
          <a:xfrm>
            <a:off x="274320" y="640080"/>
            <a:ext cx="3291840" cy="2560320"/>
          </a:xfrm>
          <a:prstGeom prst="rect">
            <a:avLst/>
          </a:prstGeom>
          <a:noFill/>
          <a:ln/>
        </p:spPr>
        <p:txBody>
          <a:bodyPr wrap="square" rtlCol="0" anchor="ctr"/>
          <a:lstStyle/>
          <a:p>
            <a:pPr marL="0" indent="0">
              <a:lnSpc>
                <a:spcPct val="130000"/>
              </a:lnSpc>
              <a:buNone/>
            </a:pPr>
            <a:r>
              <a:rPr lang="en-US" sz="2800" b="1" dirty="0">
                <a:solidFill>
                  <a:srgbClr val="FFFFFF"/>
                </a:solidFill>
                <a:latin typeface="Cambria" pitchFamily="34" charset="0"/>
                <a:ea typeface="Cambria" pitchFamily="34" charset="-122"/>
                <a:cs typeface="Cambria" pitchFamily="34" charset="-120"/>
              </a:rPr>
              <a:t>The web was built</a:t>
            </a:r>
            <a:endParaRPr lang="en-US" sz="2800" dirty="0"/>
          </a:p>
          <a:p>
            <a:pPr marL="0" indent="0">
              <a:lnSpc>
                <a:spcPct val="130000"/>
              </a:lnSpc>
              <a:buNone/>
            </a:pPr>
            <a:r>
              <a:rPr lang="en-US" sz="2800" b="1" dirty="0">
                <a:solidFill>
                  <a:srgbClr val="FFFFFF"/>
                </a:solidFill>
                <a:latin typeface="Cambria" pitchFamily="34" charset="0"/>
                <a:ea typeface="Cambria" pitchFamily="34" charset="-122"/>
                <a:cs typeface="Cambria" pitchFamily="34" charset="-120"/>
              </a:rPr>
              <a:t>for humans,</a:t>
            </a:r>
            <a:endParaRPr lang="en-US" sz="2800" dirty="0"/>
          </a:p>
          <a:p>
            <a:pPr marL="0" indent="0">
              <a:lnSpc>
                <a:spcPct val="130000"/>
              </a:lnSpc>
              <a:buNone/>
            </a:pPr>
            <a:r>
              <a:rPr lang="en-US" sz="2800" b="1" dirty="0">
                <a:solidFill>
                  <a:srgbClr val="FFFFFF"/>
                </a:solidFill>
                <a:latin typeface="Cambria" pitchFamily="34" charset="0"/>
                <a:ea typeface="Cambria" pitchFamily="34" charset="-122"/>
                <a:cs typeface="Cambria" pitchFamily="34" charset="-120"/>
              </a:rPr>
              <a:t>not machines.</a:t>
            </a:r>
            <a:endParaRPr lang="en-US" sz="2800" dirty="0"/>
          </a:p>
        </p:txBody>
      </p:sp>
      <p:sp>
        <p:nvSpPr>
          <p:cNvPr id="4" name="Text 2"/>
          <p:cNvSpPr txBox="1"/>
          <p:nvPr/>
        </p:nvSpPr>
        <p:spPr>
          <a:xfrm>
            <a:off x="274320" y="3246120"/>
            <a:ext cx="3291840" cy="1371600"/>
          </a:xfrm>
          <a:prstGeom prst="rect">
            <a:avLst/>
          </a:prstGeom>
          <a:noFill/>
          <a:ln/>
        </p:spPr>
        <p:txBody>
          <a:bodyPr wrap="square" rtlCol="0" anchor="ctr"/>
          <a:lstStyle/>
          <a:p>
            <a:pPr marL="0" indent="0">
              <a:lnSpc>
                <a:spcPct val="135000"/>
              </a:lnSpc>
              <a:buNone/>
            </a:pPr>
            <a:r>
              <a:rPr lang="en-US" sz="1400" i="1" dirty="0">
                <a:solidFill>
                  <a:schemeClr val="bg1"/>
                </a:solidFill>
                <a:latin typeface="Calibri" pitchFamily="34" charset="0"/>
                <a:ea typeface="Calibri" pitchFamily="34" charset="-122"/>
                <a:cs typeface="Calibri" pitchFamily="34" charset="-120"/>
              </a:rPr>
              <a:t>Search engines have to guess</a:t>
            </a:r>
            <a:endParaRPr lang="en-US" sz="1400" dirty="0">
              <a:solidFill>
                <a:schemeClr val="bg1"/>
              </a:solidFill>
            </a:endParaRPr>
          </a:p>
          <a:p>
            <a:pPr marL="0" indent="0">
              <a:lnSpc>
                <a:spcPct val="135000"/>
              </a:lnSpc>
              <a:buNone/>
            </a:pPr>
            <a:r>
              <a:rPr lang="en-US" sz="1400" i="1" dirty="0">
                <a:solidFill>
                  <a:schemeClr val="bg1"/>
                </a:solidFill>
                <a:latin typeface="Calibri" pitchFamily="34" charset="0"/>
                <a:ea typeface="Calibri" pitchFamily="34" charset="-122"/>
                <a:cs typeface="Calibri" pitchFamily="34" charset="-120"/>
              </a:rPr>
              <a:t>what your content means.</a:t>
            </a:r>
            <a:endParaRPr lang="en-US" sz="1400" dirty="0">
              <a:solidFill>
                <a:schemeClr val="bg1"/>
              </a:solidFill>
            </a:endParaRPr>
          </a:p>
          <a:p>
            <a:pPr marL="0" indent="0">
              <a:lnSpc>
                <a:spcPct val="135000"/>
              </a:lnSpc>
              <a:buNone/>
            </a:pPr>
            <a:r>
              <a:rPr lang="en-US" sz="1400" i="1" dirty="0">
                <a:solidFill>
                  <a:schemeClr val="bg1"/>
                </a:solidFill>
                <a:latin typeface="Calibri" pitchFamily="34" charset="0"/>
                <a:ea typeface="Calibri" pitchFamily="34" charset="-122"/>
                <a:cs typeface="Calibri" pitchFamily="34" charset="-120"/>
              </a:rPr>
              <a:t>What if it could know?</a:t>
            </a:r>
            <a:endParaRPr lang="en-US" sz="1400" dirty="0">
              <a:solidFill>
                <a:schemeClr val="bg1"/>
              </a:solidFill>
            </a:endParaRPr>
          </a:p>
        </p:txBody>
      </p:sp>
      <p:sp>
        <p:nvSpPr>
          <p:cNvPr id="5" name="Text 3"/>
          <p:cNvSpPr txBox="1"/>
          <p:nvPr/>
        </p:nvSpPr>
        <p:spPr>
          <a:xfrm>
            <a:off x="4114800" y="320040"/>
            <a:ext cx="4754880" cy="457200"/>
          </a:xfrm>
          <a:prstGeom prst="rect">
            <a:avLst/>
          </a:prstGeom>
          <a:noFill/>
          <a:ln/>
        </p:spPr>
        <p:txBody>
          <a:bodyPr wrap="square" rtlCol="0" anchor="ctr"/>
          <a:lstStyle/>
          <a:p>
            <a:pPr marL="0" indent="0">
              <a:buNone/>
            </a:pPr>
            <a:r>
              <a:rPr lang="en-US" sz="2200" b="1" dirty="0">
                <a:solidFill>
                  <a:srgbClr val="0D1B2A"/>
                </a:solidFill>
                <a:latin typeface="Cambria" pitchFamily="34" charset="0"/>
                <a:ea typeface="Cambria" pitchFamily="34" charset="-122"/>
                <a:cs typeface="Cambria" pitchFamily="34" charset="-120"/>
              </a:rPr>
              <a:t>The Accessibility Problem</a:t>
            </a:r>
            <a:endParaRPr lang="en-US" sz="2200" dirty="0"/>
          </a:p>
        </p:txBody>
      </p:sp>
      <p:sp>
        <p:nvSpPr>
          <p:cNvPr id="6" name="Shape 4"/>
          <p:cNvSpPr/>
          <p:nvPr/>
        </p:nvSpPr>
        <p:spPr>
          <a:xfrm>
            <a:off x="4114800" y="914400"/>
            <a:ext cx="4663440" cy="868680"/>
          </a:xfrm>
          <a:prstGeom prst="rect">
            <a:avLst/>
          </a:prstGeom>
          <a:solidFill>
            <a:srgbClr val="EEF7FD"/>
          </a:solidFill>
          <a:ln w="12700">
            <a:solidFill>
              <a:srgbClr val="EEF7FD"/>
            </a:solidFill>
            <a:prstDash val="solid"/>
          </a:ln>
        </p:spPr>
        <p:txBody>
          <a:bodyPr/>
          <a:lstStyle/>
          <a:p>
            <a:endParaRPr lang="en-US"/>
          </a:p>
        </p:txBody>
      </p:sp>
      <p:sp>
        <p:nvSpPr>
          <p:cNvPr id="7" name="Text 5"/>
          <p:cNvSpPr txBox="1"/>
          <p:nvPr/>
        </p:nvSpPr>
        <p:spPr>
          <a:xfrm>
            <a:off x="4251960" y="969264"/>
            <a:ext cx="4480560" cy="292608"/>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  The Web is Documents</a:t>
            </a:r>
            <a:endParaRPr lang="en-US" sz="1300" dirty="0"/>
          </a:p>
        </p:txBody>
      </p:sp>
      <p:sp>
        <p:nvSpPr>
          <p:cNvPr id="8" name="Text 6"/>
          <p:cNvSpPr txBox="1"/>
          <p:nvPr/>
        </p:nvSpPr>
        <p:spPr>
          <a:xfrm>
            <a:off x="4251960" y="1261872"/>
            <a:ext cx="4480560" cy="475488"/>
          </a:xfrm>
          <a:prstGeom prst="rect">
            <a:avLst/>
          </a:prstGeom>
          <a:noFill/>
          <a:ln/>
        </p:spPr>
        <p:txBody>
          <a:bodyPr wrap="square" lIns="0" tIns="0" rIns="0" bIns="0" rtlCol="0" anchor="ctr"/>
          <a:lstStyle/>
          <a:p>
            <a:pPr marL="0" indent="0">
              <a:lnSpc>
                <a:spcPct val="120000"/>
              </a:lnSpc>
              <a:buNone/>
            </a:pPr>
            <a:r>
              <a:rPr lang="en-US" sz="1200" dirty="0">
                <a:solidFill>
                  <a:srgbClr val="1C3553"/>
                </a:solidFill>
                <a:latin typeface="Calibri" pitchFamily="34" charset="0"/>
                <a:ea typeface="Calibri" pitchFamily="34" charset="-122"/>
                <a:cs typeface="Calibri" pitchFamily="34" charset="-120"/>
              </a:rPr>
              <a:t>HTML tells browsers how to display information — not what it means.</a:t>
            </a:r>
            <a:endParaRPr lang="en-US" sz="1200" dirty="0"/>
          </a:p>
        </p:txBody>
      </p:sp>
      <p:sp>
        <p:nvSpPr>
          <p:cNvPr id="9" name="Shape 7"/>
          <p:cNvSpPr/>
          <p:nvPr/>
        </p:nvSpPr>
        <p:spPr>
          <a:xfrm>
            <a:off x="4114800" y="1901952"/>
            <a:ext cx="4663440" cy="868680"/>
          </a:xfrm>
          <a:prstGeom prst="rect">
            <a:avLst/>
          </a:prstGeom>
          <a:solidFill>
            <a:srgbClr val="EEF7FD"/>
          </a:solidFill>
          <a:ln w="12700">
            <a:solidFill>
              <a:srgbClr val="EEF7FD"/>
            </a:solidFill>
            <a:prstDash val="solid"/>
          </a:ln>
        </p:spPr>
        <p:txBody>
          <a:bodyPr/>
          <a:lstStyle/>
          <a:p>
            <a:endParaRPr lang="en-US"/>
          </a:p>
        </p:txBody>
      </p:sp>
      <p:sp>
        <p:nvSpPr>
          <p:cNvPr id="10" name="Text 8"/>
          <p:cNvSpPr txBox="1"/>
          <p:nvPr/>
        </p:nvSpPr>
        <p:spPr>
          <a:xfrm>
            <a:off x="4251960" y="1956816"/>
            <a:ext cx="4480560" cy="292608"/>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  Machines Have to Guess</a:t>
            </a:r>
            <a:endParaRPr lang="en-US" sz="1300" dirty="0"/>
          </a:p>
        </p:txBody>
      </p:sp>
      <p:sp>
        <p:nvSpPr>
          <p:cNvPr id="11" name="Text 9"/>
          <p:cNvSpPr txBox="1"/>
          <p:nvPr/>
        </p:nvSpPr>
        <p:spPr>
          <a:xfrm>
            <a:off x="4251960" y="2249424"/>
            <a:ext cx="4480560" cy="475488"/>
          </a:xfrm>
          <a:prstGeom prst="rect">
            <a:avLst/>
          </a:prstGeom>
          <a:noFill/>
          <a:ln/>
        </p:spPr>
        <p:txBody>
          <a:bodyPr wrap="square" lIns="0" tIns="0" rIns="0" bIns="0" rtlCol="0" anchor="ctr"/>
          <a:lstStyle/>
          <a:p>
            <a:pPr marL="0" indent="0">
              <a:lnSpc>
                <a:spcPct val="120000"/>
              </a:lnSpc>
              <a:buNone/>
            </a:pPr>
            <a:r>
              <a:rPr lang="en-US" sz="1200" dirty="0">
                <a:solidFill>
                  <a:srgbClr val="1C3553"/>
                </a:solidFill>
                <a:latin typeface="Calibri" pitchFamily="34" charset="0"/>
                <a:ea typeface="Calibri" pitchFamily="34" charset="-122"/>
                <a:cs typeface="Calibri" pitchFamily="34" charset="-120"/>
              </a:rPr>
              <a:t>Search engines use statistical NLP to infer meaning from text patterns.</a:t>
            </a:r>
            <a:endParaRPr lang="en-US" sz="1200" dirty="0"/>
          </a:p>
        </p:txBody>
      </p:sp>
      <p:sp>
        <p:nvSpPr>
          <p:cNvPr id="12" name="Shape 10"/>
          <p:cNvSpPr/>
          <p:nvPr/>
        </p:nvSpPr>
        <p:spPr>
          <a:xfrm>
            <a:off x="4114800" y="2889504"/>
            <a:ext cx="4663440" cy="868680"/>
          </a:xfrm>
          <a:prstGeom prst="rect">
            <a:avLst/>
          </a:prstGeom>
          <a:solidFill>
            <a:srgbClr val="EEF7FD"/>
          </a:solidFill>
          <a:ln w="12700">
            <a:solidFill>
              <a:srgbClr val="EEF7FD"/>
            </a:solidFill>
            <a:prstDash val="solid"/>
          </a:ln>
        </p:spPr>
        <p:txBody>
          <a:bodyPr/>
          <a:lstStyle/>
          <a:p>
            <a:endParaRPr lang="en-US"/>
          </a:p>
        </p:txBody>
      </p:sp>
      <p:sp>
        <p:nvSpPr>
          <p:cNvPr id="13" name="Text 11"/>
          <p:cNvSpPr txBox="1"/>
          <p:nvPr/>
        </p:nvSpPr>
        <p:spPr>
          <a:xfrm>
            <a:off x="4251960" y="2944368"/>
            <a:ext cx="4480560" cy="292608"/>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  The Semantic Web Idea</a:t>
            </a:r>
            <a:endParaRPr lang="en-US" sz="1300" dirty="0"/>
          </a:p>
        </p:txBody>
      </p:sp>
      <p:sp>
        <p:nvSpPr>
          <p:cNvPr id="14" name="Text 12"/>
          <p:cNvSpPr txBox="1"/>
          <p:nvPr/>
        </p:nvSpPr>
        <p:spPr>
          <a:xfrm>
            <a:off x="4251960" y="3236976"/>
            <a:ext cx="4480560" cy="475488"/>
          </a:xfrm>
          <a:prstGeom prst="rect">
            <a:avLst/>
          </a:prstGeom>
          <a:noFill/>
          <a:ln/>
        </p:spPr>
        <p:txBody>
          <a:bodyPr wrap="square" lIns="0" tIns="0" rIns="0" bIns="0" rtlCol="0" anchor="ctr"/>
          <a:lstStyle/>
          <a:p>
            <a:pPr marL="0" indent="0">
              <a:lnSpc>
                <a:spcPct val="120000"/>
              </a:lnSpc>
              <a:buNone/>
            </a:pPr>
            <a:r>
              <a:rPr lang="en-US" sz="1200" dirty="0">
                <a:solidFill>
                  <a:srgbClr val="1C3553"/>
                </a:solidFill>
                <a:latin typeface="Calibri" pitchFamily="34" charset="0"/>
                <a:ea typeface="Calibri" pitchFamily="34" charset="-122"/>
                <a:cs typeface="Calibri" pitchFamily="34" charset="-120"/>
              </a:rPr>
              <a:t>What if we attached formal meaning to data, so machines could reason about it?</a:t>
            </a:r>
            <a:endParaRPr lang="en-US" sz="1200" dirty="0"/>
          </a:p>
        </p:txBody>
      </p:sp>
      <p:sp>
        <p:nvSpPr>
          <p:cNvPr id="15" name="Shape 13"/>
          <p:cNvSpPr/>
          <p:nvPr/>
        </p:nvSpPr>
        <p:spPr>
          <a:xfrm>
            <a:off x="4114800" y="3877056"/>
            <a:ext cx="4663440" cy="868680"/>
          </a:xfrm>
          <a:prstGeom prst="rect">
            <a:avLst/>
          </a:prstGeom>
          <a:solidFill>
            <a:srgbClr val="EEF7FD"/>
          </a:solidFill>
          <a:ln w="12700">
            <a:solidFill>
              <a:srgbClr val="EEF7FD"/>
            </a:solidFill>
            <a:prstDash val="solid"/>
          </a:ln>
        </p:spPr>
        <p:txBody>
          <a:bodyPr/>
          <a:lstStyle/>
          <a:p>
            <a:endParaRPr lang="en-US"/>
          </a:p>
        </p:txBody>
      </p:sp>
      <p:sp>
        <p:nvSpPr>
          <p:cNvPr id="16" name="Text 14"/>
          <p:cNvSpPr txBox="1"/>
          <p:nvPr/>
        </p:nvSpPr>
        <p:spPr>
          <a:xfrm>
            <a:off x="4251960" y="3931920"/>
            <a:ext cx="4480560" cy="292608"/>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  Why Now</a:t>
            </a:r>
            <a:endParaRPr lang="en-US" sz="1300" dirty="0"/>
          </a:p>
        </p:txBody>
      </p:sp>
      <p:sp>
        <p:nvSpPr>
          <p:cNvPr id="17" name="Text 15"/>
          <p:cNvSpPr txBox="1"/>
          <p:nvPr/>
        </p:nvSpPr>
        <p:spPr>
          <a:xfrm>
            <a:off x="4251960" y="4224528"/>
            <a:ext cx="4480560" cy="475488"/>
          </a:xfrm>
          <a:prstGeom prst="rect">
            <a:avLst/>
          </a:prstGeom>
          <a:noFill/>
          <a:ln/>
        </p:spPr>
        <p:txBody>
          <a:bodyPr wrap="square" lIns="0" tIns="0" rIns="0" bIns="0" rtlCol="0" anchor="ctr"/>
          <a:lstStyle/>
          <a:p>
            <a:pPr marL="0" indent="0">
              <a:lnSpc>
                <a:spcPct val="120000"/>
              </a:lnSpc>
              <a:buNone/>
            </a:pPr>
            <a:r>
              <a:rPr lang="en-US" sz="1200" dirty="0">
                <a:solidFill>
                  <a:srgbClr val="1C3553"/>
                </a:solidFill>
                <a:latin typeface="Calibri" pitchFamily="34" charset="0"/>
                <a:ea typeface="Calibri" pitchFamily="34" charset="-122"/>
                <a:cs typeface="Calibri" pitchFamily="34" charset="-120"/>
              </a:rPr>
              <a:t>We're more dependent on machines to find knowledge than ever before.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F5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rtlCol="0" anchor="ctr"/>
          <a:lstStyle/>
          <a:p>
            <a:pPr marL="0" indent="0">
              <a:buNone/>
            </a:pPr>
            <a:r>
              <a:rPr lang="en-US" sz="2800" b="1" dirty="0">
                <a:solidFill>
                  <a:srgbClr val="0D1B2A"/>
                </a:solidFill>
                <a:latin typeface="Cambria" pitchFamily="34" charset="0"/>
                <a:ea typeface="Cambria" pitchFamily="34" charset="-122"/>
                <a:cs typeface="Cambria" pitchFamily="34" charset="-120"/>
              </a:rPr>
              <a:t>Web3 vs. Web 3.0</a:t>
            </a:r>
            <a:endParaRPr lang="en-US" sz="2800" dirty="0"/>
          </a:p>
        </p:txBody>
      </p:sp>
      <p:sp>
        <p:nvSpPr>
          <p:cNvPr id="3" name="Text 1"/>
          <p:cNvSpPr txBox="1"/>
          <p:nvPr/>
        </p:nvSpPr>
        <p:spPr>
          <a:xfrm>
            <a:off x="457200" y="749808"/>
            <a:ext cx="8229600" cy="347472"/>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These sound the same but they're built on completely different ideas</a:t>
            </a:r>
            <a:endParaRPr lang="en-US" sz="1400" dirty="0"/>
          </a:p>
        </p:txBody>
      </p:sp>
      <p:sp>
        <p:nvSpPr>
          <p:cNvPr id="4" name="Shape 2"/>
          <p:cNvSpPr/>
          <p:nvPr/>
        </p:nvSpPr>
        <p:spPr>
          <a:xfrm>
            <a:off x="365760" y="1234440"/>
            <a:ext cx="3931920" cy="3474720"/>
          </a:xfrm>
          <a:prstGeom prst="rect">
            <a:avLst/>
          </a:prstGeom>
          <a:solidFill>
            <a:srgbClr val="065A82"/>
          </a:solidFill>
          <a:ln w="12700">
            <a:solidFill>
              <a:srgbClr val="065A82"/>
            </a:solidFill>
            <a:prstDash val="solid"/>
          </a:ln>
        </p:spPr>
        <p:txBody>
          <a:bodyPr/>
          <a:lstStyle/>
          <a:p>
            <a:endParaRPr lang="en-US"/>
          </a:p>
        </p:txBody>
      </p:sp>
      <p:sp>
        <p:nvSpPr>
          <p:cNvPr id="5" name="Text 3"/>
          <p:cNvSpPr txBox="1"/>
          <p:nvPr/>
        </p:nvSpPr>
        <p:spPr>
          <a:xfrm>
            <a:off x="594360" y="1371600"/>
            <a:ext cx="3474720" cy="457200"/>
          </a:xfrm>
          <a:prstGeom prst="rect">
            <a:avLst/>
          </a:prstGeom>
          <a:noFill/>
          <a:ln/>
        </p:spPr>
        <p:txBody>
          <a:bodyPr wrap="square" rtlCol="0" anchor="ctr"/>
          <a:lstStyle/>
          <a:p>
            <a:pPr marL="0" indent="0">
              <a:buNone/>
            </a:pPr>
            <a:r>
              <a:rPr lang="en-US" sz="2400" b="1" dirty="0">
                <a:solidFill>
                  <a:srgbClr val="02C39A"/>
                </a:solidFill>
                <a:latin typeface="Cambria" pitchFamily="34" charset="0"/>
                <a:ea typeface="Cambria" pitchFamily="34" charset="-122"/>
                <a:cs typeface="Cambria" pitchFamily="34" charset="-120"/>
              </a:rPr>
              <a:t>Web3</a:t>
            </a:r>
            <a:endParaRPr lang="en-US" sz="2400" dirty="0"/>
          </a:p>
        </p:txBody>
      </p:sp>
      <p:sp>
        <p:nvSpPr>
          <p:cNvPr id="6" name="Text 4"/>
          <p:cNvSpPr txBox="1"/>
          <p:nvPr/>
        </p:nvSpPr>
        <p:spPr>
          <a:xfrm>
            <a:off x="594360" y="1810512"/>
            <a:ext cx="3474720" cy="365760"/>
          </a:xfrm>
          <a:prstGeom prst="rect">
            <a:avLst/>
          </a:prstGeom>
          <a:noFill/>
          <a:ln/>
        </p:spPr>
        <p:txBody>
          <a:bodyPr wrap="square" rtlCol="0" anchor="ctr"/>
          <a:lstStyle/>
          <a:p>
            <a:pPr marL="0" indent="0">
              <a:buNone/>
            </a:pPr>
            <a:r>
              <a:rPr lang="en-US" sz="1300" i="1" dirty="0">
                <a:solidFill>
                  <a:srgbClr val="5A7A99"/>
                </a:solidFill>
                <a:latin typeface="Calibri" pitchFamily="34" charset="0"/>
                <a:ea typeface="Calibri" pitchFamily="34" charset="-122"/>
                <a:cs typeface="Calibri" pitchFamily="34" charset="-120"/>
              </a:rPr>
              <a:t>Blockchain-based decentralized web</a:t>
            </a:r>
            <a:endParaRPr lang="en-US" sz="1300" dirty="0"/>
          </a:p>
        </p:txBody>
      </p:sp>
      <p:sp>
        <p:nvSpPr>
          <p:cNvPr id="7" name="Text 5"/>
          <p:cNvSpPr txBox="1"/>
          <p:nvPr/>
        </p:nvSpPr>
        <p:spPr>
          <a:xfrm>
            <a:off x="594360" y="2240280"/>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Built on distributed ledger technology</a:t>
            </a:r>
            <a:endParaRPr lang="en-US" sz="1200" dirty="0"/>
          </a:p>
        </p:txBody>
      </p:sp>
      <p:sp>
        <p:nvSpPr>
          <p:cNvPr id="8" name="Text 6"/>
          <p:cNvSpPr txBox="1"/>
          <p:nvPr/>
        </p:nvSpPr>
        <p:spPr>
          <a:xfrm>
            <a:off x="594360" y="2670048"/>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Data is hard to change — permanently distributed across nodes</a:t>
            </a:r>
            <a:endParaRPr lang="en-US" sz="1200" dirty="0"/>
          </a:p>
        </p:txBody>
      </p:sp>
      <p:sp>
        <p:nvSpPr>
          <p:cNvPr id="9" name="Text 7"/>
          <p:cNvSpPr txBox="1"/>
          <p:nvPr/>
        </p:nvSpPr>
        <p:spPr>
          <a:xfrm>
            <a:off x="594360" y="3099816"/>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Focus: decentralization &amp; ownership</a:t>
            </a:r>
            <a:endParaRPr lang="en-US" sz="1200" dirty="0"/>
          </a:p>
        </p:txBody>
      </p:sp>
      <p:sp>
        <p:nvSpPr>
          <p:cNvPr id="10" name="Text 8"/>
          <p:cNvSpPr txBox="1"/>
          <p:nvPr/>
        </p:nvSpPr>
        <p:spPr>
          <a:xfrm>
            <a:off x="594360" y="3529584"/>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Examples: cryptocurrencies, NFTs, DeFi</a:t>
            </a:r>
            <a:endParaRPr lang="en-US" sz="1200" dirty="0"/>
          </a:p>
        </p:txBody>
      </p:sp>
      <p:sp>
        <p:nvSpPr>
          <p:cNvPr id="11" name="Text 9"/>
          <p:cNvSpPr txBox="1"/>
          <p:nvPr/>
        </p:nvSpPr>
        <p:spPr>
          <a:xfrm>
            <a:off x="594360" y="3959352"/>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No central authority controls the data</a:t>
            </a:r>
            <a:endParaRPr lang="en-US" sz="1200" dirty="0"/>
          </a:p>
        </p:txBody>
      </p:sp>
      <p:sp>
        <p:nvSpPr>
          <p:cNvPr id="12" name="Shape 10"/>
          <p:cNvSpPr/>
          <p:nvPr/>
        </p:nvSpPr>
        <p:spPr>
          <a:xfrm>
            <a:off x="4754880" y="1234440"/>
            <a:ext cx="3931920" cy="3474720"/>
          </a:xfrm>
          <a:prstGeom prst="rect">
            <a:avLst/>
          </a:prstGeom>
          <a:solidFill>
            <a:srgbClr val="1C7293"/>
          </a:solidFill>
          <a:ln w="12700">
            <a:solidFill>
              <a:srgbClr val="1C7293"/>
            </a:solidFill>
            <a:prstDash val="solid"/>
          </a:ln>
        </p:spPr>
        <p:txBody>
          <a:bodyPr/>
          <a:lstStyle/>
          <a:p>
            <a:endParaRPr lang="en-US"/>
          </a:p>
        </p:txBody>
      </p:sp>
      <p:sp>
        <p:nvSpPr>
          <p:cNvPr id="13" name="Text 11"/>
          <p:cNvSpPr txBox="1"/>
          <p:nvPr/>
        </p:nvSpPr>
        <p:spPr>
          <a:xfrm>
            <a:off x="4983480" y="1371600"/>
            <a:ext cx="3474720" cy="457200"/>
          </a:xfrm>
          <a:prstGeom prst="rect">
            <a:avLst/>
          </a:prstGeom>
          <a:noFill/>
          <a:ln/>
        </p:spPr>
        <p:txBody>
          <a:bodyPr wrap="square" rtlCol="0" anchor="ctr"/>
          <a:lstStyle/>
          <a:p>
            <a:pPr marL="0" indent="0">
              <a:buNone/>
            </a:pPr>
            <a:r>
              <a:rPr lang="en-US" sz="2400" b="1" dirty="0">
                <a:solidFill>
                  <a:srgbClr val="E8A838"/>
                </a:solidFill>
                <a:latin typeface="Cambria" pitchFamily="34" charset="0"/>
                <a:ea typeface="Cambria" pitchFamily="34" charset="-122"/>
                <a:cs typeface="Cambria" pitchFamily="34" charset="-120"/>
              </a:rPr>
              <a:t>Web 3.0</a:t>
            </a:r>
            <a:endParaRPr lang="en-US" sz="2400" dirty="0"/>
          </a:p>
        </p:txBody>
      </p:sp>
      <p:sp>
        <p:nvSpPr>
          <p:cNvPr id="14" name="Text 12"/>
          <p:cNvSpPr txBox="1"/>
          <p:nvPr/>
        </p:nvSpPr>
        <p:spPr>
          <a:xfrm>
            <a:off x="4983480" y="1810512"/>
            <a:ext cx="3474720" cy="36576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The Semantic Web</a:t>
            </a:r>
            <a:endParaRPr lang="en-US" sz="1300" dirty="0"/>
          </a:p>
        </p:txBody>
      </p:sp>
      <p:sp>
        <p:nvSpPr>
          <p:cNvPr id="15" name="Text 13"/>
          <p:cNvSpPr txBox="1"/>
          <p:nvPr/>
        </p:nvSpPr>
        <p:spPr>
          <a:xfrm>
            <a:off x="4983480" y="2240280"/>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Built on data interchange standards</a:t>
            </a:r>
            <a:endParaRPr lang="en-US" sz="1200" dirty="0"/>
          </a:p>
        </p:txBody>
      </p:sp>
      <p:sp>
        <p:nvSpPr>
          <p:cNvPr id="16" name="Text 14"/>
          <p:cNvSpPr txBox="1"/>
          <p:nvPr/>
        </p:nvSpPr>
        <p:spPr>
          <a:xfrm>
            <a:off x="4983480" y="2670048"/>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Data is easy to change and update</a:t>
            </a:r>
            <a:endParaRPr lang="en-US" sz="1200" dirty="0"/>
          </a:p>
        </p:txBody>
      </p:sp>
      <p:sp>
        <p:nvSpPr>
          <p:cNvPr id="17" name="Text 15"/>
          <p:cNvSpPr txBox="1"/>
          <p:nvPr/>
        </p:nvSpPr>
        <p:spPr>
          <a:xfrm>
            <a:off x="4983480" y="3099816"/>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Focus: machine-readable meaning</a:t>
            </a:r>
            <a:endParaRPr lang="en-US" sz="1200" dirty="0"/>
          </a:p>
        </p:txBody>
      </p:sp>
      <p:sp>
        <p:nvSpPr>
          <p:cNvPr id="18" name="Text 16"/>
          <p:cNvSpPr txBox="1"/>
          <p:nvPr/>
        </p:nvSpPr>
        <p:spPr>
          <a:xfrm>
            <a:off x="4983480" y="3529584"/>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Technologies: RDF, SPARQL, OWL, SKOS</a:t>
            </a:r>
            <a:endParaRPr lang="en-US" sz="1200" dirty="0"/>
          </a:p>
        </p:txBody>
      </p:sp>
      <p:sp>
        <p:nvSpPr>
          <p:cNvPr id="19" name="Text 17"/>
          <p:cNvSpPr txBox="1"/>
          <p:nvPr/>
        </p:nvSpPr>
        <p:spPr>
          <a:xfrm>
            <a:off x="4983480" y="3959352"/>
            <a:ext cx="3474720" cy="384048"/>
          </a:xfrm>
          <a:prstGeom prst="rect">
            <a:avLst/>
          </a:prstGeom>
          <a:noFill/>
          <a:ln/>
        </p:spPr>
        <p:txBody>
          <a:bodyPr wrap="square"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  W3C standards govern structure, not ownership</a:t>
            </a:r>
            <a:endParaRPr lang="en-US" sz="1200" dirty="0"/>
          </a:p>
        </p:txBody>
      </p:sp>
      <p:sp>
        <p:nvSpPr>
          <p:cNvPr id="20" name="Shape 18"/>
          <p:cNvSpPr/>
          <p:nvPr/>
        </p:nvSpPr>
        <p:spPr>
          <a:xfrm>
            <a:off x="4123944" y="2560320"/>
            <a:ext cx="713232" cy="713232"/>
          </a:xfrm>
          <a:prstGeom prst="ellipse">
            <a:avLst/>
          </a:prstGeom>
          <a:solidFill>
            <a:srgbClr val="E8A838"/>
          </a:solidFill>
          <a:ln w="12700">
            <a:solidFill>
              <a:srgbClr val="E8A838"/>
            </a:solidFill>
            <a:prstDash val="solid"/>
          </a:ln>
        </p:spPr>
        <p:txBody>
          <a:bodyPr/>
          <a:lstStyle/>
          <a:p>
            <a:endParaRPr lang="en-US"/>
          </a:p>
        </p:txBody>
      </p:sp>
      <p:sp>
        <p:nvSpPr>
          <p:cNvPr id="21" name="Text 19"/>
          <p:cNvSpPr txBox="1"/>
          <p:nvPr/>
        </p:nvSpPr>
        <p:spPr>
          <a:xfrm>
            <a:off x="4123944" y="2715768"/>
            <a:ext cx="713232" cy="411480"/>
          </a:xfrm>
          <a:prstGeom prst="rect">
            <a:avLst/>
          </a:prstGeom>
          <a:noFill/>
          <a:ln/>
        </p:spPr>
        <p:txBody>
          <a:bodyPr wrap="square" lIns="0" tIns="0" rIns="0" bIns="0"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vs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4023360" cy="5143500"/>
          </a:xfrm>
          <a:prstGeom prst="rect">
            <a:avLst/>
          </a:prstGeom>
          <a:solidFill>
            <a:srgbClr val="0D1B2A"/>
          </a:solidFill>
          <a:ln w="12700">
            <a:solidFill>
              <a:srgbClr val="0D1B2A"/>
            </a:solidFill>
            <a:prstDash val="solid"/>
          </a:ln>
        </p:spPr>
        <p:txBody>
          <a:bodyPr/>
          <a:lstStyle/>
          <a:p>
            <a:endParaRPr lang="en-US"/>
          </a:p>
        </p:txBody>
      </p:sp>
      <p:sp>
        <p:nvSpPr>
          <p:cNvPr id="3" name="Text 1"/>
          <p:cNvSpPr txBox="1"/>
          <p:nvPr/>
        </p:nvSpPr>
        <p:spPr>
          <a:xfrm>
            <a:off x="228600" y="548640"/>
            <a:ext cx="3566160" cy="1554480"/>
          </a:xfrm>
          <a:prstGeom prst="rect">
            <a:avLst/>
          </a:prstGeom>
          <a:noFill/>
          <a:ln/>
        </p:spPr>
        <p:txBody>
          <a:bodyPr wrap="square" rtlCol="0" anchor="ctr"/>
          <a:lstStyle/>
          <a:p>
            <a:pPr marL="0" indent="0">
              <a:lnSpc>
                <a:spcPct val="120000"/>
              </a:lnSpc>
              <a:buNone/>
            </a:pPr>
            <a:r>
              <a:rPr lang="en-US" sz="3200" b="1" i="1" dirty="0">
                <a:solidFill>
                  <a:srgbClr val="FFFFFF"/>
                </a:solidFill>
                <a:latin typeface="Cambria" pitchFamily="34" charset="0"/>
                <a:ea typeface="Cambria" pitchFamily="34" charset="-122"/>
                <a:cs typeface="Cambria" pitchFamily="34" charset="-120"/>
              </a:rPr>
              <a:t>"Hey, look at</a:t>
            </a:r>
            <a:endParaRPr lang="en-US" sz="3200" dirty="0"/>
          </a:p>
          <a:p>
            <a:pPr marL="0" indent="0">
              <a:lnSpc>
                <a:spcPct val="120000"/>
              </a:lnSpc>
              <a:buNone/>
            </a:pPr>
            <a:r>
              <a:rPr lang="en-US" sz="3200" b="1" i="1" dirty="0">
                <a:solidFill>
                  <a:srgbClr val="FFFFFF"/>
                </a:solidFill>
                <a:latin typeface="Cambria" pitchFamily="34" charset="0"/>
                <a:ea typeface="Cambria" pitchFamily="34" charset="-122"/>
                <a:cs typeface="Cambria" pitchFamily="34" charset="-120"/>
              </a:rPr>
              <a:t>that apple."</a:t>
            </a:r>
            <a:endParaRPr lang="en-US" sz="3200" dirty="0"/>
          </a:p>
        </p:txBody>
      </p:sp>
      <p:sp>
        <p:nvSpPr>
          <p:cNvPr id="4" name="Text 2"/>
          <p:cNvSpPr txBox="1"/>
          <p:nvPr/>
        </p:nvSpPr>
        <p:spPr>
          <a:xfrm>
            <a:off x="228600" y="2148840"/>
            <a:ext cx="3566160" cy="731520"/>
          </a:xfrm>
          <a:prstGeom prst="rect">
            <a:avLst/>
          </a:prstGeom>
          <a:noFill/>
          <a:ln/>
        </p:spPr>
        <p:txBody>
          <a:bodyPr wrap="square" rtlCol="0" anchor="ctr"/>
          <a:lstStyle/>
          <a:p>
            <a:pPr marL="0" indent="0">
              <a:lnSpc>
                <a:spcPct val="130000"/>
              </a:lnSpc>
              <a:buNone/>
            </a:pPr>
            <a:r>
              <a:rPr lang="en-US" sz="1500" dirty="0">
                <a:solidFill>
                  <a:schemeClr val="bg1"/>
                </a:solidFill>
                <a:latin typeface="Calibri" pitchFamily="34" charset="0"/>
                <a:ea typeface="Calibri" pitchFamily="34" charset="-122"/>
                <a:cs typeface="Calibri" pitchFamily="34" charset="-120"/>
              </a:rPr>
              <a:t>A human resolves this instantly.</a:t>
            </a:r>
            <a:endParaRPr lang="en-US" sz="1500" dirty="0">
              <a:solidFill>
                <a:schemeClr val="bg1"/>
              </a:solidFill>
            </a:endParaRPr>
          </a:p>
          <a:p>
            <a:pPr marL="0" indent="0">
              <a:lnSpc>
                <a:spcPct val="130000"/>
              </a:lnSpc>
              <a:buNone/>
            </a:pPr>
            <a:r>
              <a:rPr lang="en-US" sz="1500" dirty="0">
                <a:solidFill>
                  <a:schemeClr val="bg1"/>
                </a:solidFill>
                <a:latin typeface="Calibri" pitchFamily="34" charset="0"/>
                <a:ea typeface="Calibri" pitchFamily="34" charset="-122"/>
                <a:cs typeface="Calibri" pitchFamily="34" charset="-120"/>
              </a:rPr>
              <a:t>A machine needs more help.</a:t>
            </a:r>
            <a:endParaRPr lang="en-US" sz="1500" dirty="0">
              <a:solidFill>
                <a:schemeClr val="bg1"/>
              </a:solidFill>
            </a:endParaRPr>
          </a:p>
        </p:txBody>
      </p:sp>
      <p:sp>
        <p:nvSpPr>
          <p:cNvPr id="5" name="Text 3"/>
          <p:cNvSpPr txBox="1"/>
          <p:nvPr/>
        </p:nvSpPr>
        <p:spPr>
          <a:xfrm>
            <a:off x="274320" y="2971800"/>
            <a:ext cx="3474720" cy="1097280"/>
          </a:xfrm>
          <a:prstGeom prst="rect">
            <a:avLst/>
          </a:prstGeom>
          <a:noFill/>
          <a:ln/>
        </p:spPr>
        <p:txBody>
          <a:bodyPr wrap="square" rtlCol="0" anchor="ctr"/>
          <a:lstStyle/>
          <a:p>
            <a:pPr marL="0" indent="0">
              <a:lnSpc>
                <a:spcPct val="155000"/>
              </a:lnSpc>
              <a:buNone/>
            </a:pPr>
            <a:r>
              <a:rPr lang="en-US" sz="1600" dirty="0">
                <a:solidFill>
                  <a:srgbClr val="02C39A"/>
                </a:solidFill>
                <a:latin typeface="Calibri" pitchFamily="34" charset="0"/>
                <a:ea typeface="Calibri" pitchFamily="34" charset="-122"/>
                <a:cs typeface="Calibri" pitchFamily="34" charset="-120"/>
              </a:rPr>
              <a:t>🍎  The fruit?</a:t>
            </a:r>
            <a:endParaRPr lang="en-US" sz="1600" dirty="0"/>
          </a:p>
          <a:p>
            <a:pPr marL="0" indent="0">
              <a:lnSpc>
                <a:spcPct val="155000"/>
              </a:lnSpc>
              <a:buNone/>
            </a:pPr>
            <a:r>
              <a:rPr lang="en-US" sz="1600" dirty="0">
                <a:solidFill>
                  <a:srgbClr val="02C39A"/>
                </a:solidFill>
                <a:latin typeface="Calibri" pitchFamily="34" charset="0"/>
                <a:ea typeface="Calibri" pitchFamily="34" charset="-122"/>
                <a:cs typeface="Calibri" pitchFamily="34" charset="-120"/>
              </a:rPr>
              <a:t>💻  The company?</a:t>
            </a:r>
            <a:endParaRPr lang="en-US" sz="1600" dirty="0"/>
          </a:p>
          <a:p>
            <a:pPr marL="0" indent="0">
              <a:lnSpc>
                <a:spcPct val="155000"/>
              </a:lnSpc>
              <a:buNone/>
            </a:pPr>
            <a:r>
              <a:rPr lang="en-US" sz="1600" dirty="0">
                <a:solidFill>
                  <a:srgbClr val="02C39A"/>
                </a:solidFill>
                <a:latin typeface="Calibri" pitchFamily="34" charset="0"/>
                <a:ea typeface="Calibri" pitchFamily="34" charset="-122"/>
                <a:cs typeface="Calibri" pitchFamily="34" charset="-120"/>
              </a:rPr>
              <a:t>🖼  The logo?</a:t>
            </a:r>
            <a:endParaRPr lang="en-US" sz="1600" dirty="0"/>
          </a:p>
        </p:txBody>
      </p:sp>
      <p:sp>
        <p:nvSpPr>
          <p:cNvPr id="6" name="Text 4"/>
          <p:cNvSpPr txBox="1"/>
          <p:nvPr/>
        </p:nvSpPr>
        <p:spPr>
          <a:xfrm>
            <a:off x="4206240" y="274320"/>
            <a:ext cx="4663440" cy="457200"/>
          </a:xfrm>
          <a:prstGeom prst="rect">
            <a:avLst/>
          </a:prstGeom>
          <a:noFill/>
          <a:ln/>
        </p:spPr>
        <p:txBody>
          <a:bodyPr wrap="square" rtlCol="0" anchor="ctr"/>
          <a:lstStyle/>
          <a:p>
            <a:pPr marL="0" indent="0">
              <a:buNone/>
            </a:pPr>
            <a:r>
              <a:rPr lang="en-US" sz="2000" b="1" dirty="0">
                <a:solidFill>
                  <a:srgbClr val="0D1B2A"/>
                </a:solidFill>
                <a:latin typeface="Cambria" pitchFamily="34" charset="0"/>
                <a:ea typeface="Cambria" pitchFamily="34" charset="-122"/>
                <a:cs typeface="Cambria" pitchFamily="34" charset="-120"/>
              </a:rPr>
              <a:t>The Four Layers of Meaning</a:t>
            </a:r>
            <a:endParaRPr lang="en-US" sz="2000" dirty="0"/>
          </a:p>
        </p:txBody>
      </p:sp>
      <p:sp>
        <p:nvSpPr>
          <p:cNvPr id="7" name="Shape 5"/>
          <p:cNvSpPr/>
          <p:nvPr/>
        </p:nvSpPr>
        <p:spPr>
          <a:xfrm>
            <a:off x="4206240" y="914400"/>
            <a:ext cx="4663440" cy="868680"/>
          </a:xfrm>
          <a:prstGeom prst="rect">
            <a:avLst/>
          </a:prstGeom>
          <a:solidFill>
            <a:srgbClr val="065A82"/>
          </a:solidFill>
          <a:ln w="12700">
            <a:solidFill>
              <a:srgbClr val="065A82"/>
            </a:solidFill>
            <a:prstDash val="solid"/>
          </a:ln>
        </p:spPr>
        <p:txBody>
          <a:bodyPr/>
          <a:lstStyle/>
          <a:p>
            <a:endParaRPr lang="en-US"/>
          </a:p>
        </p:txBody>
      </p:sp>
      <p:sp>
        <p:nvSpPr>
          <p:cNvPr id="8" name="Text 6"/>
          <p:cNvSpPr txBox="1"/>
          <p:nvPr/>
        </p:nvSpPr>
        <p:spPr>
          <a:xfrm>
            <a:off x="4343400" y="978408"/>
            <a:ext cx="438912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Syntax</a:t>
            </a:r>
            <a:endParaRPr lang="en-US" sz="1500" dirty="0"/>
          </a:p>
        </p:txBody>
      </p:sp>
      <p:sp>
        <p:nvSpPr>
          <p:cNvPr id="9" name="Text 7"/>
          <p:cNvSpPr txBox="1"/>
          <p:nvPr/>
        </p:nvSpPr>
        <p:spPr>
          <a:xfrm>
            <a:off x="4343400" y="1261872"/>
            <a:ext cx="4389120" cy="475488"/>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The rules of arrangement — how words and phrases form well-structured sentences in a language.</a:t>
            </a:r>
            <a:endParaRPr lang="en-US" sz="1150" dirty="0"/>
          </a:p>
        </p:txBody>
      </p:sp>
      <p:sp>
        <p:nvSpPr>
          <p:cNvPr id="10" name="Shape 8"/>
          <p:cNvSpPr/>
          <p:nvPr/>
        </p:nvSpPr>
        <p:spPr>
          <a:xfrm>
            <a:off x="4206240" y="1901952"/>
            <a:ext cx="4663440" cy="868680"/>
          </a:xfrm>
          <a:prstGeom prst="rect">
            <a:avLst/>
          </a:prstGeom>
          <a:solidFill>
            <a:srgbClr val="1C7293"/>
          </a:solidFill>
          <a:ln w="12700">
            <a:solidFill>
              <a:srgbClr val="1C7293"/>
            </a:solidFill>
            <a:prstDash val="solid"/>
          </a:ln>
        </p:spPr>
        <p:txBody>
          <a:bodyPr/>
          <a:lstStyle/>
          <a:p>
            <a:endParaRPr lang="en-US"/>
          </a:p>
        </p:txBody>
      </p:sp>
      <p:sp>
        <p:nvSpPr>
          <p:cNvPr id="11" name="Text 9"/>
          <p:cNvSpPr txBox="1"/>
          <p:nvPr/>
        </p:nvSpPr>
        <p:spPr>
          <a:xfrm>
            <a:off x="4343400" y="1965960"/>
            <a:ext cx="438912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Semantics</a:t>
            </a:r>
            <a:endParaRPr lang="en-US" sz="1500" dirty="0"/>
          </a:p>
        </p:txBody>
      </p:sp>
      <p:sp>
        <p:nvSpPr>
          <p:cNvPr id="12" name="Text 10"/>
          <p:cNvSpPr txBox="1"/>
          <p:nvPr/>
        </p:nvSpPr>
        <p:spPr>
          <a:xfrm>
            <a:off x="4343400" y="2249424"/>
            <a:ext cx="4389120" cy="475488"/>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The meaning itself — what a word, phrase, or sentence actually denotes.</a:t>
            </a:r>
            <a:endParaRPr lang="en-US" sz="1150" dirty="0"/>
          </a:p>
        </p:txBody>
      </p:sp>
      <p:sp>
        <p:nvSpPr>
          <p:cNvPr id="13" name="Shape 11"/>
          <p:cNvSpPr/>
          <p:nvPr/>
        </p:nvSpPr>
        <p:spPr>
          <a:xfrm>
            <a:off x="4206240" y="2889504"/>
            <a:ext cx="4663440" cy="868680"/>
          </a:xfrm>
          <a:prstGeom prst="rect">
            <a:avLst/>
          </a:prstGeom>
          <a:solidFill>
            <a:srgbClr val="02C39A"/>
          </a:solidFill>
          <a:ln w="12700">
            <a:solidFill>
              <a:srgbClr val="02C39A"/>
            </a:solidFill>
            <a:prstDash val="solid"/>
          </a:ln>
        </p:spPr>
        <p:txBody>
          <a:bodyPr/>
          <a:lstStyle/>
          <a:p>
            <a:endParaRPr lang="en-US"/>
          </a:p>
        </p:txBody>
      </p:sp>
      <p:sp>
        <p:nvSpPr>
          <p:cNvPr id="14" name="Text 12"/>
          <p:cNvSpPr txBox="1"/>
          <p:nvPr/>
        </p:nvSpPr>
        <p:spPr>
          <a:xfrm>
            <a:off x="4343400" y="2953512"/>
            <a:ext cx="438912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Context</a:t>
            </a:r>
            <a:endParaRPr lang="en-US" sz="1500" dirty="0"/>
          </a:p>
        </p:txBody>
      </p:sp>
      <p:sp>
        <p:nvSpPr>
          <p:cNvPr id="15" name="Text 13"/>
          <p:cNvSpPr txBox="1"/>
          <p:nvPr/>
        </p:nvSpPr>
        <p:spPr>
          <a:xfrm>
            <a:off x="4343400" y="3236976"/>
            <a:ext cx="4389120" cy="475488"/>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The surrounding circumstances — what makes a statement fully understandable in its setting.</a:t>
            </a:r>
            <a:endParaRPr lang="en-US" sz="1150" dirty="0"/>
          </a:p>
        </p:txBody>
      </p:sp>
      <p:sp>
        <p:nvSpPr>
          <p:cNvPr id="16" name="Shape 14"/>
          <p:cNvSpPr/>
          <p:nvPr/>
        </p:nvSpPr>
        <p:spPr>
          <a:xfrm>
            <a:off x="4206240" y="3877056"/>
            <a:ext cx="4663440" cy="868680"/>
          </a:xfrm>
          <a:prstGeom prst="rect">
            <a:avLst/>
          </a:prstGeom>
          <a:solidFill>
            <a:srgbClr val="E8A838"/>
          </a:solidFill>
          <a:ln w="12700">
            <a:solidFill>
              <a:srgbClr val="E8A838"/>
            </a:solidFill>
            <a:prstDash val="solid"/>
          </a:ln>
        </p:spPr>
        <p:txBody>
          <a:bodyPr/>
          <a:lstStyle/>
          <a:p>
            <a:endParaRPr lang="en-US"/>
          </a:p>
        </p:txBody>
      </p:sp>
      <p:sp>
        <p:nvSpPr>
          <p:cNvPr id="17" name="Text 15"/>
          <p:cNvSpPr txBox="1"/>
          <p:nvPr/>
        </p:nvSpPr>
        <p:spPr>
          <a:xfrm>
            <a:off x="4343400" y="3941064"/>
            <a:ext cx="438912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Pragmatics</a:t>
            </a:r>
            <a:endParaRPr lang="en-US" sz="1500" dirty="0"/>
          </a:p>
        </p:txBody>
      </p:sp>
      <p:sp>
        <p:nvSpPr>
          <p:cNvPr id="18" name="Text 16"/>
          <p:cNvSpPr txBox="1"/>
          <p:nvPr/>
        </p:nvSpPr>
        <p:spPr>
          <a:xfrm>
            <a:off x="4343400" y="4224528"/>
            <a:ext cx="4389120" cy="475488"/>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How context shapes meaning in use — what the speaker actually intends vs. what they literally said.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F5FB"/>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rtlCol="0" anchor="ctr"/>
          <a:lstStyle/>
          <a:p>
            <a:pPr marL="0" indent="0">
              <a:buNone/>
            </a:pPr>
            <a:r>
              <a:rPr lang="en-US" sz="2600" b="1" dirty="0">
                <a:solidFill>
                  <a:srgbClr val="0D1B2A"/>
                </a:solidFill>
                <a:latin typeface="Cambria" pitchFamily="34" charset="0"/>
                <a:ea typeface="Cambria" pitchFamily="34" charset="-122"/>
                <a:cs typeface="Cambria" pitchFamily="34" charset="-120"/>
              </a:rPr>
              <a:t>Schema: Framework for Knowledge</a:t>
            </a:r>
            <a:endParaRPr lang="en-US" sz="2600" dirty="0"/>
          </a:p>
        </p:txBody>
      </p:sp>
      <p:sp>
        <p:nvSpPr>
          <p:cNvPr id="3" name="Text 1"/>
          <p:cNvSpPr txBox="1"/>
          <p:nvPr/>
        </p:nvSpPr>
        <p:spPr>
          <a:xfrm>
            <a:off x="457200" y="685800"/>
            <a:ext cx="8229600" cy="347472"/>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A schema is a cognitive structure — a framework for organizing what we know</a:t>
            </a:r>
            <a:endParaRPr lang="en-US" sz="1400" dirty="0"/>
          </a:p>
        </p:txBody>
      </p:sp>
      <p:sp>
        <p:nvSpPr>
          <p:cNvPr id="4" name="Shape 2"/>
          <p:cNvSpPr/>
          <p:nvPr/>
        </p:nvSpPr>
        <p:spPr>
          <a:xfrm>
            <a:off x="365760" y="1143000"/>
            <a:ext cx="3931920" cy="1554480"/>
          </a:xfrm>
          <a:prstGeom prst="rect">
            <a:avLst/>
          </a:prstGeom>
          <a:solidFill>
            <a:srgbClr val="DAEEF9"/>
          </a:solidFill>
          <a:ln w="12700">
            <a:solidFill>
              <a:srgbClr val="DAEEF9"/>
            </a:solidFill>
            <a:prstDash val="solid"/>
          </a:ln>
        </p:spPr>
        <p:txBody>
          <a:bodyPr/>
          <a:lstStyle/>
          <a:p>
            <a:endParaRPr lang="en-US"/>
          </a:p>
        </p:txBody>
      </p:sp>
      <p:sp>
        <p:nvSpPr>
          <p:cNvPr id="5" name="Text 3"/>
          <p:cNvSpPr txBox="1"/>
          <p:nvPr/>
        </p:nvSpPr>
        <p:spPr>
          <a:xfrm>
            <a:off x="548640" y="1207008"/>
            <a:ext cx="3657600" cy="347472"/>
          </a:xfrm>
          <a:prstGeom prst="rect">
            <a:avLst/>
          </a:prstGeom>
          <a:noFill/>
          <a:ln/>
        </p:spPr>
        <p:txBody>
          <a:bodyPr wrap="square" rtlCol="0" anchor="ctr"/>
          <a:lstStyle/>
          <a:p>
            <a:pPr marL="0" indent="0">
              <a:buNone/>
            </a:pPr>
            <a:r>
              <a:rPr lang="en-US" sz="1600" b="1" dirty="0">
                <a:solidFill>
                  <a:srgbClr val="065A82"/>
                </a:solidFill>
                <a:latin typeface="Cambria" pitchFamily="34" charset="0"/>
                <a:ea typeface="Cambria" pitchFamily="34" charset="-122"/>
                <a:cs typeface="Cambria" pitchFamily="34" charset="-120"/>
              </a:rPr>
              <a:t>Cognitive Schema</a:t>
            </a:r>
            <a:endParaRPr lang="en-US" sz="1600" dirty="0"/>
          </a:p>
        </p:txBody>
      </p:sp>
      <p:sp>
        <p:nvSpPr>
          <p:cNvPr id="6" name="Text 4"/>
          <p:cNvSpPr txBox="1"/>
          <p:nvPr/>
        </p:nvSpPr>
        <p:spPr>
          <a:xfrm>
            <a:off x="548640" y="1554480"/>
            <a:ext cx="3657600" cy="1005840"/>
          </a:xfrm>
          <a:prstGeom prst="rect">
            <a:avLst/>
          </a:prstGeom>
          <a:noFill/>
          <a:ln/>
        </p:spPr>
        <p:txBody>
          <a:bodyPr wrap="square" rtlCol="0" anchor="ctr"/>
          <a:lstStyle/>
          <a:p>
            <a:pPr marL="0" indent="0">
              <a:lnSpc>
                <a:spcPct val="130000"/>
              </a:lnSpc>
              <a:buNone/>
            </a:pPr>
            <a:r>
              <a:rPr lang="en-US" sz="1250" dirty="0">
                <a:solidFill>
                  <a:srgbClr val="1C3553"/>
                </a:solidFill>
                <a:latin typeface="Calibri" pitchFamily="34" charset="0"/>
                <a:ea typeface="Calibri" pitchFamily="34" charset="-122"/>
                <a:cs typeface="Calibri" pitchFamily="34" charset="-120"/>
              </a:rPr>
              <a:t>In cognitive psychology, a schema is the mental framework we use to understand new information — connecting new data to existing categories, relationships, and expectations.</a:t>
            </a:r>
            <a:endParaRPr lang="en-US" sz="1250" dirty="0"/>
          </a:p>
        </p:txBody>
      </p:sp>
      <p:sp>
        <p:nvSpPr>
          <p:cNvPr id="7" name="Shape 5"/>
          <p:cNvSpPr/>
          <p:nvPr/>
        </p:nvSpPr>
        <p:spPr>
          <a:xfrm>
            <a:off x="365760" y="2834640"/>
            <a:ext cx="3931920" cy="1920240"/>
          </a:xfrm>
          <a:prstGeom prst="rect">
            <a:avLst/>
          </a:prstGeom>
          <a:solidFill>
            <a:srgbClr val="DAEEF9"/>
          </a:solidFill>
          <a:ln w="12700">
            <a:solidFill>
              <a:srgbClr val="DAEEF9"/>
            </a:solidFill>
            <a:prstDash val="solid"/>
          </a:ln>
        </p:spPr>
        <p:txBody>
          <a:bodyPr/>
          <a:lstStyle/>
          <a:p>
            <a:endParaRPr lang="en-US"/>
          </a:p>
        </p:txBody>
      </p:sp>
      <p:sp>
        <p:nvSpPr>
          <p:cNvPr id="8" name="Text 6"/>
          <p:cNvSpPr txBox="1"/>
          <p:nvPr/>
        </p:nvSpPr>
        <p:spPr>
          <a:xfrm>
            <a:off x="548640" y="2907792"/>
            <a:ext cx="3657600" cy="347472"/>
          </a:xfrm>
          <a:prstGeom prst="rect">
            <a:avLst/>
          </a:prstGeom>
          <a:noFill/>
          <a:ln/>
        </p:spPr>
        <p:txBody>
          <a:bodyPr wrap="square" rtlCol="0" anchor="ctr"/>
          <a:lstStyle/>
          <a:p>
            <a:pPr marL="0" indent="0">
              <a:buNone/>
            </a:pPr>
            <a:r>
              <a:rPr lang="en-US" sz="1600" b="1" dirty="0">
                <a:solidFill>
                  <a:srgbClr val="065A82"/>
                </a:solidFill>
                <a:latin typeface="Cambria" pitchFamily="34" charset="0"/>
                <a:ea typeface="Cambria" pitchFamily="34" charset="-122"/>
                <a:cs typeface="Cambria" pitchFamily="34" charset="-120"/>
              </a:rPr>
              <a:t>Schema.org</a:t>
            </a:r>
            <a:endParaRPr lang="en-US" sz="1600" dirty="0"/>
          </a:p>
        </p:txBody>
      </p:sp>
      <p:sp>
        <p:nvSpPr>
          <p:cNvPr id="9" name="Text 7"/>
          <p:cNvSpPr txBox="1"/>
          <p:nvPr/>
        </p:nvSpPr>
        <p:spPr>
          <a:xfrm>
            <a:off x="548640" y="3246120"/>
            <a:ext cx="3657600" cy="1417320"/>
          </a:xfrm>
          <a:prstGeom prst="rect">
            <a:avLst/>
          </a:prstGeom>
          <a:noFill/>
          <a:ln/>
        </p:spPr>
        <p:txBody>
          <a:bodyPr wrap="square" rtlCol="0" anchor="ctr"/>
          <a:lstStyle/>
          <a:p>
            <a:pPr marL="0" indent="0">
              <a:lnSpc>
                <a:spcPct val="130000"/>
              </a:lnSpc>
              <a:buNone/>
            </a:pPr>
            <a:r>
              <a:rPr lang="en-US" sz="1200" dirty="0">
                <a:solidFill>
                  <a:srgbClr val="1C3553"/>
                </a:solidFill>
                <a:latin typeface="Calibri" pitchFamily="34" charset="0"/>
                <a:ea typeface="Calibri" pitchFamily="34" charset="-122"/>
                <a:cs typeface="Calibri" pitchFamily="34" charset="-120"/>
              </a:rPr>
              <a:t>The web equivalent: a shared vocabulary for marking up web content so that Google, Microsoft, Yahoo, and Yandex can understand what it means — not just display it.</a:t>
            </a:r>
            <a:endParaRPr lang="en-US" sz="1200" dirty="0"/>
          </a:p>
          <a:p>
            <a:pPr marL="0" indent="0">
              <a:lnSpc>
                <a:spcPct val="130000"/>
              </a:lnSpc>
              <a:buNone/>
            </a:pPr>
            <a:endParaRPr lang="en-US" sz="1200" dirty="0"/>
          </a:p>
          <a:p>
            <a:pPr marL="0" indent="0">
              <a:lnSpc>
                <a:spcPct val="130000"/>
              </a:lnSpc>
              <a:buNone/>
            </a:pPr>
            <a:r>
              <a:rPr lang="en-US" sz="1200" dirty="0">
                <a:solidFill>
                  <a:srgbClr val="1C3553"/>
                </a:solidFill>
                <a:latin typeface="Calibri" pitchFamily="34" charset="0"/>
                <a:ea typeface="Calibri" pitchFamily="34" charset="-122"/>
                <a:cs typeface="Calibri" pitchFamily="34" charset="-120"/>
              </a:rPr>
              <a:t>Over 10 million websites use Schema.org markup. Supports RDFa, Microdata, JSON-LD.</a:t>
            </a:r>
            <a:endParaRPr lang="en-US" sz="1200" dirty="0"/>
          </a:p>
        </p:txBody>
      </p:sp>
      <p:sp>
        <p:nvSpPr>
          <p:cNvPr id="10" name="Shape 8"/>
          <p:cNvSpPr/>
          <p:nvPr/>
        </p:nvSpPr>
        <p:spPr>
          <a:xfrm>
            <a:off x="4572000" y="1143000"/>
            <a:ext cx="4206240" cy="3657600"/>
          </a:xfrm>
          <a:prstGeom prst="rect">
            <a:avLst/>
          </a:prstGeom>
          <a:solidFill>
            <a:srgbClr val="0D1B2A"/>
          </a:solidFill>
          <a:ln w="12700">
            <a:solidFill>
              <a:srgbClr val="0D1B2A"/>
            </a:solidFill>
            <a:prstDash val="solid"/>
          </a:ln>
        </p:spPr>
        <p:txBody>
          <a:bodyPr/>
          <a:lstStyle/>
          <a:p>
            <a:endParaRPr lang="en-US"/>
          </a:p>
        </p:txBody>
      </p:sp>
      <p:sp>
        <p:nvSpPr>
          <p:cNvPr id="11" name="Text 9"/>
          <p:cNvSpPr txBox="1"/>
          <p:nvPr/>
        </p:nvSpPr>
        <p:spPr>
          <a:xfrm>
            <a:off x="4754880" y="1234440"/>
            <a:ext cx="3840480" cy="320040"/>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Without schema markup:</a:t>
            </a:r>
            <a:endParaRPr lang="en-US" sz="1200" dirty="0"/>
          </a:p>
        </p:txBody>
      </p:sp>
      <p:sp>
        <p:nvSpPr>
          <p:cNvPr id="12" name="Text 10"/>
          <p:cNvSpPr txBox="1"/>
          <p:nvPr/>
        </p:nvSpPr>
        <p:spPr>
          <a:xfrm>
            <a:off x="4754880" y="1554480"/>
            <a:ext cx="3840480" cy="347472"/>
          </a:xfrm>
          <a:prstGeom prst="rect">
            <a:avLst/>
          </a:prstGeom>
          <a:noFill/>
          <a:ln/>
        </p:spPr>
        <p:txBody>
          <a:bodyPr wrap="square" rtlCol="0" anchor="ctr"/>
          <a:lstStyle/>
          <a:p>
            <a:pPr marL="0" indent="0">
              <a:buNone/>
            </a:pPr>
            <a:r>
              <a:rPr lang="en-US" sz="1400" dirty="0">
                <a:solidFill>
                  <a:srgbClr val="FFFFFF"/>
                </a:solidFill>
                <a:latin typeface="Courier New" pitchFamily="34" charset="0"/>
                <a:ea typeface="Courier New" pitchFamily="34" charset="-122"/>
                <a:cs typeface="Courier New" pitchFamily="34" charset="-120"/>
              </a:rPr>
              <a:t>&lt;h1&gt;Avatar&lt;/h1&gt;</a:t>
            </a:r>
            <a:endParaRPr lang="en-US" sz="1400" dirty="0"/>
          </a:p>
        </p:txBody>
      </p:sp>
      <p:sp>
        <p:nvSpPr>
          <p:cNvPr id="13" name="Text 11"/>
          <p:cNvSpPr txBox="1"/>
          <p:nvPr/>
        </p:nvSpPr>
        <p:spPr>
          <a:xfrm>
            <a:off x="4754880" y="1901952"/>
            <a:ext cx="3840480" cy="713232"/>
          </a:xfrm>
          <a:prstGeom prst="rect">
            <a:avLst/>
          </a:prstGeom>
          <a:noFill/>
          <a:ln/>
        </p:spPr>
        <p:txBody>
          <a:bodyPr wrap="square" rtlCol="0" anchor="ctr"/>
          <a:lstStyle/>
          <a:p>
            <a:pPr marL="0" indent="0">
              <a:lnSpc>
                <a:spcPct val="130000"/>
              </a:lnSpc>
              <a:buNone/>
            </a:pPr>
            <a:r>
              <a:rPr lang="en-US" sz="1150" dirty="0">
                <a:solidFill>
                  <a:schemeClr val="bg1"/>
                </a:solidFill>
                <a:latin typeface="Calibri" pitchFamily="34" charset="0"/>
                <a:ea typeface="Calibri" pitchFamily="34" charset="-122"/>
                <a:cs typeface="Calibri" pitchFamily="34" charset="-120"/>
              </a:rPr>
              <a:t>Browser knows: display large text</a:t>
            </a:r>
            <a:endParaRPr lang="en-US" sz="1150" dirty="0">
              <a:solidFill>
                <a:schemeClr val="bg1"/>
              </a:solidFill>
            </a:endParaRPr>
          </a:p>
          <a:p>
            <a:pPr marL="0" indent="0">
              <a:lnSpc>
                <a:spcPct val="130000"/>
              </a:lnSpc>
              <a:buNone/>
            </a:pPr>
            <a:r>
              <a:rPr lang="en-US" sz="1150" dirty="0">
                <a:solidFill>
                  <a:schemeClr val="bg1"/>
                </a:solidFill>
                <a:latin typeface="Calibri" pitchFamily="34" charset="0"/>
                <a:ea typeface="Calibri" pitchFamily="34" charset="-122"/>
                <a:cs typeface="Calibri" pitchFamily="34" charset="-120"/>
              </a:rPr>
              <a:t>Browser doesn't know: is this a movie? a profile picture? a spiritual being?</a:t>
            </a:r>
            <a:endParaRPr lang="en-US" sz="1150" dirty="0">
              <a:solidFill>
                <a:schemeClr val="bg1"/>
              </a:solidFill>
            </a:endParaRPr>
          </a:p>
        </p:txBody>
      </p:sp>
      <p:sp>
        <p:nvSpPr>
          <p:cNvPr id="14" name="Text 12"/>
          <p:cNvSpPr txBox="1"/>
          <p:nvPr/>
        </p:nvSpPr>
        <p:spPr>
          <a:xfrm>
            <a:off x="4754880" y="2697480"/>
            <a:ext cx="3840480" cy="320040"/>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With schema markup:</a:t>
            </a:r>
            <a:endParaRPr lang="en-US" sz="1200" dirty="0"/>
          </a:p>
        </p:txBody>
      </p:sp>
      <p:sp>
        <p:nvSpPr>
          <p:cNvPr id="15" name="Text 13"/>
          <p:cNvSpPr txBox="1"/>
          <p:nvPr/>
        </p:nvSpPr>
        <p:spPr>
          <a:xfrm>
            <a:off x="4754880" y="3017520"/>
            <a:ext cx="3840480" cy="822960"/>
          </a:xfrm>
          <a:prstGeom prst="rect">
            <a:avLst/>
          </a:prstGeom>
          <a:noFill/>
          <a:ln/>
        </p:spPr>
        <p:txBody>
          <a:bodyPr wrap="square" rtlCol="0" anchor="ctr"/>
          <a:lstStyle/>
          <a:p>
            <a:pPr marL="0" indent="0">
              <a:lnSpc>
                <a:spcPct val="130000"/>
              </a:lnSpc>
              <a:buNone/>
            </a:pPr>
            <a:r>
              <a:rPr lang="en-US" sz="1250" dirty="0">
                <a:solidFill>
                  <a:srgbClr val="E8A838"/>
                </a:solidFill>
                <a:latin typeface="Courier New" pitchFamily="34" charset="0"/>
                <a:ea typeface="Courier New" pitchFamily="34" charset="-122"/>
                <a:cs typeface="Courier New" pitchFamily="34" charset="-120"/>
              </a:rPr>
              <a:t>&lt;h1 itemscope itemtype=</a:t>
            </a:r>
            <a:endParaRPr lang="en-US" sz="1250" dirty="0"/>
          </a:p>
          <a:p>
            <a:pPr marL="0" indent="0">
              <a:lnSpc>
                <a:spcPct val="130000"/>
              </a:lnSpc>
              <a:buNone/>
            </a:pPr>
            <a:r>
              <a:rPr lang="en-US" sz="1250" dirty="0">
                <a:solidFill>
                  <a:srgbClr val="E8A838"/>
                </a:solidFill>
                <a:latin typeface="Courier New" pitchFamily="34" charset="0"/>
                <a:ea typeface="Courier New" pitchFamily="34" charset="-122"/>
                <a:cs typeface="Courier New" pitchFamily="34" charset="-120"/>
              </a:rPr>
              <a:t>  "schema.org/Movie"&gt;</a:t>
            </a:r>
            <a:endParaRPr lang="en-US" sz="1250" dirty="0"/>
          </a:p>
          <a:p>
            <a:pPr marL="0" indent="0">
              <a:lnSpc>
                <a:spcPct val="130000"/>
              </a:lnSpc>
              <a:buNone/>
            </a:pPr>
            <a:r>
              <a:rPr lang="en-US" sz="1250" dirty="0">
                <a:solidFill>
                  <a:srgbClr val="E8A838"/>
                </a:solidFill>
                <a:latin typeface="Courier New" pitchFamily="34" charset="0"/>
                <a:ea typeface="Courier New" pitchFamily="34" charset="-122"/>
                <a:cs typeface="Courier New" pitchFamily="34" charset="-120"/>
              </a:rPr>
              <a:t>  Avatar</a:t>
            </a:r>
            <a:endParaRPr lang="en-US" sz="1250" dirty="0"/>
          </a:p>
          <a:p>
            <a:pPr marL="0" indent="0">
              <a:lnSpc>
                <a:spcPct val="130000"/>
              </a:lnSpc>
              <a:buNone/>
            </a:pPr>
            <a:r>
              <a:rPr lang="en-US" sz="1250" dirty="0">
                <a:solidFill>
                  <a:srgbClr val="E8A838"/>
                </a:solidFill>
                <a:latin typeface="Courier New" pitchFamily="34" charset="0"/>
                <a:ea typeface="Courier New" pitchFamily="34" charset="-122"/>
                <a:cs typeface="Courier New" pitchFamily="34" charset="-120"/>
              </a:rPr>
              <a:t>&lt;/h1&gt;</a:t>
            </a:r>
            <a:endParaRPr lang="en-US" sz="1250" dirty="0"/>
          </a:p>
        </p:txBody>
      </p:sp>
      <p:sp>
        <p:nvSpPr>
          <p:cNvPr id="16" name="Text 14"/>
          <p:cNvSpPr txBox="1"/>
          <p:nvPr/>
        </p:nvSpPr>
        <p:spPr>
          <a:xfrm>
            <a:off x="4754880" y="3840480"/>
            <a:ext cx="3840480" cy="566928"/>
          </a:xfrm>
          <a:prstGeom prst="rect">
            <a:avLst/>
          </a:prstGeom>
          <a:noFill/>
          <a:ln/>
        </p:spPr>
        <p:txBody>
          <a:bodyPr wrap="square" rtlCol="0" anchor="ctr"/>
          <a:lstStyle/>
          <a:p>
            <a:pPr marL="0" indent="0">
              <a:lnSpc>
                <a:spcPct val="130000"/>
              </a:lnSpc>
              <a:buNone/>
            </a:pPr>
            <a:r>
              <a:rPr lang="en-US" sz="1150" dirty="0">
                <a:solidFill>
                  <a:schemeClr val="bg1"/>
                </a:solidFill>
                <a:latin typeface="Calibri" pitchFamily="34" charset="0"/>
                <a:ea typeface="Calibri" pitchFamily="34" charset="-122"/>
                <a:cs typeface="Calibri" pitchFamily="34" charset="-120"/>
              </a:rPr>
              <a:t>Now a machine knows it's a Movie — and can reason about it as one.</a:t>
            </a:r>
            <a:endParaRPr lang="en-US" sz="115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5FB"/>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8229600" cy="457200"/>
          </a:xfrm>
          <a:prstGeom prst="rect">
            <a:avLst/>
          </a:prstGeom>
          <a:noFill/>
          <a:ln/>
        </p:spPr>
        <p:txBody>
          <a:bodyPr wrap="square" rtlCol="0" anchor="ctr"/>
          <a:lstStyle/>
          <a:p>
            <a:pPr marL="0" indent="0">
              <a:buNone/>
            </a:pPr>
            <a:r>
              <a:rPr lang="en-US" sz="2600" b="1" dirty="0">
                <a:solidFill>
                  <a:srgbClr val="0D1B2A"/>
                </a:solidFill>
                <a:latin typeface="Cambria" pitchFamily="34" charset="0"/>
                <a:ea typeface="Cambria" pitchFamily="34" charset="-122"/>
                <a:cs typeface="Cambria" pitchFamily="34" charset="-120"/>
              </a:rPr>
              <a:t>RDF: The Language of Relationships</a:t>
            </a:r>
            <a:endParaRPr lang="en-US" sz="2600" dirty="0"/>
          </a:p>
        </p:txBody>
      </p:sp>
      <p:sp>
        <p:nvSpPr>
          <p:cNvPr id="3" name="Text 1"/>
          <p:cNvSpPr txBox="1"/>
          <p:nvPr/>
        </p:nvSpPr>
        <p:spPr>
          <a:xfrm>
            <a:off x="457200" y="658368"/>
            <a:ext cx="8229600" cy="347472"/>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Resource Description Framework — the foundation of the semantic web</a:t>
            </a:r>
            <a:endParaRPr lang="en-US" sz="1400" dirty="0"/>
          </a:p>
        </p:txBody>
      </p:sp>
      <p:sp>
        <p:nvSpPr>
          <p:cNvPr id="4" name="Text 2"/>
          <p:cNvSpPr txBox="1"/>
          <p:nvPr/>
        </p:nvSpPr>
        <p:spPr>
          <a:xfrm>
            <a:off x="457200" y="1078992"/>
            <a:ext cx="8229600" cy="365760"/>
          </a:xfrm>
          <a:prstGeom prst="rect">
            <a:avLst/>
          </a:prstGeom>
          <a:noFill/>
          <a:ln/>
        </p:spPr>
        <p:txBody>
          <a:bodyPr wrap="square"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Every statement is a triple: Subject → Predicate → Object</a:t>
            </a:r>
            <a:endParaRPr lang="en-US" sz="1500" dirty="0"/>
          </a:p>
        </p:txBody>
      </p:sp>
      <p:sp>
        <p:nvSpPr>
          <p:cNvPr id="5" name="Shape 3"/>
          <p:cNvSpPr/>
          <p:nvPr/>
        </p:nvSpPr>
        <p:spPr>
          <a:xfrm>
            <a:off x="365760" y="1600200"/>
            <a:ext cx="1920240" cy="475488"/>
          </a:xfrm>
          <a:prstGeom prst="roundRect">
            <a:avLst>
              <a:gd name="adj" fmla="val 19231"/>
            </a:avLst>
          </a:prstGeom>
          <a:solidFill>
            <a:srgbClr val="065A82"/>
          </a:solidFill>
          <a:ln w="12700">
            <a:solidFill>
              <a:srgbClr val="065A82"/>
            </a:solidFill>
            <a:prstDash val="solid"/>
          </a:ln>
        </p:spPr>
        <p:txBody>
          <a:bodyPr/>
          <a:lstStyle/>
          <a:p>
            <a:endParaRPr lang="en-US"/>
          </a:p>
        </p:txBody>
      </p:sp>
      <p:sp>
        <p:nvSpPr>
          <p:cNvPr id="6" name="Text 4"/>
          <p:cNvSpPr txBox="1"/>
          <p:nvPr/>
        </p:nvSpPr>
        <p:spPr>
          <a:xfrm>
            <a:off x="365760" y="169164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Bob</a:t>
            </a:r>
            <a:endParaRPr lang="en-US" sz="1400" dirty="0"/>
          </a:p>
        </p:txBody>
      </p:sp>
      <p:sp>
        <p:nvSpPr>
          <p:cNvPr id="7" name="Shape 5"/>
          <p:cNvSpPr/>
          <p:nvPr/>
        </p:nvSpPr>
        <p:spPr>
          <a:xfrm>
            <a:off x="2331720" y="1783080"/>
            <a:ext cx="2423160" cy="109728"/>
          </a:xfrm>
          <a:prstGeom prst="rect">
            <a:avLst/>
          </a:prstGeom>
          <a:solidFill>
            <a:srgbClr val="02C39A"/>
          </a:solidFill>
          <a:ln w="12700">
            <a:solidFill>
              <a:srgbClr val="02C39A"/>
            </a:solidFill>
            <a:prstDash val="solid"/>
          </a:ln>
        </p:spPr>
        <p:txBody>
          <a:bodyPr/>
          <a:lstStyle/>
          <a:p>
            <a:endParaRPr lang="en-US"/>
          </a:p>
        </p:txBody>
      </p:sp>
      <p:sp>
        <p:nvSpPr>
          <p:cNvPr id="8" name="Text 6"/>
          <p:cNvSpPr txBox="1"/>
          <p:nvPr/>
        </p:nvSpPr>
        <p:spPr>
          <a:xfrm>
            <a:off x="2331720" y="1536192"/>
            <a:ext cx="2423160" cy="274320"/>
          </a:xfrm>
          <a:prstGeom prst="rect">
            <a:avLst/>
          </a:prstGeom>
          <a:noFill/>
          <a:ln/>
        </p:spPr>
        <p:txBody>
          <a:bodyPr wrap="square" rtlCol="0" anchor="ctr"/>
          <a:lstStyle/>
          <a:p>
            <a:pPr marL="0" indent="0" algn="ctr">
              <a:buNone/>
            </a:pPr>
            <a:r>
              <a:rPr lang="en-US" sz="1100" i="1" dirty="0">
                <a:solidFill>
                  <a:srgbClr val="1C7293"/>
                </a:solidFill>
                <a:latin typeface="Calibri" pitchFamily="34" charset="0"/>
                <a:ea typeface="Calibri" pitchFamily="34" charset="-122"/>
                <a:cs typeface="Calibri" pitchFamily="34" charset="-120"/>
              </a:rPr>
              <a:t>is interested in</a:t>
            </a:r>
            <a:endParaRPr lang="en-US" sz="1100" dirty="0"/>
          </a:p>
        </p:txBody>
      </p:sp>
      <p:sp>
        <p:nvSpPr>
          <p:cNvPr id="9" name="Shape 7"/>
          <p:cNvSpPr/>
          <p:nvPr/>
        </p:nvSpPr>
        <p:spPr>
          <a:xfrm rot="5400000">
            <a:off x="4709160" y="1709928"/>
            <a:ext cx="201168" cy="256032"/>
          </a:xfrm>
          <a:prstGeom prst="triangle">
            <a:avLst/>
          </a:prstGeom>
          <a:solidFill>
            <a:srgbClr val="02C39A"/>
          </a:solidFill>
          <a:ln w="12700">
            <a:solidFill>
              <a:srgbClr val="02C39A"/>
            </a:solidFill>
            <a:prstDash val="solid"/>
          </a:ln>
        </p:spPr>
        <p:txBody>
          <a:bodyPr/>
          <a:lstStyle/>
          <a:p>
            <a:endParaRPr lang="en-US"/>
          </a:p>
        </p:txBody>
      </p:sp>
      <p:sp>
        <p:nvSpPr>
          <p:cNvPr id="10" name="Shape 8"/>
          <p:cNvSpPr/>
          <p:nvPr/>
        </p:nvSpPr>
        <p:spPr>
          <a:xfrm>
            <a:off x="4983480" y="1600200"/>
            <a:ext cx="3749040" cy="475488"/>
          </a:xfrm>
          <a:prstGeom prst="roundRect">
            <a:avLst>
              <a:gd name="adj" fmla="val 19231"/>
            </a:avLst>
          </a:prstGeom>
          <a:solidFill>
            <a:srgbClr val="1C7293"/>
          </a:solidFill>
          <a:ln w="12700">
            <a:solidFill>
              <a:srgbClr val="1C7293"/>
            </a:solidFill>
            <a:prstDash val="solid"/>
          </a:ln>
        </p:spPr>
        <p:txBody>
          <a:bodyPr/>
          <a:lstStyle/>
          <a:p>
            <a:endParaRPr lang="en-US"/>
          </a:p>
        </p:txBody>
      </p:sp>
      <p:sp>
        <p:nvSpPr>
          <p:cNvPr id="11" name="Text 9"/>
          <p:cNvSpPr txBox="1"/>
          <p:nvPr/>
        </p:nvSpPr>
        <p:spPr>
          <a:xfrm>
            <a:off x="4983480" y="1691640"/>
            <a:ext cx="3749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Mona Lisa</a:t>
            </a:r>
            <a:endParaRPr lang="en-US" sz="1400" dirty="0"/>
          </a:p>
        </p:txBody>
      </p:sp>
      <p:sp>
        <p:nvSpPr>
          <p:cNvPr id="12" name="Shape 10"/>
          <p:cNvSpPr/>
          <p:nvPr/>
        </p:nvSpPr>
        <p:spPr>
          <a:xfrm>
            <a:off x="365760" y="2560320"/>
            <a:ext cx="1920240" cy="475488"/>
          </a:xfrm>
          <a:prstGeom prst="roundRect">
            <a:avLst>
              <a:gd name="adj" fmla="val 19231"/>
            </a:avLst>
          </a:prstGeom>
          <a:solidFill>
            <a:srgbClr val="065A82"/>
          </a:solidFill>
          <a:ln w="12700">
            <a:solidFill>
              <a:srgbClr val="065A82"/>
            </a:solidFill>
            <a:prstDash val="solid"/>
          </a:ln>
        </p:spPr>
        <p:txBody>
          <a:bodyPr/>
          <a:lstStyle/>
          <a:p>
            <a:endParaRPr lang="en-US"/>
          </a:p>
        </p:txBody>
      </p:sp>
      <p:sp>
        <p:nvSpPr>
          <p:cNvPr id="13" name="Text 11"/>
          <p:cNvSpPr txBox="1"/>
          <p:nvPr/>
        </p:nvSpPr>
        <p:spPr>
          <a:xfrm>
            <a:off x="365760" y="265176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Bob</a:t>
            </a:r>
            <a:endParaRPr lang="en-US" sz="1400" dirty="0"/>
          </a:p>
        </p:txBody>
      </p:sp>
      <p:sp>
        <p:nvSpPr>
          <p:cNvPr id="14" name="Shape 12"/>
          <p:cNvSpPr/>
          <p:nvPr/>
        </p:nvSpPr>
        <p:spPr>
          <a:xfrm>
            <a:off x="2331720" y="2743200"/>
            <a:ext cx="2423160" cy="109728"/>
          </a:xfrm>
          <a:prstGeom prst="rect">
            <a:avLst/>
          </a:prstGeom>
          <a:solidFill>
            <a:srgbClr val="02C39A"/>
          </a:solidFill>
          <a:ln w="12700">
            <a:solidFill>
              <a:srgbClr val="02C39A"/>
            </a:solidFill>
            <a:prstDash val="solid"/>
          </a:ln>
        </p:spPr>
        <p:txBody>
          <a:bodyPr/>
          <a:lstStyle/>
          <a:p>
            <a:endParaRPr lang="en-US"/>
          </a:p>
        </p:txBody>
      </p:sp>
      <p:sp>
        <p:nvSpPr>
          <p:cNvPr id="15" name="Text 13"/>
          <p:cNvSpPr txBox="1"/>
          <p:nvPr/>
        </p:nvSpPr>
        <p:spPr>
          <a:xfrm>
            <a:off x="2331720" y="2496312"/>
            <a:ext cx="2423160" cy="274320"/>
          </a:xfrm>
          <a:prstGeom prst="rect">
            <a:avLst/>
          </a:prstGeom>
          <a:noFill/>
          <a:ln/>
        </p:spPr>
        <p:txBody>
          <a:bodyPr wrap="square" rtlCol="0" anchor="ctr"/>
          <a:lstStyle/>
          <a:p>
            <a:pPr marL="0" indent="0" algn="ctr">
              <a:buNone/>
            </a:pPr>
            <a:r>
              <a:rPr lang="en-US" sz="1100" i="1" dirty="0">
                <a:solidFill>
                  <a:srgbClr val="1C7293"/>
                </a:solidFill>
                <a:latin typeface="Calibri" pitchFamily="34" charset="0"/>
                <a:ea typeface="Calibri" pitchFamily="34" charset="-122"/>
                <a:cs typeface="Calibri" pitchFamily="34" charset="-120"/>
              </a:rPr>
              <a:t>is a</a:t>
            </a:r>
            <a:endParaRPr lang="en-US" sz="1100" dirty="0"/>
          </a:p>
        </p:txBody>
      </p:sp>
      <p:sp>
        <p:nvSpPr>
          <p:cNvPr id="16" name="Shape 14"/>
          <p:cNvSpPr/>
          <p:nvPr/>
        </p:nvSpPr>
        <p:spPr>
          <a:xfrm rot="5400000">
            <a:off x="4709160" y="2670048"/>
            <a:ext cx="201168" cy="256032"/>
          </a:xfrm>
          <a:prstGeom prst="triangle">
            <a:avLst/>
          </a:prstGeom>
          <a:solidFill>
            <a:srgbClr val="02C39A"/>
          </a:solidFill>
          <a:ln w="12700">
            <a:solidFill>
              <a:srgbClr val="02C39A"/>
            </a:solidFill>
            <a:prstDash val="solid"/>
          </a:ln>
        </p:spPr>
        <p:txBody>
          <a:bodyPr/>
          <a:lstStyle/>
          <a:p>
            <a:endParaRPr lang="en-US"/>
          </a:p>
        </p:txBody>
      </p:sp>
      <p:sp>
        <p:nvSpPr>
          <p:cNvPr id="17" name="Shape 15"/>
          <p:cNvSpPr/>
          <p:nvPr/>
        </p:nvSpPr>
        <p:spPr>
          <a:xfrm>
            <a:off x="4983480" y="2560320"/>
            <a:ext cx="3749040" cy="475488"/>
          </a:xfrm>
          <a:prstGeom prst="roundRect">
            <a:avLst>
              <a:gd name="adj" fmla="val 19231"/>
            </a:avLst>
          </a:prstGeom>
          <a:solidFill>
            <a:srgbClr val="1C7293"/>
          </a:solidFill>
          <a:ln w="12700">
            <a:solidFill>
              <a:srgbClr val="1C7293"/>
            </a:solidFill>
            <a:prstDash val="solid"/>
          </a:ln>
        </p:spPr>
        <p:txBody>
          <a:bodyPr/>
          <a:lstStyle/>
          <a:p>
            <a:endParaRPr lang="en-US"/>
          </a:p>
        </p:txBody>
      </p:sp>
      <p:sp>
        <p:nvSpPr>
          <p:cNvPr id="18" name="Text 16"/>
          <p:cNvSpPr txBox="1"/>
          <p:nvPr/>
        </p:nvSpPr>
        <p:spPr>
          <a:xfrm>
            <a:off x="4983480" y="2651760"/>
            <a:ext cx="3749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Person</a:t>
            </a:r>
            <a:endParaRPr lang="en-US" sz="1400" dirty="0"/>
          </a:p>
        </p:txBody>
      </p:sp>
      <p:sp>
        <p:nvSpPr>
          <p:cNvPr id="19" name="Shape 17"/>
          <p:cNvSpPr/>
          <p:nvPr/>
        </p:nvSpPr>
        <p:spPr>
          <a:xfrm>
            <a:off x="365760" y="3520440"/>
            <a:ext cx="1920240" cy="475488"/>
          </a:xfrm>
          <a:prstGeom prst="roundRect">
            <a:avLst>
              <a:gd name="adj" fmla="val 19231"/>
            </a:avLst>
          </a:prstGeom>
          <a:solidFill>
            <a:srgbClr val="065A82"/>
          </a:solidFill>
          <a:ln w="12700">
            <a:solidFill>
              <a:srgbClr val="065A82"/>
            </a:solidFill>
            <a:prstDash val="solid"/>
          </a:ln>
        </p:spPr>
        <p:txBody>
          <a:bodyPr/>
          <a:lstStyle/>
          <a:p>
            <a:endParaRPr lang="en-US"/>
          </a:p>
        </p:txBody>
      </p:sp>
      <p:sp>
        <p:nvSpPr>
          <p:cNvPr id="20" name="Text 18"/>
          <p:cNvSpPr txBox="1"/>
          <p:nvPr/>
        </p:nvSpPr>
        <p:spPr>
          <a:xfrm>
            <a:off x="365760" y="361188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Mona Lisa</a:t>
            </a:r>
            <a:endParaRPr lang="en-US" sz="1400" dirty="0"/>
          </a:p>
        </p:txBody>
      </p:sp>
      <p:sp>
        <p:nvSpPr>
          <p:cNvPr id="21" name="Shape 19"/>
          <p:cNvSpPr/>
          <p:nvPr/>
        </p:nvSpPr>
        <p:spPr>
          <a:xfrm>
            <a:off x="2331720" y="3703320"/>
            <a:ext cx="2423160" cy="109728"/>
          </a:xfrm>
          <a:prstGeom prst="rect">
            <a:avLst/>
          </a:prstGeom>
          <a:solidFill>
            <a:srgbClr val="02C39A"/>
          </a:solidFill>
          <a:ln w="12700">
            <a:solidFill>
              <a:srgbClr val="02C39A"/>
            </a:solidFill>
            <a:prstDash val="solid"/>
          </a:ln>
        </p:spPr>
        <p:txBody>
          <a:bodyPr/>
          <a:lstStyle/>
          <a:p>
            <a:endParaRPr lang="en-US"/>
          </a:p>
        </p:txBody>
      </p:sp>
      <p:sp>
        <p:nvSpPr>
          <p:cNvPr id="22" name="Text 20"/>
          <p:cNvSpPr txBox="1"/>
          <p:nvPr/>
        </p:nvSpPr>
        <p:spPr>
          <a:xfrm>
            <a:off x="2331720" y="3456432"/>
            <a:ext cx="2423160" cy="274320"/>
          </a:xfrm>
          <a:prstGeom prst="rect">
            <a:avLst/>
          </a:prstGeom>
          <a:noFill/>
          <a:ln/>
        </p:spPr>
        <p:txBody>
          <a:bodyPr wrap="square" rtlCol="0" anchor="ctr"/>
          <a:lstStyle/>
          <a:p>
            <a:pPr marL="0" indent="0" algn="ctr">
              <a:buNone/>
            </a:pPr>
            <a:r>
              <a:rPr lang="en-US" sz="1100" i="1" dirty="0">
                <a:solidFill>
                  <a:srgbClr val="1C7293"/>
                </a:solidFill>
                <a:latin typeface="Calibri" pitchFamily="34" charset="0"/>
                <a:ea typeface="Calibri" pitchFamily="34" charset="-122"/>
                <a:cs typeface="Calibri" pitchFamily="34" charset="-120"/>
              </a:rPr>
              <a:t>was created by</a:t>
            </a:r>
            <a:endParaRPr lang="en-US" sz="1100" dirty="0"/>
          </a:p>
        </p:txBody>
      </p:sp>
      <p:sp>
        <p:nvSpPr>
          <p:cNvPr id="23" name="Shape 21"/>
          <p:cNvSpPr/>
          <p:nvPr/>
        </p:nvSpPr>
        <p:spPr>
          <a:xfrm rot="5400000">
            <a:off x="4709160" y="3630168"/>
            <a:ext cx="201168" cy="256032"/>
          </a:xfrm>
          <a:prstGeom prst="triangle">
            <a:avLst/>
          </a:prstGeom>
          <a:solidFill>
            <a:srgbClr val="02C39A"/>
          </a:solidFill>
          <a:ln w="12700">
            <a:solidFill>
              <a:srgbClr val="02C39A"/>
            </a:solidFill>
            <a:prstDash val="solid"/>
          </a:ln>
        </p:spPr>
        <p:txBody>
          <a:bodyPr/>
          <a:lstStyle/>
          <a:p>
            <a:endParaRPr lang="en-US"/>
          </a:p>
        </p:txBody>
      </p:sp>
      <p:sp>
        <p:nvSpPr>
          <p:cNvPr id="24" name="Shape 22"/>
          <p:cNvSpPr/>
          <p:nvPr/>
        </p:nvSpPr>
        <p:spPr>
          <a:xfrm>
            <a:off x="4983480" y="3520440"/>
            <a:ext cx="3749040" cy="475488"/>
          </a:xfrm>
          <a:prstGeom prst="roundRect">
            <a:avLst>
              <a:gd name="adj" fmla="val 19231"/>
            </a:avLst>
          </a:prstGeom>
          <a:solidFill>
            <a:srgbClr val="1C7293"/>
          </a:solidFill>
          <a:ln w="12700">
            <a:solidFill>
              <a:srgbClr val="1C7293"/>
            </a:solidFill>
            <a:prstDash val="solid"/>
          </a:ln>
        </p:spPr>
        <p:txBody>
          <a:bodyPr/>
          <a:lstStyle/>
          <a:p>
            <a:endParaRPr lang="en-US"/>
          </a:p>
        </p:txBody>
      </p:sp>
      <p:sp>
        <p:nvSpPr>
          <p:cNvPr id="25" name="Text 23"/>
          <p:cNvSpPr txBox="1"/>
          <p:nvPr/>
        </p:nvSpPr>
        <p:spPr>
          <a:xfrm>
            <a:off x="4983480" y="3611880"/>
            <a:ext cx="3749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Leonardo da Vinci</a:t>
            </a:r>
            <a:endParaRPr lang="en-US" sz="1400" dirty="0"/>
          </a:p>
        </p:txBody>
      </p:sp>
      <p:sp>
        <p:nvSpPr>
          <p:cNvPr id="26" name="Shape 24"/>
          <p:cNvSpPr/>
          <p:nvPr/>
        </p:nvSpPr>
        <p:spPr>
          <a:xfrm>
            <a:off x="365760" y="4572000"/>
            <a:ext cx="1920240" cy="365760"/>
          </a:xfrm>
          <a:prstGeom prst="rect">
            <a:avLst/>
          </a:prstGeom>
          <a:solidFill>
            <a:srgbClr val="EEF7FD"/>
          </a:solidFill>
          <a:ln w="12700">
            <a:solidFill>
              <a:srgbClr val="EEF7FD"/>
            </a:solidFill>
            <a:prstDash val="solid"/>
          </a:ln>
        </p:spPr>
        <p:txBody>
          <a:bodyPr/>
          <a:lstStyle/>
          <a:p>
            <a:endParaRPr lang="en-US"/>
          </a:p>
        </p:txBody>
      </p:sp>
      <p:sp>
        <p:nvSpPr>
          <p:cNvPr id="27" name="Text 25"/>
          <p:cNvSpPr txBox="1"/>
          <p:nvPr/>
        </p:nvSpPr>
        <p:spPr>
          <a:xfrm>
            <a:off x="365760" y="4599432"/>
            <a:ext cx="1920240" cy="347472"/>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Subject</a:t>
            </a:r>
            <a:endParaRPr lang="en-US" sz="1100" dirty="0"/>
          </a:p>
          <a:p>
            <a:pPr marL="0" indent="0" algn="ctr">
              <a:buNone/>
            </a:pPr>
            <a:r>
              <a:rPr lang="en-US" sz="1100" b="1" dirty="0">
                <a:solidFill>
                  <a:srgbClr val="065A82"/>
                </a:solidFill>
                <a:latin typeface="Calibri" pitchFamily="34" charset="0"/>
                <a:ea typeface="Calibri" pitchFamily="34" charset="-122"/>
                <a:cs typeface="Calibri" pitchFamily="34" charset="-120"/>
              </a:rPr>
              <a:t>(URI)</a:t>
            </a:r>
            <a:endParaRPr lang="en-US" sz="1100" dirty="0"/>
          </a:p>
        </p:txBody>
      </p:sp>
      <p:sp>
        <p:nvSpPr>
          <p:cNvPr id="28" name="Shape 26"/>
          <p:cNvSpPr/>
          <p:nvPr/>
        </p:nvSpPr>
        <p:spPr>
          <a:xfrm>
            <a:off x="2331720" y="4572000"/>
            <a:ext cx="2423160" cy="365760"/>
          </a:xfrm>
          <a:prstGeom prst="rect">
            <a:avLst/>
          </a:prstGeom>
          <a:solidFill>
            <a:srgbClr val="EEF7FD"/>
          </a:solidFill>
          <a:ln w="12700">
            <a:solidFill>
              <a:srgbClr val="EEF7FD"/>
            </a:solidFill>
            <a:prstDash val="solid"/>
          </a:ln>
        </p:spPr>
        <p:txBody>
          <a:bodyPr/>
          <a:lstStyle/>
          <a:p>
            <a:endParaRPr lang="en-US"/>
          </a:p>
        </p:txBody>
      </p:sp>
      <p:sp>
        <p:nvSpPr>
          <p:cNvPr id="29" name="Text 27"/>
          <p:cNvSpPr txBox="1"/>
          <p:nvPr/>
        </p:nvSpPr>
        <p:spPr>
          <a:xfrm>
            <a:off x="2331720" y="4599432"/>
            <a:ext cx="2423160" cy="347472"/>
          </a:xfrm>
          <a:prstGeom prst="rect">
            <a:avLst/>
          </a:prstGeom>
          <a:noFill/>
          <a:ln/>
        </p:spPr>
        <p:txBody>
          <a:bodyPr wrap="square"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Predicate</a:t>
            </a:r>
            <a:endParaRPr lang="en-US" sz="1100" dirty="0"/>
          </a:p>
          <a:p>
            <a:pPr marL="0" indent="0" algn="ctr">
              <a:buNone/>
            </a:pPr>
            <a:r>
              <a:rPr lang="en-US" sz="1100" b="1" dirty="0">
                <a:solidFill>
                  <a:srgbClr val="1C7293"/>
                </a:solidFill>
                <a:latin typeface="Calibri" pitchFamily="34" charset="0"/>
                <a:ea typeface="Calibri" pitchFamily="34" charset="-122"/>
                <a:cs typeface="Calibri" pitchFamily="34" charset="-120"/>
              </a:rPr>
              <a:t>(URI / arc)</a:t>
            </a:r>
            <a:endParaRPr lang="en-US" sz="1100" dirty="0"/>
          </a:p>
        </p:txBody>
      </p:sp>
      <p:sp>
        <p:nvSpPr>
          <p:cNvPr id="30" name="Shape 28"/>
          <p:cNvSpPr/>
          <p:nvPr/>
        </p:nvSpPr>
        <p:spPr>
          <a:xfrm>
            <a:off x="4983480" y="4572000"/>
            <a:ext cx="3749040" cy="365760"/>
          </a:xfrm>
          <a:prstGeom prst="rect">
            <a:avLst/>
          </a:prstGeom>
          <a:solidFill>
            <a:srgbClr val="EEF7FD"/>
          </a:solidFill>
          <a:ln w="12700">
            <a:solidFill>
              <a:srgbClr val="EEF7FD"/>
            </a:solidFill>
            <a:prstDash val="solid"/>
          </a:ln>
        </p:spPr>
        <p:txBody>
          <a:bodyPr/>
          <a:lstStyle/>
          <a:p>
            <a:endParaRPr lang="en-US"/>
          </a:p>
        </p:txBody>
      </p:sp>
      <p:sp>
        <p:nvSpPr>
          <p:cNvPr id="31" name="Text 29"/>
          <p:cNvSpPr txBox="1"/>
          <p:nvPr/>
        </p:nvSpPr>
        <p:spPr>
          <a:xfrm>
            <a:off x="4983480" y="4599432"/>
            <a:ext cx="3749040" cy="347472"/>
          </a:xfrm>
          <a:prstGeom prst="rect">
            <a:avLst/>
          </a:prstGeom>
          <a:noFill/>
          <a:ln/>
        </p:spPr>
        <p:txBody>
          <a:bodyPr wrap="square"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Object</a:t>
            </a:r>
            <a:endParaRPr lang="en-US" sz="1100" dirty="0"/>
          </a:p>
          <a:p>
            <a:pPr marL="0" indent="0" algn="ctr">
              <a:buNone/>
            </a:pPr>
            <a:r>
              <a:rPr lang="en-US" sz="1100" b="1" dirty="0">
                <a:solidFill>
                  <a:srgbClr val="1C7293"/>
                </a:solidFill>
                <a:latin typeface="Calibri" pitchFamily="34" charset="0"/>
                <a:ea typeface="Calibri" pitchFamily="34" charset="-122"/>
                <a:cs typeface="Calibri" pitchFamily="34" charset="-120"/>
              </a:rPr>
              <a:t>(URI or literal value)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1A2C"/>
        </a:solidFill>
        <a:effectLst/>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065A82"/>
          </a:solidFill>
          <a:ln w="12700">
            <a:solidFill>
              <a:srgbClr val="065A82"/>
            </a:solidFill>
            <a:prstDash val="solid"/>
          </a:ln>
        </p:spPr>
        <p:txBody>
          <a:bodyPr/>
          <a:lstStyle/>
          <a:p>
            <a:endParaRPr lang="en-US"/>
          </a:p>
        </p:txBody>
      </p:sp>
      <p:sp>
        <p:nvSpPr>
          <p:cNvPr id="3" name="Shape 1"/>
          <p:cNvSpPr/>
          <p:nvPr/>
        </p:nvSpPr>
        <p:spPr>
          <a:xfrm>
            <a:off x="7498080" y="2286000"/>
            <a:ext cx="2286000" cy="2286000"/>
          </a:xfrm>
          <a:prstGeom prst="ellipse">
            <a:avLst/>
          </a:prstGeom>
          <a:solidFill>
            <a:srgbClr val="1C7293"/>
          </a:solidFill>
          <a:ln w="12700">
            <a:solidFill>
              <a:srgbClr val="1C7293"/>
            </a:solidFill>
            <a:prstDash val="solid"/>
          </a:ln>
        </p:spPr>
        <p:txBody>
          <a:bodyPr/>
          <a:lstStyle/>
          <a:p>
            <a:endParaRPr lang="en-US"/>
          </a:p>
        </p:txBody>
      </p:sp>
      <p:sp>
        <p:nvSpPr>
          <p:cNvPr id="4" name="Text 2"/>
          <p:cNvSpPr txBox="1"/>
          <p:nvPr/>
        </p:nvSpPr>
        <p:spPr>
          <a:xfrm>
            <a:off x="548640" y="274320"/>
            <a:ext cx="5486400" cy="5486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Knowledge Graphs</a:t>
            </a:r>
            <a:endParaRPr lang="en-US" sz="3200" dirty="0"/>
          </a:p>
        </p:txBody>
      </p:sp>
      <p:sp>
        <p:nvSpPr>
          <p:cNvPr id="5" name="Text 3"/>
          <p:cNvSpPr txBox="1"/>
          <p:nvPr/>
        </p:nvSpPr>
        <p:spPr>
          <a:xfrm>
            <a:off x="548640" y="822960"/>
            <a:ext cx="6858000" cy="685800"/>
          </a:xfrm>
          <a:prstGeom prst="rect">
            <a:avLst/>
          </a:prstGeom>
          <a:noFill/>
          <a:ln/>
        </p:spPr>
        <p:txBody>
          <a:bodyPr wrap="square" rtlCol="0" anchor="ctr"/>
          <a:lstStyle/>
          <a:p>
            <a:pPr marL="0" indent="0">
              <a:lnSpc>
                <a:spcPct val="130000"/>
              </a:lnSpc>
              <a:buNone/>
            </a:pPr>
            <a:r>
              <a:rPr lang="en-US" sz="1600" i="1" dirty="0">
                <a:solidFill>
                  <a:schemeClr val="bg1"/>
                </a:solidFill>
                <a:latin typeface="Calibri" pitchFamily="34" charset="0"/>
                <a:ea typeface="Calibri" pitchFamily="34" charset="-122"/>
                <a:cs typeface="Calibri" pitchFamily="34" charset="-120"/>
              </a:rPr>
              <a:t>A directed, labeled graph where the labels have</a:t>
            </a:r>
            <a:endParaRPr lang="en-US" sz="1600" dirty="0">
              <a:solidFill>
                <a:schemeClr val="bg1"/>
              </a:solidFill>
            </a:endParaRPr>
          </a:p>
          <a:p>
            <a:pPr marL="0" indent="0">
              <a:lnSpc>
                <a:spcPct val="130000"/>
              </a:lnSpc>
              <a:buNone/>
            </a:pPr>
            <a:r>
              <a:rPr lang="en-US" sz="1600" i="1" dirty="0">
                <a:solidFill>
                  <a:schemeClr val="bg1"/>
                </a:solidFill>
                <a:latin typeface="Calibri" pitchFamily="34" charset="0"/>
                <a:ea typeface="Calibri" pitchFamily="34" charset="-122"/>
                <a:cs typeface="Calibri" pitchFamily="34" charset="-120"/>
              </a:rPr>
              <a:t>well-defined meaning — not just connections, but relationships.</a:t>
            </a:r>
            <a:endParaRPr lang="en-US" sz="1600" dirty="0">
              <a:solidFill>
                <a:schemeClr val="bg1"/>
              </a:solidFill>
            </a:endParaRPr>
          </a:p>
        </p:txBody>
      </p:sp>
      <p:sp>
        <p:nvSpPr>
          <p:cNvPr id="6" name="Shape 4"/>
          <p:cNvSpPr/>
          <p:nvPr/>
        </p:nvSpPr>
        <p:spPr>
          <a:xfrm>
            <a:off x="457200" y="1691640"/>
            <a:ext cx="2560320" cy="960120"/>
          </a:xfrm>
          <a:prstGeom prst="rect">
            <a:avLst/>
          </a:prstGeom>
          <a:solidFill>
            <a:srgbClr val="02C39A"/>
          </a:solidFill>
          <a:ln w="12700">
            <a:solidFill>
              <a:srgbClr val="02C39A"/>
            </a:solidFill>
            <a:prstDash val="solid"/>
          </a:ln>
        </p:spPr>
        <p:txBody>
          <a:bodyPr/>
          <a:lstStyle/>
          <a:p>
            <a:endParaRPr lang="en-US"/>
          </a:p>
        </p:txBody>
      </p:sp>
      <p:sp>
        <p:nvSpPr>
          <p:cNvPr id="7" name="Text 5"/>
          <p:cNvSpPr txBox="1"/>
          <p:nvPr/>
        </p:nvSpPr>
        <p:spPr>
          <a:xfrm>
            <a:off x="594360" y="1783080"/>
            <a:ext cx="2286000" cy="347472"/>
          </a:xfrm>
          <a:prstGeom prst="rect">
            <a:avLst/>
          </a:prstGeom>
          <a:noFill/>
          <a:ln/>
        </p:spPr>
        <p:txBody>
          <a:bodyPr wrap="square" lIns="0" tIns="0" rIns="0" bIns="0" rtlCol="0" anchor="ctr"/>
          <a:lstStyle/>
          <a:p>
            <a:pPr marL="0" indent="0">
              <a:buNone/>
            </a:pPr>
            <a:r>
              <a:rPr lang="en-US" sz="1700" b="1" dirty="0">
                <a:solidFill>
                  <a:srgbClr val="0D1B2A"/>
                </a:solidFill>
                <a:latin typeface="Cambria" pitchFamily="34" charset="0"/>
                <a:ea typeface="Cambria" pitchFamily="34" charset="-122"/>
                <a:cs typeface="Cambria" pitchFamily="34" charset="-120"/>
              </a:rPr>
              <a:t>Nodes</a:t>
            </a:r>
            <a:endParaRPr lang="en-US" sz="1700" dirty="0"/>
          </a:p>
        </p:txBody>
      </p:sp>
      <p:sp>
        <p:nvSpPr>
          <p:cNvPr id="8" name="Text 6"/>
          <p:cNvSpPr txBox="1"/>
          <p:nvPr/>
        </p:nvSpPr>
        <p:spPr>
          <a:xfrm>
            <a:off x="594360" y="2130552"/>
            <a:ext cx="2286000" cy="475488"/>
          </a:xfrm>
          <a:prstGeom prst="rect">
            <a:avLst/>
          </a:prstGeom>
          <a:noFill/>
          <a:ln/>
        </p:spPr>
        <p:txBody>
          <a:bodyPr wrap="square" lIns="0" tIns="0" rIns="0" bIns="0"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Anything: people, places, events, concepts</a:t>
            </a:r>
            <a:endParaRPr lang="en-US" sz="1200" dirty="0"/>
          </a:p>
        </p:txBody>
      </p:sp>
      <p:sp>
        <p:nvSpPr>
          <p:cNvPr id="9" name="Shape 7"/>
          <p:cNvSpPr/>
          <p:nvPr/>
        </p:nvSpPr>
        <p:spPr>
          <a:xfrm>
            <a:off x="3246120" y="1691640"/>
            <a:ext cx="2560320" cy="960120"/>
          </a:xfrm>
          <a:prstGeom prst="rect">
            <a:avLst/>
          </a:prstGeom>
          <a:solidFill>
            <a:srgbClr val="E8A838"/>
          </a:solidFill>
          <a:ln w="12700">
            <a:solidFill>
              <a:srgbClr val="E8A838"/>
            </a:solidFill>
            <a:prstDash val="solid"/>
          </a:ln>
        </p:spPr>
        <p:txBody>
          <a:bodyPr/>
          <a:lstStyle/>
          <a:p>
            <a:endParaRPr lang="en-US"/>
          </a:p>
        </p:txBody>
      </p:sp>
      <p:sp>
        <p:nvSpPr>
          <p:cNvPr id="10" name="Text 8"/>
          <p:cNvSpPr txBox="1"/>
          <p:nvPr/>
        </p:nvSpPr>
        <p:spPr>
          <a:xfrm>
            <a:off x="3383280" y="1783080"/>
            <a:ext cx="2286000" cy="347472"/>
          </a:xfrm>
          <a:prstGeom prst="rect">
            <a:avLst/>
          </a:prstGeom>
          <a:noFill/>
          <a:ln/>
        </p:spPr>
        <p:txBody>
          <a:bodyPr wrap="square" lIns="0" tIns="0" rIns="0" bIns="0" rtlCol="0" anchor="ctr"/>
          <a:lstStyle/>
          <a:p>
            <a:pPr marL="0" indent="0">
              <a:buNone/>
            </a:pPr>
            <a:r>
              <a:rPr lang="en-US" sz="1700" b="1" dirty="0">
                <a:solidFill>
                  <a:srgbClr val="0D1B2A"/>
                </a:solidFill>
                <a:latin typeface="Cambria" pitchFamily="34" charset="0"/>
                <a:ea typeface="Cambria" pitchFamily="34" charset="-122"/>
                <a:cs typeface="Cambria" pitchFamily="34" charset="-120"/>
              </a:rPr>
              <a:t>Edges</a:t>
            </a:r>
            <a:endParaRPr lang="en-US" sz="1700" dirty="0"/>
          </a:p>
        </p:txBody>
      </p:sp>
      <p:sp>
        <p:nvSpPr>
          <p:cNvPr id="11" name="Text 9"/>
          <p:cNvSpPr txBox="1"/>
          <p:nvPr/>
        </p:nvSpPr>
        <p:spPr>
          <a:xfrm>
            <a:off x="3383280" y="2130552"/>
            <a:ext cx="2286000" cy="475488"/>
          </a:xfrm>
          <a:prstGeom prst="rect">
            <a:avLst/>
          </a:prstGeom>
          <a:noFill/>
          <a:ln/>
        </p:spPr>
        <p:txBody>
          <a:bodyPr wrap="square" lIns="0" tIns="0" rIns="0" bIns="0"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Connections between nodes — one for each predicate</a:t>
            </a:r>
            <a:endParaRPr lang="en-US" sz="1200" dirty="0"/>
          </a:p>
        </p:txBody>
      </p:sp>
      <p:sp>
        <p:nvSpPr>
          <p:cNvPr id="12" name="Shape 10"/>
          <p:cNvSpPr/>
          <p:nvPr/>
        </p:nvSpPr>
        <p:spPr>
          <a:xfrm>
            <a:off x="457200" y="2880360"/>
            <a:ext cx="2560320" cy="960120"/>
          </a:xfrm>
          <a:prstGeom prst="rect">
            <a:avLst/>
          </a:prstGeom>
          <a:solidFill>
            <a:srgbClr val="1C7293"/>
          </a:solidFill>
          <a:ln w="12700">
            <a:solidFill>
              <a:srgbClr val="1C7293"/>
            </a:solidFill>
            <a:prstDash val="solid"/>
          </a:ln>
        </p:spPr>
        <p:txBody>
          <a:bodyPr/>
          <a:lstStyle/>
          <a:p>
            <a:endParaRPr lang="en-US"/>
          </a:p>
        </p:txBody>
      </p:sp>
      <p:sp>
        <p:nvSpPr>
          <p:cNvPr id="13" name="Text 11"/>
          <p:cNvSpPr txBox="1"/>
          <p:nvPr/>
        </p:nvSpPr>
        <p:spPr>
          <a:xfrm>
            <a:off x="594360" y="2971800"/>
            <a:ext cx="2286000" cy="347472"/>
          </a:xfrm>
          <a:prstGeom prst="rect">
            <a:avLst/>
          </a:prstGeom>
          <a:noFill/>
          <a:ln/>
        </p:spPr>
        <p:txBody>
          <a:bodyPr wrap="square" lIns="0" tIns="0" rIns="0" bIns="0" rtlCol="0" anchor="ctr"/>
          <a:lstStyle/>
          <a:p>
            <a:pPr marL="0" indent="0">
              <a:buNone/>
            </a:pPr>
            <a:r>
              <a:rPr lang="en-US" sz="1700" b="1" dirty="0">
                <a:solidFill>
                  <a:srgbClr val="0D1B2A"/>
                </a:solidFill>
                <a:latin typeface="Cambria" pitchFamily="34" charset="0"/>
                <a:ea typeface="Cambria" pitchFamily="34" charset="-122"/>
                <a:cs typeface="Cambria" pitchFamily="34" charset="-120"/>
              </a:rPr>
              <a:t>Labels</a:t>
            </a:r>
            <a:endParaRPr lang="en-US" sz="1700" dirty="0"/>
          </a:p>
        </p:txBody>
      </p:sp>
      <p:sp>
        <p:nvSpPr>
          <p:cNvPr id="14" name="Text 12"/>
          <p:cNvSpPr txBox="1"/>
          <p:nvPr/>
        </p:nvSpPr>
        <p:spPr>
          <a:xfrm>
            <a:off x="594360" y="3319272"/>
            <a:ext cx="2286000" cy="475488"/>
          </a:xfrm>
          <a:prstGeom prst="rect">
            <a:avLst/>
          </a:prstGeom>
          <a:noFill/>
          <a:ln/>
        </p:spPr>
        <p:txBody>
          <a:bodyPr wrap="square" lIns="0" tIns="0" rIns="0" bIns="0"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The type of relationship — 'works at', 'created by', 'located in'</a:t>
            </a:r>
            <a:endParaRPr lang="en-US" sz="1200" dirty="0"/>
          </a:p>
        </p:txBody>
      </p:sp>
      <p:sp>
        <p:nvSpPr>
          <p:cNvPr id="15" name="Shape 13"/>
          <p:cNvSpPr/>
          <p:nvPr/>
        </p:nvSpPr>
        <p:spPr>
          <a:xfrm>
            <a:off x="3246120" y="2880360"/>
            <a:ext cx="2560320" cy="960120"/>
          </a:xfrm>
          <a:prstGeom prst="rect">
            <a:avLst/>
          </a:prstGeom>
          <a:solidFill>
            <a:srgbClr val="065A82"/>
          </a:solidFill>
          <a:ln w="12700">
            <a:solidFill>
              <a:srgbClr val="065A82"/>
            </a:solidFill>
            <a:prstDash val="solid"/>
          </a:ln>
        </p:spPr>
        <p:txBody>
          <a:bodyPr/>
          <a:lstStyle/>
          <a:p>
            <a:endParaRPr lang="en-US"/>
          </a:p>
        </p:txBody>
      </p:sp>
      <p:sp>
        <p:nvSpPr>
          <p:cNvPr id="16" name="Text 14"/>
          <p:cNvSpPr txBox="1"/>
          <p:nvPr/>
        </p:nvSpPr>
        <p:spPr>
          <a:xfrm>
            <a:off x="3383280" y="2971800"/>
            <a:ext cx="2286000" cy="347472"/>
          </a:xfrm>
          <a:prstGeom prst="rect">
            <a:avLst/>
          </a:prstGeom>
          <a:noFill/>
          <a:ln/>
        </p:spPr>
        <p:txBody>
          <a:bodyPr wrap="square" lIns="0" tIns="0" rIns="0" bIns="0" rtlCol="0" anchor="ctr"/>
          <a:lstStyle/>
          <a:p>
            <a:pPr marL="0" indent="0">
              <a:buNone/>
            </a:pPr>
            <a:r>
              <a:rPr lang="en-US" sz="1700" b="1" dirty="0">
                <a:solidFill>
                  <a:srgbClr val="0D1B2A"/>
                </a:solidFill>
                <a:latin typeface="Cambria" pitchFamily="34" charset="0"/>
                <a:ea typeface="Cambria" pitchFamily="34" charset="-122"/>
                <a:cs typeface="Cambria" pitchFamily="34" charset="-120"/>
              </a:rPr>
              <a:t>Direction</a:t>
            </a:r>
            <a:endParaRPr lang="en-US" sz="1700" dirty="0"/>
          </a:p>
        </p:txBody>
      </p:sp>
      <p:sp>
        <p:nvSpPr>
          <p:cNvPr id="17" name="Text 15"/>
          <p:cNvSpPr txBox="1"/>
          <p:nvPr/>
        </p:nvSpPr>
        <p:spPr>
          <a:xfrm>
            <a:off x="3383280" y="3319272"/>
            <a:ext cx="2286000" cy="475488"/>
          </a:xfrm>
          <a:prstGeom prst="rect">
            <a:avLst/>
          </a:prstGeom>
          <a:noFill/>
          <a:ln/>
        </p:spPr>
        <p:txBody>
          <a:bodyPr wrap="square" lIns="0" tIns="0" rIns="0" bIns="0" rtlCol="0" anchor="ctr"/>
          <a:lstStyle/>
          <a:p>
            <a:pPr marL="0" indent="0">
              <a:lnSpc>
                <a:spcPct val="120000"/>
              </a:lnSpc>
              <a:buNone/>
            </a:pPr>
            <a:r>
              <a:rPr lang="en-US" sz="1200" dirty="0">
                <a:solidFill>
                  <a:srgbClr val="0D1B2A"/>
                </a:solidFill>
                <a:latin typeface="Calibri" pitchFamily="34" charset="0"/>
                <a:ea typeface="Calibri" pitchFamily="34" charset="-122"/>
                <a:cs typeface="Calibri" pitchFamily="34" charset="-120"/>
              </a:rPr>
              <a:t>Edges are directed: A → B is not the same as B → A</a:t>
            </a:r>
            <a:endParaRPr lang="en-US" sz="1200" dirty="0"/>
          </a:p>
        </p:txBody>
      </p:sp>
      <p:sp>
        <p:nvSpPr>
          <p:cNvPr id="18" name="Text 16"/>
          <p:cNvSpPr txBox="1"/>
          <p:nvPr/>
        </p:nvSpPr>
        <p:spPr>
          <a:xfrm>
            <a:off x="457200" y="3977640"/>
            <a:ext cx="3657600" cy="347472"/>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Real-world examples</a:t>
            </a:r>
            <a:endParaRPr lang="en-US" sz="1600" dirty="0"/>
          </a:p>
        </p:txBody>
      </p:sp>
      <p:sp>
        <p:nvSpPr>
          <p:cNvPr id="19" name="Text 17"/>
          <p:cNvSpPr txBox="1"/>
          <p:nvPr/>
        </p:nvSpPr>
        <p:spPr>
          <a:xfrm>
            <a:off x="457200" y="4315968"/>
            <a:ext cx="8229600" cy="640080"/>
          </a:xfrm>
          <a:prstGeom prst="rect">
            <a:avLst/>
          </a:prstGeom>
          <a:noFill/>
          <a:ln/>
        </p:spPr>
        <p:txBody>
          <a:bodyPr wrap="square" rtlCol="0" anchor="ctr"/>
          <a:lstStyle/>
          <a:p>
            <a:pPr marL="0" indent="0">
              <a:lnSpc>
                <a:spcPct val="140000"/>
              </a:lnSpc>
              <a:buNone/>
            </a:pPr>
            <a:r>
              <a:rPr lang="en-US" sz="1300" dirty="0">
                <a:solidFill>
                  <a:schemeClr val="bg1"/>
                </a:solidFill>
                <a:latin typeface="Calibri" pitchFamily="34" charset="0"/>
                <a:ea typeface="Calibri" pitchFamily="34" charset="-122"/>
                <a:cs typeface="Calibri" pitchFamily="34" charset="-120"/>
              </a:rPr>
              <a:t>Google Knowledge Graph  ·  Wikidata  ·  DBpedia  ·  LinkedIn Social Graph</a:t>
            </a:r>
            <a:endParaRPr lang="en-US" sz="1300" dirty="0">
              <a:solidFill>
                <a:schemeClr val="bg1"/>
              </a:solidFill>
            </a:endParaRPr>
          </a:p>
          <a:p>
            <a:pPr marL="0" indent="0">
              <a:lnSpc>
                <a:spcPct val="140000"/>
              </a:lnSpc>
              <a:buNone/>
            </a:pPr>
            <a:r>
              <a:rPr lang="en-US" sz="1300" dirty="0">
                <a:solidFill>
                  <a:schemeClr val="bg1"/>
                </a:solidFill>
                <a:latin typeface="Calibri" pitchFamily="34" charset="0"/>
                <a:ea typeface="Calibri" pitchFamily="34" charset="-122"/>
                <a:cs typeface="Calibri" pitchFamily="34" charset="-120"/>
              </a:rPr>
              <a:t>Neo4j enterprise graphs  ·  Drug-interaction networks  ·  Fraud detection</a:t>
            </a:r>
            <a:endParaRPr lang="en-US" sz="13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F5FB"/>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8229600" cy="457200"/>
          </a:xfrm>
          <a:prstGeom prst="rect">
            <a:avLst/>
          </a:prstGeom>
          <a:noFill/>
          <a:ln/>
        </p:spPr>
        <p:txBody>
          <a:bodyPr wrap="square" rtlCol="0" anchor="ctr"/>
          <a:lstStyle/>
          <a:p>
            <a:pPr marL="0" indent="0">
              <a:buNone/>
            </a:pPr>
            <a:r>
              <a:rPr lang="en-US" sz="2600" b="1" dirty="0">
                <a:solidFill>
                  <a:srgbClr val="0D1B2A"/>
                </a:solidFill>
                <a:latin typeface="Cambria" pitchFamily="34" charset="0"/>
                <a:ea typeface="Cambria" pitchFamily="34" charset="-122"/>
                <a:cs typeface="Cambria" pitchFamily="34" charset="-120"/>
              </a:rPr>
              <a:t>Ontology &amp; OWL</a:t>
            </a:r>
            <a:endParaRPr lang="en-US" sz="2600" dirty="0"/>
          </a:p>
        </p:txBody>
      </p:sp>
      <p:sp>
        <p:nvSpPr>
          <p:cNvPr id="3" name="Text 1"/>
          <p:cNvSpPr txBox="1"/>
          <p:nvPr/>
        </p:nvSpPr>
        <p:spPr>
          <a:xfrm>
            <a:off x="457200" y="658368"/>
            <a:ext cx="8229600" cy="347472"/>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Giving machines a formal model of reality — what exists, what it is, and how things relate</a:t>
            </a:r>
            <a:endParaRPr lang="en-US" sz="1400" dirty="0"/>
          </a:p>
        </p:txBody>
      </p:sp>
      <p:sp>
        <p:nvSpPr>
          <p:cNvPr id="4" name="Shape 2"/>
          <p:cNvSpPr/>
          <p:nvPr/>
        </p:nvSpPr>
        <p:spPr>
          <a:xfrm>
            <a:off x="365760" y="1097280"/>
            <a:ext cx="3931920" cy="1783080"/>
          </a:xfrm>
          <a:prstGeom prst="rect">
            <a:avLst/>
          </a:prstGeom>
          <a:solidFill>
            <a:srgbClr val="065A82"/>
          </a:solidFill>
          <a:ln w="12700">
            <a:solidFill>
              <a:srgbClr val="065A82"/>
            </a:solidFill>
            <a:prstDash val="solid"/>
          </a:ln>
        </p:spPr>
        <p:txBody>
          <a:bodyPr/>
          <a:lstStyle/>
          <a:p>
            <a:endParaRPr lang="en-US"/>
          </a:p>
        </p:txBody>
      </p:sp>
      <p:sp>
        <p:nvSpPr>
          <p:cNvPr id="5" name="Text 3"/>
          <p:cNvSpPr txBox="1"/>
          <p:nvPr/>
        </p:nvSpPr>
        <p:spPr>
          <a:xfrm>
            <a:off x="548640" y="1170432"/>
            <a:ext cx="3657600" cy="347472"/>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From Philosophy...</a:t>
            </a:r>
            <a:endParaRPr lang="en-US" sz="1600" dirty="0"/>
          </a:p>
        </p:txBody>
      </p:sp>
      <p:sp>
        <p:nvSpPr>
          <p:cNvPr id="6" name="Text 4"/>
          <p:cNvSpPr txBox="1"/>
          <p:nvPr/>
        </p:nvSpPr>
        <p:spPr>
          <a:xfrm>
            <a:off x="548640" y="1508760"/>
            <a:ext cx="3657600" cy="1280160"/>
          </a:xfrm>
          <a:prstGeom prst="rect">
            <a:avLst/>
          </a:prstGeom>
          <a:noFill/>
          <a:ln/>
        </p:spPr>
        <p:txBody>
          <a:bodyPr wrap="square" rtlCol="0" anchor="ctr"/>
          <a:lstStyle/>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Ontology: the branch of philosophy studying existence, being, and reality. It asks: what categories of things exist? What is most fundamental?</a:t>
            </a:r>
            <a:endParaRPr lang="en-US" sz="1200" dirty="0"/>
          </a:p>
          <a:p>
            <a:pPr marL="0" indent="0">
              <a:lnSpc>
                <a:spcPct val="130000"/>
              </a:lnSpc>
              <a:buNone/>
            </a:pPr>
            <a:endParaRPr lang="en-US" sz="1200" dirty="0"/>
          </a:p>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Aristotle. Descartes. Heidegger. Centuries of debate.</a:t>
            </a:r>
            <a:endParaRPr lang="en-US" sz="1200" dirty="0"/>
          </a:p>
        </p:txBody>
      </p:sp>
      <p:sp>
        <p:nvSpPr>
          <p:cNvPr id="7" name="Shape 5"/>
          <p:cNvSpPr/>
          <p:nvPr/>
        </p:nvSpPr>
        <p:spPr>
          <a:xfrm>
            <a:off x="4572000" y="1097280"/>
            <a:ext cx="4206240" cy="1783080"/>
          </a:xfrm>
          <a:prstGeom prst="rect">
            <a:avLst/>
          </a:prstGeom>
          <a:solidFill>
            <a:srgbClr val="1C7293"/>
          </a:solidFill>
          <a:ln w="12700">
            <a:solidFill>
              <a:srgbClr val="1C7293"/>
            </a:solidFill>
            <a:prstDash val="solid"/>
          </a:ln>
        </p:spPr>
        <p:txBody>
          <a:bodyPr/>
          <a:lstStyle/>
          <a:p>
            <a:endParaRPr lang="en-US"/>
          </a:p>
        </p:txBody>
      </p:sp>
      <p:sp>
        <p:nvSpPr>
          <p:cNvPr id="8" name="Text 6"/>
          <p:cNvSpPr txBox="1"/>
          <p:nvPr/>
        </p:nvSpPr>
        <p:spPr>
          <a:xfrm>
            <a:off x="4754880" y="1170432"/>
            <a:ext cx="3840480" cy="347472"/>
          </a:xfrm>
          <a:prstGeom prst="rect">
            <a:avLst/>
          </a:prstGeom>
          <a:noFill/>
          <a:ln/>
        </p:spPr>
        <p:txBody>
          <a:bodyPr wrap="square" rtlCol="0" anchor="ctr"/>
          <a:lstStyle/>
          <a:p>
            <a:pPr marL="0" indent="0">
              <a:buNone/>
            </a:pPr>
            <a:r>
              <a:rPr lang="en-US" sz="1600" b="1" dirty="0">
                <a:solidFill>
                  <a:srgbClr val="E8A838"/>
                </a:solidFill>
                <a:latin typeface="Cambria" pitchFamily="34" charset="0"/>
                <a:ea typeface="Cambria" pitchFamily="34" charset="-122"/>
                <a:cs typeface="Cambria" pitchFamily="34" charset="-120"/>
              </a:rPr>
              <a:t>...To Data Engineering</a:t>
            </a:r>
            <a:endParaRPr lang="en-US" sz="1600" dirty="0"/>
          </a:p>
        </p:txBody>
      </p:sp>
      <p:sp>
        <p:nvSpPr>
          <p:cNvPr id="9" name="Text 7"/>
          <p:cNvSpPr txBox="1"/>
          <p:nvPr/>
        </p:nvSpPr>
        <p:spPr>
          <a:xfrm>
            <a:off x="4754880" y="1508760"/>
            <a:ext cx="3840480" cy="1280160"/>
          </a:xfrm>
          <a:prstGeom prst="rect">
            <a:avLst/>
          </a:prstGeom>
          <a:noFill/>
          <a:ln/>
        </p:spPr>
        <p:txBody>
          <a:bodyPr wrap="square" rtlCol="0" anchor="ctr"/>
          <a:lstStyle/>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OWL (Web Ontology Language): a W3C standard for formally representing knowledge about things, groups of things, and relations between things.</a:t>
            </a:r>
            <a:endParaRPr lang="en-US" sz="1200" dirty="0"/>
          </a:p>
          <a:p>
            <a:pPr marL="0" indent="0">
              <a:lnSpc>
                <a:spcPct val="130000"/>
              </a:lnSpc>
              <a:buNone/>
            </a:pPr>
            <a:endParaRPr lang="en-US" sz="1200" dirty="0"/>
          </a:p>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Enables computer-processable logic, consistency checking, and automated inference.</a:t>
            </a:r>
            <a:endParaRPr lang="en-US" sz="1200" dirty="0"/>
          </a:p>
        </p:txBody>
      </p:sp>
      <p:sp>
        <p:nvSpPr>
          <p:cNvPr id="10" name="Shape 8"/>
          <p:cNvSpPr/>
          <p:nvPr/>
        </p:nvSpPr>
        <p:spPr>
          <a:xfrm>
            <a:off x="365760" y="3017520"/>
            <a:ext cx="8412480" cy="1188720"/>
          </a:xfrm>
          <a:prstGeom prst="rect">
            <a:avLst/>
          </a:prstGeom>
          <a:solidFill>
            <a:srgbClr val="EEF7FD"/>
          </a:solidFill>
          <a:ln w="12700">
            <a:solidFill>
              <a:srgbClr val="EEF7FD"/>
            </a:solidFill>
            <a:prstDash val="solid"/>
          </a:ln>
        </p:spPr>
        <p:txBody>
          <a:bodyPr/>
          <a:lstStyle/>
          <a:p>
            <a:endParaRPr lang="en-US"/>
          </a:p>
        </p:txBody>
      </p:sp>
      <p:sp>
        <p:nvSpPr>
          <p:cNvPr id="11" name="Text 9"/>
          <p:cNvSpPr txBox="1"/>
          <p:nvPr/>
        </p:nvSpPr>
        <p:spPr>
          <a:xfrm>
            <a:off x="548640" y="3090672"/>
            <a:ext cx="8046720" cy="347472"/>
          </a:xfrm>
          <a:prstGeom prst="rect">
            <a:avLst/>
          </a:prstGeom>
          <a:noFill/>
          <a:ln/>
        </p:spPr>
        <p:txBody>
          <a:bodyPr wrap="square" rtlCol="0" anchor="ctr"/>
          <a:lstStyle/>
          <a:p>
            <a:pPr marL="0" indent="0">
              <a:buNone/>
            </a:pPr>
            <a:r>
              <a:rPr lang="en-US" sz="1500" b="1" dirty="0">
                <a:solidFill>
                  <a:srgbClr val="0D1B2A"/>
                </a:solidFill>
                <a:latin typeface="Cambria" pitchFamily="34" charset="0"/>
                <a:ea typeface="Cambria" pitchFamily="34" charset="-122"/>
                <a:cs typeface="Cambria" pitchFamily="34" charset="-120"/>
              </a:rPr>
              <a:t>Schema (RDFS) vs. Ontology (OWL): what's the difference?</a:t>
            </a:r>
            <a:endParaRPr lang="en-US" sz="1500" dirty="0"/>
          </a:p>
        </p:txBody>
      </p:sp>
      <p:sp>
        <p:nvSpPr>
          <p:cNvPr id="12" name="Text 10"/>
          <p:cNvSpPr txBox="1"/>
          <p:nvPr/>
        </p:nvSpPr>
        <p:spPr>
          <a:xfrm>
            <a:off x="548640" y="3429000"/>
            <a:ext cx="8046720" cy="749808"/>
          </a:xfrm>
          <a:prstGeom prst="rect">
            <a:avLst/>
          </a:prstGeom>
          <a:noFill/>
          <a:ln/>
        </p:spPr>
        <p:txBody>
          <a:bodyPr wrap="square" rtlCol="0" anchor="ctr"/>
          <a:lstStyle/>
          <a:p>
            <a:pPr marL="0" indent="0">
              <a:lnSpc>
                <a:spcPct val="130000"/>
              </a:lnSpc>
              <a:buNone/>
            </a:pPr>
            <a:r>
              <a:rPr lang="en-US" sz="1250" dirty="0">
                <a:solidFill>
                  <a:srgbClr val="1C3553"/>
                </a:solidFill>
                <a:latin typeface="Calibri" pitchFamily="34" charset="0"/>
                <a:ea typeface="Calibri" pitchFamily="34" charset="-122"/>
                <a:cs typeface="Calibri" pitchFamily="34" charset="-120"/>
              </a:rPr>
              <a:t>In practice: very little. Both are formal specifications of some conceptualization of the world. By convention, 'schema' is used for simpler models (RDFS), while 'ontology' is reserved for richer, more expressive models (OWL, DAML+OIL, Ontolingua). The difference is expressiveness and complexity, not kind. Think of RDFS as a data dictionary and OWL as a logic-based theory of a domain.</a:t>
            </a:r>
            <a:endParaRPr lang="en-US" sz="1250" dirty="0"/>
          </a:p>
        </p:txBody>
      </p:sp>
      <p:sp>
        <p:nvSpPr>
          <p:cNvPr id="13" name="Shape 11"/>
          <p:cNvSpPr/>
          <p:nvPr/>
        </p:nvSpPr>
        <p:spPr>
          <a:xfrm>
            <a:off x="365760" y="4315968"/>
            <a:ext cx="8412480" cy="658368"/>
          </a:xfrm>
          <a:prstGeom prst="rect">
            <a:avLst/>
          </a:prstGeom>
          <a:solidFill>
            <a:srgbClr val="DAEEF9"/>
          </a:solidFill>
          <a:ln w="12700">
            <a:solidFill>
              <a:srgbClr val="DAEEF9"/>
            </a:solidFill>
            <a:prstDash val="solid"/>
          </a:ln>
        </p:spPr>
        <p:txBody>
          <a:bodyPr/>
          <a:lstStyle/>
          <a:p>
            <a:endParaRPr lang="en-US"/>
          </a:p>
        </p:txBody>
      </p:sp>
      <p:sp>
        <p:nvSpPr>
          <p:cNvPr id="14" name="Text 12"/>
          <p:cNvSpPr txBox="1"/>
          <p:nvPr/>
        </p:nvSpPr>
        <p:spPr>
          <a:xfrm>
            <a:off x="548640" y="4370832"/>
            <a:ext cx="8046720" cy="548640"/>
          </a:xfrm>
          <a:prstGeom prst="rect">
            <a:avLst/>
          </a:prstGeom>
          <a:noFill/>
          <a:ln/>
        </p:spPr>
        <p:txBody>
          <a:bodyPr wrap="square" rtlCol="0" anchor="ctr"/>
          <a:lstStyle/>
          <a:p>
            <a:pPr marL="0" indent="0">
              <a:lnSpc>
                <a:spcPct val="130000"/>
              </a:lnSpc>
              <a:buNone/>
            </a:pPr>
            <a:r>
              <a:rPr lang="en-US" sz="1250" dirty="0">
                <a:solidFill>
                  <a:srgbClr val="1C3553"/>
                </a:solidFill>
                <a:latin typeface="Calibri" pitchFamily="34" charset="0"/>
                <a:ea typeface="Calibri" pitchFamily="34" charset="-122"/>
                <a:cs typeface="Calibri" pitchFamily="34" charset="-120"/>
              </a:rPr>
              <a:t>OWL vs. Object-Oriented Programming (OOP): Ontologies resemble class hierarchies in OOP, but evolve constantly as new linked data sources join the web — unlike code classes that change slowly.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5FB"/>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8229600" cy="457200"/>
          </a:xfrm>
          <a:prstGeom prst="rect">
            <a:avLst/>
          </a:prstGeom>
          <a:noFill/>
          <a:ln/>
        </p:spPr>
        <p:txBody>
          <a:bodyPr wrap="square" rtlCol="0" anchor="ctr"/>
          <a:lstStyle/>
          <a:p>
            <a:pPr marL="0" indent="0">
              <a:buNone/>
            </a:pPr>
            <a:r>
              <a:rPr lang="en-US" sz="2600" b="1" dirty="0">
                <a:solidFill>
                  <a:srgbClr val="0D1B2A"/>
                </a:solidFill>
                <a:latin typeface="Cambria" pitchFamily="34" charset="0"/>
                <a:ea typeface="Cambria" pitchFamily="34" charset="-122"/>
                <a:cs typeface="Cambria" pitchFamily="34" charset="-120"/>
              </a:rPr>
              <a:t>The Building Blocks</a:t>
            </a:r>
            <a:endParaRPr lang="en-US" sz="2600" dirty="0"/>
          </a:p>
        </p:txBody>
      </p:sp>
      <p:sp>
        <p:nvSpPr>
          <p:cNvPr id="3" name="Text 1"/>
          <p:cNvSpPr txBox="1"/>
          <p:nvPr/>
        </p:nvSpPr>
        <p:spPr>
          <a:xfrm>
            <a:off x="457200" y="658368"/>
            <a:ext cx="8229600" cy="347472"/>
          </a:xfrm>
          <a:prstGeom prst="rect">
            <a:avLst/>
          </a:prstGeom>
          <a:noFill/>
          <a:ln/>
        </p:spPr>
        <p:txBody>
          <a:bodyPr wrap="square" rtlCol="0" anchor="ctr"/>
          <a:lstStyle/>
          <a:p>
            <a:pPr marL="0" indent="0">
              <a:buNone/>
            </a:pPr>
            <a:r>
              <a:rPr lang="en-US" sz="1300" i="1" dirty="0">
                <a:solidFill>
                  <a:srgbClr val="5A7A99"/>
                </a:solidFill>
                <a:latin typeface="Calibri" pitchFamily="34" charset="0"/>
                <a:ea typeface="Calibri" pitchFamily="34" charset="-122"/>
                <a:cs typeface="Calibri" pitchFamily="34" charset="-120"/>
              </a:rPr>
              <a:t>SKOS · Triplestore · Linked Data · URI — four more pieces of the semantic web stack</a:t>
            </a:r>
            <a:endParaRPr lang="en-US" sz="1300" dirty="0"/>
          </a:p>
        </p:txBody>
      </p:sp>
      <p:sp>
        <p:nvSpPr>
          <p:cNvPr id="4" name="Shape 2"/>
          <p:cNvSpPr/>
          <p:nvPr/>
        </p:nvSpPr>
        <p:spPr>
          <a:xfrm>
            <a:off x="365760" y="1097280"/>
            <a:ext cx="4023360" cy="1828800"/>
          </a:xfrm>
          <a:prstGeom prst="rect">
            <a:avLst/>
          </a:prstGeom>
          <a:solidFill>
            <a:srgbClr val="065A82"/>
          </a:solidFill>
          <a:ln w="12700">
            <a:solidFill>
              <a:srgbClr val="065A82"/>
            </a:solidFill>
            <a:prstDash val="solid"/>
          </a:ln>
        </p:spPr>
        <p:txBody>
          <a:bodyPr/>
          <a:lstStyle/>
          <a:p>
            <a:endParaRPr lang="en-US"/>
          </a:p>
        </p:txBody>
      </p:sp>
      <p:sp>
        <p:nvSpPr>
          <p:cNvPr id="5" name="Text 3"/>
          <p:cNvSpPr txBox="1"/>
          <p:nvPr/>
        </p:nvSpPr>
        <p:spPr>
          <a:xfrm>
            <a:off x="548640" y="1188720"/>
            <a:ext cx="37490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SKOS</a:t>
            </a:r>
            <a:endParaRPr lang="en-US" sz="1800" dirty="0"/>
          </a:p>
        </p:txBody>
      </p:sp>
      <p:sp>
        <p:nvSpPr>
          <p:cNvPr id="6" name="Text 4"/>
          <p:cNvSpPr txBox="1"/>
          <p:nvPr/>
        </p:nvSpPr>
        <p:spPr>
          <a:xfrm>
            <a:off x="548640" y="1536192"/>
            <a:ext cx="3749040" cy="256032"/>
          </a:xfrm>
          <a:prstGeom prst="rect">
            <a:avLst/>
          </a:prstGeom>
          <a:noFill/>
          <a:ln/>
        </p:spPr>
        <p:txBody>
          <a:bodyPr wrap="square" lIns="0" tIns="0" rIns="0" bIns="0" rtlCol="0" anchor="ctr"/>
          <a:lstStyle/>
          <a:p>
            <a:pPr marL="0" indent="0">
              <a:buNone/>
            </a:pPr>
            <a:r>
              <a:rPr lang="en-US" sz="1150" i="1" dirty="0">
                <a:solidFill>
                  <a:srgbClr val="E8A838"/>
                </a:solidFill>
                <a:latin typeface="Calibri" pitchFamily="34" charset="0"/>
                <a:ea typeface="Calibri" pitchFamily="34" charset="-122"/>
                <a:cs typeface="Calibri" pitchFamily="34" charset="-120"/>
              </a:rPr>
              <a:t>Simple Knowledge Organization System</a:t>
            </a:r>
            <a:endParaRPr lang="en-US" sz="1150" dirty="0"/>
          </a:p>
        </p:txBody>
      </p:sp>
      <p:sp>
        <p:nvSpPr>
          <p:cNvPr id="7" name="Text 5"/>
          <p:cNvSpPr txBox="1"/>
          <p:nvPr/>
        </p:nvSpPr>
        <p:spPr>
          <a:xfrm>
            <a:off x="548640" y="1810512"/>
            <a:ext cx="3749040" cy="10515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A W3C standard for representing thesauri, taxonomies, classification schemes, and other structured vocabularies. Built on RDF/RDFS. Lets you publish a controlled vocabulary as linked data — with broader/narrower/related terms.</a:t>
            </a:r>
            <a:endParaRPr lang="en-US" sz="1150" dirty="0"/>
          </a:p>
        </p:txBody>
      </p:sp>
      <p:sp>
        <p:nvSpPr>
          <p:cNvPr id="8" name="Shape 6"/>
          <p:cNvSpPr/>
          <p:nvPr/>
        </p:nvSpPr>
        <p:spPr>
          <a:xfrm>
            <a:off x="4754880" y="1097280"/>
            <a:ext cx="4023360" cy="1828800"/>
          </a:xfrm>
          <a:prstGeom prst="rect">
            <a:avLst/>
          </a:prstGeom>
          <a:solidFill>
            <a:srgbClr val="1C7293"/>
          </a:solidFill>
          <a:ln w="12700">
            <a:solidFill>
              <a:srgbClr val="1C7293"/>
            </a:solidFill>
            <a:prstDash val="solid"/>
          </a:ln>
        </p:spPr>
        <p:txBody>
          <a:bodyPr/>
          <a:lstStyle/>
          <a:p>
            <a:endParaRPr lang="en-US"/>
          </a:p>
        </p:txBody>
      </p:sp>
      <p:sp>
        <p:nvSpPr>
          <p:cNvPr id="9" name="Text 7"/>
          <p:cNvSpPr txBox="1"/>
          <p:nvPr/>
        </p:nvSpPr>
        <p:spPr>
          <a:xfrm>
            <a:off x="4937760" y="1188720"/>
            <a:ext cx="37490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Triplestore</a:t>
            </a:r>
            <a:endParaRPr lang="en-US" sz="1800" dirty="0"/>
          </a:p>
        </p:txBody>
      </p:sp>
      <p:sp>
        <p:nvSpPr>
          <p:cNvPr id="10" name="Text 8"/>
          <p:cNvSpPr txBox="1"/>
          <p:nvPr/>
        </p:nvSpPr>
        <p:spPr>
          <a:xfrm>
            <a:off x="4937760" y="1536192"/>
            <a:ext cx="3749040" cy="256032"/>
          </a:xfrm>
          <a:prstGeom prst="rect">
            <a:avLst/>
          </a:prstGeom>
          <a:noFill/>
          <a:ln/>
        </p:spPr>
        <p:txBody>
          <a:bodyPr wrap="square" lIns="0" tIns="0" rIns="0" bIns="0" rtlCol="0" anchor="ctr"/>
          <a:lstStyle/>
          <a:p>
            <a:pPr marL="0" indent="0">
              <a:buNone/>
            </a:pPr>
            <a:r>
              <a:rPr lang="en-US" sz="1150" i="1" dirty="0">
                <a:solidFill>
                  <a:srgbClr val="E8A838"/>
                </a:solidFill>
                <a:latin typeface="Calibri" pitchFamily="34" charset="0"/>
                <a:ea typeface="Calibri" pitchFamily="34" charset="-122"/>
                <a:cs typeface="Calibri" pitchFamily="34" charset="-120"/>
              </a:rPr>
              <a:t>Purpose-built RDF database</a:t>
            </a:r>
            <a:endParaRPr lang="en-US" sz="1150" dirty="0"/>
          </a:p>
        </p:txBody>
      </p:sp>
      <p:sp>
        <p:nvSpPr>
          <p:cNvPr id="11" name="Text 9"/>
          <p:cNvSpPr txBox="1"/>
          <p:nvPr/>
        </p:nvSpPr>
        <p:spPr>
          <a:xfrm>
            <a:off x="4937760" y="1810512"/>
            <a:ext cx="3749040" cy="10515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A database optimized for storing and retrieving triples via semantic queries. Like a relational DB, but instead of tables and joins, it stores subject-predicate-object triples and answers graph-pattern queries via SPARQL.</a:t>
            </a:r>
            <a:endParaRPr lang="en-US" sz="1150" dirty="0"/>
          </a:p>
        </p:txBody>
      </p:sp>
      <p:sp>
        <p:nvSpPr>
          <p:cNvPr id="12" name="Shape 10"/>
          <p:cNvSpPr/>
          <p:nvPr/>
        </p:nvSpPr>
        <p:spPr>
          <a:xfrm>
            <a:off x="365760" y="3063240"/>
            <a:ext cx="4023360" cy="1828800"/>
          </a:xfrm>
          <a:prstGeom prst="rect">
            <a:avLst/>
          </a:prstGeom>
          <a:solidFill>
            <a:srgbClr val="1C7293"/>
          </a:solidFill>
          <a:ln w="12700">
            <a:solidFill>
              <a:srgbClr val="1C7293"/>
            </a:solidFill>
            <a:prstDash val="solid"/>
          </a:ln>
        </p:spPr>
        <p:txBody>
          <a:bodyPr/>
          <a:lstStyle/>
          <a:p>
            <a:endParaRPr lang="en-US"/>
          </a:p>
        </p:txBody>
      </p:sp>
      <p:sp>
        <p:nvSpPr>
          <p:cNvPr id="13" name="Text 11"/>
          <p:cNvSpPr txBox="1"/>
          <p:nvPr/>
        </p:nvSpPr>
        <p:spPr>
          <a:xfrm>
            <a:off x="548640" y="3154680"/>
            <a:ext cx="37490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Linked Data</a:t>
            </a:r>
            <a:endParaRPr lang="en-US" sz="1800" dirty="0"/>
          </a:p>
        </p:txBody>
      </p:sp>
      <p:sp>
        <p:nvSpPr>
          <p:cNvPr id="14" name="Text 12"/>
          <p:cNvSpPr txBox="1"/>
          <p:nvPr/>
        </p:nvSpPr>
        <p:spPr>
          <a:xfrm>
            <a:off x="548640" y="3502152"/>
            <a:ext cx="3749040" cy="256032"/>
          </a:xfrm>
          <a:prstGeom prst="rect">
            <a:avLst/>
          </a:prstGeom>
          <a:noFill/>
          <a:ln/>
        </p:spPr>
        <p:txBody>
          <a:bodyPr wrap="square" lIns="0" tIns="0" rIns="0" bIns="0" rtlCol="0" anchor="ctr"/>
          <a:lstStyle/>
          <a:p>
            <a:pPr marL="0" indent="0">
              <a:buNone/>
            </a:pPr>
            <a:r>
              <a:rPr lang="en-US" sz="1150" i="1" dirty="0">
                <a:solidFill>
                  <a:srgbClr val="E8A838"/>
                </a:solidFill>
                <a:latin typeface="Calibri" pitchFamily="34" charset="0"/>
                <a:ea typeface="Calibri" pitchFamily="34" charset="-122"/>
                <a:cs typeface="Calibri" pitchFamily="34" charset="-120"/>
              </a:rPr>
              <a:t>Data interlinked with other data</a:t>
            </a:r>
            <a:endParaRPr lang="en-US" sz="1150" dirty="0"/>
          </a:p>
        </p:txBody>
      </p:sp>
      <p:sp>
        <p:nvSpPr>
          <p:cNvPr id="15" name="Text 13"/>
          <p:cNvSpPr txBox="1"/>
          <p:nvPr/>
        </p:nvSpPr>
        <p:spPr>
          <a:xfrm>
            <a:off x="548640" y="3776472"/>
            <a:ext cx="3749040" cy="10515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A set of practices for publishing structured data on the web so that it can connect to other datasets. Built on HTTP + RDF + URIs. The vision: the internet becomes one enormous, traversable database.</a:t>
            </a:r>
            <a:endParaRPr lang="en-US" sz="1150" dirty="0"/>
          </a:p>
        </p:txBody>
      </p:sp>
      <p:sp>
        <p:nvSpPr>
          <p:cNvPr id="16" name="Shape 14"/>
          <p:cNvSpPr/>
          <p:nvPr/>
        </p:nvSpPr>
        <p:spPr>
          <a:xfrm>
            <a:off x="4754880" y="3063240"/>
            <a:ext cx="4023360" cy="1828800"/>
          </a:xfrm>
          <a:prstGeom prst="rect">
            <a:avLst/>
          </a:prstGeom>
          <a:solidFill>
            <a:srgbClr val="065A82"/>
          </a:solidFill>
          <a:ln w="12700">
            <a:solidFill>
              <a:srgbClr val="065A82"/>
            </a:solidFill>
            <a:prstDash val="solid"/>
          </a:ln>
        </p:spPr>
        <p:txBody>
          <a:bodyPr/>
          <a:lstStyle/>
          <a:p>
            <a:endParaRPr lang="en-US"/>
          </a:p>
        </p:txBody>
      </p:sp>
      <p:sp>
        <p:nvSpPr>
          <p:cNvPr id="17" name="Text 15"/>
          <p:cNvSpPr txBox="1"/>
          <p:nvPr/>
        </p:nvSpPr>
        <p:spPr>
          <a:xfrm>
            <a:off x="4937760" y="3154680"/>
            <a:ext cx="37490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URI</a:t>
            </a:r>
            <a:endParaRPr lang="en-US" sz="1800" dirty="0"/>
          </a:p>
        </p:txBody>
      </p:sp>
      <p:sp>
        <p:nvSpPr>
          <p:cNvPr id="18" name="Text 16"/>
          <p:cNvSpPr txBox="1"/>
          <p:nvPr/>
        </p:nvSpPr>
        <p:spPr>
          <a:xfrm>
            <a:off x="4937760" y="3502152"/>
            <a:ext cx="3749040" cy="256032"/>
          </a:xfrm>
          <a:prstGeom prst="rect">
            <a:avLst/>
          </a:prstGeom>
          <a:noFill/>
          <a:ln/>
        </p:spPr>
        <p:txBody>
          <a:bodyPr wrap="square" lIns="0" tIns="0" rIns="0" bIns="0" rtlCol="0" anchor="ctr"/>
          <a:lstStyle/>
          <a:p>
            <a:pPr marL="0" indent="0">
              <a:buNone/>
            </a:pPr>
            <a:r>
              <a:rPr lang="en-US" sz="1150" i="1" dirty="0">
                <a:solidFill>
                  <a:srgbClr val="E8A838"/>
                </a:solidFill>
                <a:latin typeface="Calibri" pitchFamily="34" charset="0"/>
                <a:ea typeface="Calibri" pitchFamily="34" charset="-122"/>
                <a:cs typeface="Calibri" pitchFamily="34" charset="-120"/>
              </a:rPr>
              <a:t>Uniform Resource Identifier</a:t>
            </a:r>
            <a:endParaRPr lang="en-US" sz="1150" dirty="0"/>
          </a:p>
        </p:txBody>
      </p:sp>
      <p:sp>
        <p:nvSpPr>
          <p:cNvPr id="19" name="Text 17"/>
          <p:cNvSpPr txBox="1"/>
          <p:nvPr/>
        </p:nvSpPr>
        <p:spPr>
          <a:xfrm>
            <a:off x="4937760" y="3776472"/>
            <a:ext cx="3749040" cy="105156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A unique string that identifies any resource — a web page, a person, a concept, a real-world object. URIs are what make RDF globally unambiguous. Every triple's subject, predicate, and object can be identified by a URI.</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65A82"/>
          </a:solidFill>
          <a:ln w="12700">
            <a:solidFill>
              <a:srgbClr val="065A82"/>
            </a:solidFill>
            <a:prstDash val="solid"/>
          </a:ln>
        </p:spPr>
        <p:txBody>
          <a:bodyPr/>
          <a:lstStyle/>
          <a:p>
            <a:endParaRPr lang="en-US"/>
          </a:p>
        </p:txBody>
      </p:sp>
      <p:sp>
        <p:nvSpPr>
          <p:cNvPr id="3" name="Text 1"/>
          <p:cNvSpPr txBox="1"/>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SPARQL — Querying the Graph</a:t>
            </a:r>
            <a:endParaRPr lang="en-US" sz="2800" dirty="0"/>
          </a:p>
        </p:txBody>
      </p:sp>
      <p:sp>
        <p:nvSpPr>
          <p:cNvPr id="4" name="Text 2"/>
          <p:cNvSpPr txBox="1"/>
          <p:nvPr/>
        </p:nvSpPr>
        <p:spPr>
          <a:xfrm>
            <a:off x="457200" y="640080"/>
            <a:ext cx="8229600" cy="347472"/>
          </a:xfrm>
          <a:prstGeom prst="rect">
            <a:avLst/>
          </a:prstGeom>
          <a:noFill/>
          <a:ln/>
        </p:spPr>
        <p:txBody>
          <a:bodyPr wrap="square" rtlCol="0" anchor="ctr"/>
          <a:lstStyle/>
          <a:p>
            <a:pPr marL="0" indent="0">
              <a:buNone/>
            </a:pPr>
            <a:r>
              <a:rPr lang="en-US" sz="1400" i="1" dirty="0">
                <a:solidFill>
                  <a:srgbClr val="02C39A"/>
                </a:solidFill>
                <a:latin typeface="Calibri" pitchFamily="34" charset="0"/>
                <a:ea typeface="Calibri" pitchFamily="34" charset="-122"/>
                <a:cs typeface="Calibri" pitchFamily="34" charset="-120"/>
              </a:rPr>
              <a:t>"Sparkle" — SPARQL Protocol and RDF Query Language</a:t>
            </a:r>
            <a:endParaRPr lang="en-US" sz="1400" dirty="0"/>
          </a:p>
        </p:txBody>
      </p:sp>
      <p:sp>
        <p:nvSpPr>
          <p:cNvPr id="5" name="Text 3"/>
          <p:cNvSpPr txBox="1"/>
          <p:nvPr/>
        </p:nvSpPr>
        <p:spPr>
          <a:xfrm>
            <a:off x="457200" y="1234440"/>
            <a:ext cx="3931920" cy="914400"/>
          </a:xfrm>
          <a:prstGeom prst="rect">
            <a:avLst/>
          </a:prstGeom>
          <a:noFill/>
          <a:ln/>
        </p:spPr>
        <p:txBody>
          <a:bodyPr wrap="square" rtlCol="0" anchor="ctr"/>
          <a:lstStyle/>
          <a:p>
            <a:pPr marL="0" indent="0">
              <a:lnSpc>
                <a:spcPct val="130000"/>
              </a:lnSpc>
              <a:buNone/>
            </a:pPr>
            <a:r>
              <a:rPr lang="en-US" sz="1300" dirty="0">
                <a:solidFill>
                  <a:srgbClr val="1C3553"/>
                </a:solidFill>
                <a:latin typeface="Calibri" pitchFamily="34" charset="0"/>
                <a:ea typeface="Calibri" pitchFamily="34" charset="-122"/>
                <a:cs typeface="Calibri" pitchFamily="34" charset="-120"/>
              </a:rPr>
              <a:t>The standard query language for RDF triplestores and Linked Open Data. SPARQL is to knowledge graphs what SQL is to relational databases — but instead of rows and columns, it queries graph patterns.</a:t>
            </a:r>
            <a:endParaRPr lang="en-US" sz="1300" dirty="0"/>
          </a:p>
        </p:txBody>
      </p:sp>
      <p:sp>
        <p:nvSpPr>
          <p:cNvPr id="6" name="Shape 4"/>
          <p:cNvSpPr/>
          <p:nvPr/>
        </p:nvSpPr>
        <p:spPr>
          <a:xfrm>
            <a:off x="365760" y="2286000"/>
            <a:ext cx="1828800" cy="365760"/>
          </a:xfrm>
          <a:prstGeom prst="rect">
            <a:avLst/>
          </a:prstGeom>
          <a:solidFill>
            <a:srgbClr val="1C7293"/>
          </a:solidFill>
          <a:ln w="12700">
            <a:solidFill>
              <a:srgbClr val="1C7293"/>
            </a:solidFill>
            <a:prstDash val="solid"/>
          </a:ln>
        </p:spPr>
        <p:txBody>
          <a:bodyPr/>
          <a:lstStyle/>
          <a:p>
            <a:endParaRPr lang="en-US"/>
          </a:p>
        </p:txBody>
      </p:sp>
      <p:sp>
        <p:nvSpPr>
          <p:cNvPr id="7" name="Text 5"/>
          <p:cNvSpPr txBox="1"/>
          <p:nvPr/>
        </p:nvSpPr>
        <p:spPr>
          <a:xfrm>
            <a:off x="365760" y="2331720"/>
            <a:ext cx="1828800" cy="29260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SQL</a:t>
            </a:r>
            <a:endParaRPr lang="en-US" sz="1600" dirty="0"/>
          </a:p>
        </p:txBody>
      </p:sp>
      <p:sp>
        <p:nvSpPr>
          <p:cNvPr id="8" name="Text 6"/>
          <p:cNvSpPr txBox="1"/>
          <p:nvPr/>
        </p:nvSpPr>
        <p:spPr>
          <a:xfrm>
            <a:off x="365760" y="2900677"/>
            <a:ext cx="1828800" cy="658368"/>
          </a:xfrm>
          <a:prstGeom prst="rect">
            <a:avLst/>
          </a:prstGeom>
          <a:noFill/>
          <a:ln/>
        </p:spPr>
        <p:txBody>
          <a:bodyPr wrap="square" rtlCol="0" anchor="ctr"/>
          <a:lstStyle/>
          <a:p>
            <a:pPr marL="0" indent="0">
              <a:buNone/>
            </a:pPr>
            <a:r>
              <a:rPr lang="en-US" sz="1200" dirty="0">
                <a:solidFill>
                  <a:srgbClr val="0D1B2A"/>
                </a:solidFill>
                <a:latin typeface="Courier New" pitchFamily="34" charset="0"/>
                <a:ea typeface="Courier New" pitchFamily="34" charset="-122"/>
                <a:cs typeface="Courier New" pitchFamily="34" charset="-120"/>
              </a:rPr>
              <a:t>SELECT *</a:t>
            </a:r>
            <a:endParaRPr lang="en-US" sz="1200" dirty="0"/>
          </a:p>
          <a:p>
            <a:pPr marL="0" indent="0">
              <a:buNone/>
            </a:pPr>
            <a:r>
              <a:rPr lang="en-US" sz="1200" dirty="0">
                <a:solidFill>
                  <a:srgbClr val="0D1B2A"/>
                </a:solidFill>
                <a:latin typeface="Courier New" pitchFamily="34" charset="0"/>
                <a:ea typeface="Courier New" pitchFamily="34" charset="-122"/>
                <a:cs typeface="Courier New" pitchFamily="34" charset="-120"/>
              </a:rPr>
              <a:t>FROM people</a:t>
            </a:r>
            <a:endParaRPr lang="en-US" sz="1200" dirty="0"/>
          </a:p>
          <a:p>
            <a:pPr marL="0" indent="0">
              <a:buNone/>
            </a:pPr>
            <a:r>
              <a:rPr lang="en-US" sz="1200" dirty="0">
                <a:solidFill>
                  <a:srgbClr val="0D1B2A"/>
                </a:solidFill>
                <a:latin typeface="Courier New" pitchFamily="34" charset="0"/>
                <a:ea typeface="Courier New" pitchFamily="34" charset="-122"/>
                <a:cs typeface="Courier New" pitchFamily="34" charset="-120"/>
              </a:rPr>
              <a:t>WHERE age &gt; 30</a:t>
            </a:r>
            <a:endParaRPr lang="en-US" sz="1200" dirty="0"/>
          </a:p>
        </p:txBody>
      </p:sp>
      <p:sp>
        <p:nvSpPr>
          <p:cNvPr id="9" name="Shape 7"/>
          <p:cNvSpPr/>
          <p:nvPr/>
        </p:nvSpPr>
        <p:spPr>
          <a:xfrm>
            <a:off x="2331720" y="2286000"/>
            <a:ext cx="1828800" cy="365760"/>
          </a:xfrm>
          <a:prstGeom prst="rect">
            <a:avLst/>
          </a:prstGeom>
          <a:solidFill>
            <a:srgbClr val="02C39A"/>
          </a:solidFill>
          <a:ln w="12700">
            <a:solidFill>
              <a:srgbClr val="02C39A"/>
            </a:solidFill>
            <a:prstDash val="solid"/>
          </a:ln>
        </p:spPr>
        <p:txBody>
          <a:bodyPr/>
          <a:lstStyle/>
          <a:p>
            <a:endParaRPr lang="en-US"/>
          </a:p>
        </p:txBody>
      </p:sp>
      <p:sp>
        <p:nvSpPr>
          <p:cNvPr id="10" name="Text 8"/>
          <p:cNvSpPr txBox="1"/>
          <p:nvPr/>
        </p:nvSpPr>
        <p:spPr>
          <a:xfrm>
            <a:off x="2331720" y="2331720"/>
            <a:ext cx="1828800" cy="292608"/>
          </a:xfrm>
          <a:prstGeom prst="rect">
            <a:avLst/>
          </a:prstGeom>
          <a:noFill/>
          <a:ln/>
        </p:spPr>
        <p:txBody>
          <a:bodyPr wrap="square" rtlCol="0" anchor="ctr"/>
          <a:lstStyle/>
          <a:p>
            <a:pPr marL="0" indent="0" algn="ctr">
              <a:buNone/>
            </a:pPr>
            <a:r>
              <a:rPr lang="en-US" sz="1600" b="1" dirty="0">
                <a:solidFill>
                  <a:srgbClr val="0D1B2A"/>
                </a:solidFill>
                <a:latin typeface="Cambria" pitchFamily="34" charset="0"/>
                <a:ea typeface="Cambria" pitchFamily="34" charset="-122"/>
                <a:cs typeface="Cambria" pitchFamily="34" charset="-120"/>
              </a:rPr>
              <a:t>SPARQL</a:t>
            </a:r>
            <a:endParaRPr lang="en-US" sz="1600" dirty="0"/>
          </a:p>
        </p:txBody>
      </p:sp>
      <p:sp>
        <p:nvSpPr>
          <p:cNvPr id="11" name="Text 9"/>
          <p:cNvSpPr txBox="1"/>
          <p:nvPr/>
        </p:nvSpPr>
        <p:spPr>
          <a:xfrm>
            <a:off x="2331720" y="3031303"/>
            <a:ext cx="1828800" cy="658368"/>
          </a:xfrm>
          <a:prstGeom prst="rect">
            <a:avLst/>
          </a:prstGeom>
          <a:noFill/>
          <a:ln/>
        </p:spPr>
        <p:txBody>
          <a:bodyPr wrap="square" rtlCol="0" anchor="ctr"/>
          <a:lstStyle/>
          <a:p>
            <a:pPr marL="0" indent="0">
              <a:buNone/>
            </a:pPr>
            <a:r>
              <a:rPr lang="en-US" sz="1150" dirty="0">
                <a:solidFill>
                  <a:srgbClr val="0D1B2A"/>
                </a:solidFill>
                <a:latin typeface="Courier New" pitchFamily="34" charset="0"/>
                <a:ea typeface="Courier New" pitchFamily="34" charset="-122"/>
                <a:cs typeface="Courier New" pitchFamily="34" charset="-120"/>
              </a:rPr>
              <a:t>SELECT ?item</a:t>
            </a:r>
            <a:endParaRPr lang="en-US" sz="1150" dirty="0"/>
          </a:p>
          <a:p>
            <a:pPr marL="0" indent="0">
              <a:buNone/>
            </a:pPr>
            <a:r>
              <a:rPr lang="en-US" sz="1150" dirty="0">
                <a:solidFill>
                  <a:srgbClr val="0D1B2A"/>
                </a:solidFill>
                <a:latin typeface="Courier New" pitchFamily="34" charset="0"/>
                <a:ea typeface="Courier New" pitchFamily="34" charset="-122"/>
                <a:cs typeface="Courier New" pitchFamily="34" charset="-120"/>
              </a:rPr>
              <a:t>WHERE {</a:t>
            </a:r>
            <a:endParaRPr lang="en-US" sz="1150" dirty="0"/>
          </a:p>
          <a:p>
            <a:pPr marL="0" indent="0">
              <a:buNone/>
            </a:pPr>
            <a:r>
              <a:rPr lang="en-US" sz="1150" dirty="0">
                <a:solidFill>
                  <a:srgbClr val="0D1B2A"/>
                </a:solidFill>
                <a:latin typeface="Courier New" pitchFamily="34" charset="0"/>
                <a:ea typeface="Courier New" pitchFamily="34" charset="-122"/>
                <a:cs typeface="Courier New" pitchFamily="34" charset="-120"/>
              </a:rPr>
              <a:t>  ?item wdt:P31 wd:Q146</a:t>
            </a:r>
            <a:endParaRPr lang="en-US" sz="1150" dirty="0"/>
          </a:p>
          <a:p>
            <a:pPr marL="0" indent="0">
              <a:buNone/>
            </a:pPr>
            <a:r>
              <a:rPr lang="en-US" sz="1150" dirty="0">
                <a:solidFill>
                  <a:srgbClr val="0D1B2A"/>
                </a:solidFill>
                <a:latin typeface="Courier New" pitchFamily="34" charset="0"/>
                <a:ea typeface="Courier New" pitchFamily="34" charset="-122"/>
                <a:cs typeface="Courier New" pitchFamily="34" charset="-120"/>
              </a:rPr>
              <a:t>}</a:t>
            </a:r>
            <a:endParaRPr lang="en-US" sz="1150" dirty="0"/>
          </a:p>
        </p:txBody>
      </p:sp>
      <p:sp>
        <p:nvSpPr>
          <p:cNvPr id="12" name="Text 10"/>
          <p:cNvSpPr txBox="1"/>
          <p:nvPr/>
        </p:nvSpPr>
        <p:spPr>
          <a:xfrm>
            <a:off x="365760" y="4016825"/>
            <a:ext cx="3931920" cy="411480"/>
          </a:xfrm>
          <a:prstGeom prst="rect">
            <a:avLst/>
          </a:prstGeom>
          <a:noFill/>
          <a:ln/>
        </p:spPr>
        <p:txBody>
          <a:bodyPr wrap="square" rtlCol="0" anchor="ctr"/>
          <a:lstStyle/>
          <a:p>
            <a:pPr marL="0" indent="0">
              <a:buNone/>
            </a:pPr>
            <a:r>
              <a:rPr lang="en-US" sz="1250" i="1" dirty="0">
                <a:solidFill>
                  <a:srgbClr val="5A7A99"/>
                </a:solidFill>
                <a:latin typeface="Calibri" pitchFamily="34" charset="0"/>
                <a:ea typeface="Calibri" pitchFamily="34" charset="-122"/>
                <a:cs typeface="Calibri" pitchFamily="34" charset="-120"/>
              </a:rPr>
              <a:t>SQL queries tables. SPARQL queries graph patterns — triple-by-triple.</a:t>
            </a:r>
            <a:endParaRPr lang="en-US" sz="1250" dirty="0"/>
          </a:p>
        </p:txBody>
      </p:sp>
      <p:sp>
        <p:nvSpPr>
          <p:cNvPr id="13" name="Shape 11"/>
          <p:cNvSpPr/>
          <p:nvPr/>
        </p:nvSpPr>
        <p:spPr>
          <a:xfrm>
            <a:off x="4572000" y="1143000"/>
            <a:ext cx="4297680" cy="3749040"/>
          </a:xfrm>
          <a:prstGeom prst="rect">
            <a:avLst/>
          </a:prstGeom>
          <a:solidFill>
            <a:srgbClr val="0D1B2A"/>
          </a:solidFill>
          <a:ln w="12700">
            <a:solidFill>
              <a:srgbClr val="0D1B2A"/>
            </a:solidFill>
            <a:prstDash val="solid"/>
          </a:ln>
        </p:spPr>
        <p:txBody>
          <a:bodyPr/>
          <a:lstStyle/>
          <a:p>
            <a:endParaRPr lang="en-US"/>
          </a:p>
        </p:txBody>
      </p:sp>
      <p:sp>
        <p:nvSpPr>
          <p:cNvPr id="14" name="Text 12"/>
          <p:cNvSpPr txBox="1"/>
          <p:nvPr/>
        </p:nvSpPr>
        <p:spPr>
          <a:xfrm>
            <a:off x="4709160" y="1207008"/>
            <a:ext cx="4023360" cy="347472"/>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Wikidata: Find all notable cats</a:t>
            </a:r>
            <a:endParaRPr lang="en-US" sz="1300" dirty="0"/>
          </a:p>
        </p:txBody>
      </p:sp>
      <p:sp>
        <p:nvSpPr>
          <p:cNvPr id="15" name="Text 13"/>
          <p:cNvSpPr txBox="1"/>
          <p:nvPr/>
        </p:nvSpPr>
        <p:spPr>
          <a:xfrm>
            <a:off x="4709160" y="1572768"/>
            <a:ext cx="3977640" cy="1828800"/>
          </a:xfrm>
          <a:prstGeom prst="rect">
            <a:avLst/>
          </a:prstGeom>
          <a:noFill/>
          <a:ln/>
        </p:spPr>
        <p:txBody>
          <a:bodyPr wrap="square" rtlCol="0" anchor="ctr"/>
          <a:lstStyle/>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#Cats</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SELECT ?item ?itemLabel</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WHERE {</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  ?item wdt:P31 wd:Q146.</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  SERVICE wikibase:label {</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    bd:serviceParam wikibase:language</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    "[AUTO_LANGUAGE],en".</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  }</a:t>
            </a:r>
            <a:endParaRPr lang="en-US" sz="1200" dirty="0"/>
          </a:p>
          <a:p>
            <a:pPr marL="0" indent="0">
              <a:lnSpc>
                <a:spcPct val="130000"/>
              </a:lnSpc>
              <a:buNone/>
            </a:pPr>
            <a:r>
              <a:rPr lang="en-US" sz="1200" dirty="0">
                <a:solidFill>
                  <a:srgbClr val="E8A838"/>
                </a:solidFill>
                <a:latin typeface="Courier New" pitchFamily="34" charset="0"/>
                <a:ea typeface="Courier New" pitchFamily="34" charset="-122"/>
                <a:cs typeface="Courier New" pitchFamily="34" charset="-120"/>
              </a:rPr>
              <a:t>}</a:t>
            </a:r>
            <a:endParaRPr lang="en-US" sz="1200" dirty="0"/>
          </a:p>
        </p:txBody>
      </p:sp>
      <p:sp>
        <p:nvSpPr>
          <p:cNvPr id="16" name="Text 14"/>
          <p:cNvSpPr txBox="1"/>
          <p:nvPr/>
        </p:nvSpPr>
        <p:spPr>
          <a:xfrm>
            <a:off x="4709160" y="3401568"/>
            <a:ext cx="3977640" cy="1371600"/>
          </a:xfrm>
          <a:prstGeom prst="rect">
            <a:avLst/>
          </a:prstGeom>
          <a:noFill/>
          <a:ln/>
        </p:spPr>
        <p:txBody>
          <a:bodyPr wrap="square" rtlCol="0" anchor="ctr"/>
          <a:lstStyle/>
          <a:p>
            <a:pPr marL="0" indent="0">
              <a:lnSpc>
                <a:spcPct val="135000"/>
              </a:lnSpc>
              <a:buNone/>
            </a:pPr>
            <a:r>
              <a:rPr lang="en-US" sz="1150" dirty="0">
                <a:solidFill>
                  <a:srgbClr val="FFFFFF"/>
                </a:solidFill>
                <a:latin typeface="Calibri" pitchFamily="34" charset="0"/>
                <a:ea typeface="Calibri" pitchFamily="34" charset="-122"/>
                <a:cs typeface="Calibri" pitchFamily="34" charset="-120"/>
              </a:rPr>
              <a:t>?item = variable (anything)</a:t>
            </a:r>
            <a:endParaRPr lang="en-US" sz="1150" dirty="0"/>
          </a:p>
          <a:p>
            <a:pPr marL="0" indent="0">
              <a:lnSpc>
                <a:spcPct val="135000"/>
              </a:lnSpc>
              <a:buNone/>
            </a:pPr>
            <a:r>
              <a:rPr lang="en-US" sz="1150" dirty="0">
                <a:solidFill>
                  <a:srgbClr val="FFFFFF"/>
                </a:solidFill>
                <a:latin typeface="Calibri" pitchFamily="34" charset="0"/>
                <a:ea typeface="Calibri" pitchFamily="34" charset="-122"/>
                <a:cs typeface="Calibri" pitchFamily="34" charset="-120"/>
              </a:rPr>
              <a:t>wdt:P31 = instance of (property)</a:t>
            </a:r>
            <a:endParaRPr lang="en-US" sz="1150" dirty="0"/>
          </a:p>
          <a:p>
            <a:pPr marL="0" indent="0">
              <a:lnSpc>
                <a:spcPct val="135000"/>
              </a:lnSpc>
              <a:buNone/>
            </a:pPr>
            <a:r>
              <a:rPr lang="en-US" sz="1150" dirty="0">
                <a:solidFill>
                  <a:srgbClr val="FFFFFF"/>
                </a:solidFill>
                <a:latin typeface="Calibri" pitchFamily="34" charset="0"/>
                <a:ea typeface="Calibri" pitchFamily="34" charset="-122"/>
                <a:cs typeface="Calibri" pitchFamily="34" charset="-120"/>
              </a:rPr>
              <a:t>wd:Q146 = domestic cat (value)</a:t>
            </a:r>
            <a:endParaRPr lang="en-US" sz="1150" dirty="0"/>
          </a:p>
          <a:p>
            <a:pPr marL="0" indent="0">
              <a:lnSpc>
                <a:spcPct val="135000"/>
              </a:lnSpc>
              <a:buNone/>
            </a:pPr>
            <a:endParaRPr lang="en-US" sz="1150" dirty="0"/>
          </a:p>
          <a:p>
            <a:pPr marL="0" indent="0">
              <a:lnSpc>
                <a:spcPct val="135000"/>
              </a:lnSpc>
              <a:buNone/>
            </a:pPr>
            <a:r>
              <a:rPr lang="en-US" sz="1150" dirty="0">
                <a:solidFill>
                  <a:srgbClr val="FFFFFF"/>
                </a:solidFill>
                <a:latin typeface="Calibri" pitchFamily="34" charset="0"/>
                <a:ea typeface="Calibri" pitchFamily="34" charset="-122"/>
                <a:cs typeface="Calibri" pitchFamily="34" charset="-120"/>
              </a:rPr>
              <a:t>→ "Return all items where</a:t>
            </a:r>
            <a:endParaRPr lang="en-US" sz="1150" dirty="0"/>
          </a:p>
          <a:p>
            <a:pPr marL="0" indent="0">
              <a:lnSpc>
                <a:spcPct val="135000"/>
              </a:lnSpc>
              <a:buNone/>
            </a:pPr>
            <a:r>
              <a:rPr lang="en-US" sz="1150" dirty="0">
                <a:solidFill>
                  <a:srgbClr val="FFFFFF"/>
                </a:solidFill>
                <a:latin typeface="Calibri" pitchFamily="34" charset="0"/>
                <a:ea typeface="Calibri" pitchFamily="34" charset="-122"/>
                <a:cs typeface="Calibri" pitchFamily="34" charset="-120"/>
              </a:rPr>
              <a:t>   (instance of) = (domestic cat)"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7293"/>
          </a:solidFill>
          <a:ln w="12700">
            <a:solidFill>
              <a:srgbClr val="1C7293"/>
            </a:solidFill>
            <a:prstDash val="solid"/>
          </a:ln>
        </p:spPr>
        <p:txBody>
          <a:bodyPr/>
          <a:lstStyle/>
          <a:p>
            <a:endParaRPr lang="en-US"/>
          </a:p>
        </p:txBody>
      </p:sp>
      <p:sp>
        <p:nvSpPr>
          <p:cNvPr id="3" name="Text 1"/>
          <p:cNvSpPr txBox="1"/>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Wikidata: Knowledge at Scale</a:t>
            </a:r>
            <a:endParaRPr lang="en-US" sz="2800" dirty="0"/>
          </a:p>
        </p:txBody>
      </p:sp>
      <p:sp>
        <p:nvSpPr>
          <p:cNvPr id="4" name="Text 2"/>
          <p:cNvSpPr txBox="1"/>
          <p:nvPr/>
        </p:nvSpPr>
        <p:spPr>
          <a:xfrm>
            <a:off x="457200" y="640080"/>
            <a:ext cx="8229600" cy="320040"/>
          </a:xfrm>
          <a:prstGeom prst="rect">
            <a:avLst/>
          </a:prstGeom>
          <a:noFill/>
          <a:ln/>
        </p:spPr>
        <p:txBody>
          <a:bodyPr wrap="square" rtlCol="0" anchor="ctr"/>
          <a:lstStyle/>
          <a:p>
            <a:pPr marL="0" indent="0">
              <a:buNone/>
            </a:pPr>
            <a:r>
              <a:rPr lang="en-US" sz="1400" kern="0" spc="100" dirty="0">
                <a:solidFill>
                  <a:srgbClr val="02C39A"/>
                </a:solidFill>
                <a:latin typeface="Calibri" pitchFamily="34" charset="0"/>
                <a:ea typeface="Calibri" pitchFamily="34" charset="-122"/>
                <a:cs typeface="Calibri" pitchFamily="34" charset="-120"/>
              </a:rPr>
              <a:t>100M+ data items · Free · Collaborative · Multilingual</a:t>
            </a:r>
            <a:endParaRPr lang="en-US" sz="1400" dirty="0"/>
          </a:p>
        </p:txBody>
      </p:sp>
      <p:sp>
        <p:nvSpPr>
          <p:cNvPr id="5" name="Text 3"/>
          <p:cNvSpPr txBox="1"/>
          <p:nvPr/>
        </p:nvSpPr>
        <p:spPr>
          <a:xfrm>
            <a:off x="457200" y="1143000"/>
            <a:ext cx="8229600" cy="365760"/>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Wikidata is the structured data backbone behind Wikipedia — and much more.</a:t>
            </a:r>
            <a:endParaRPr lang="en-US" sz="1400" dirty="0"/>
          </a:p>
        </p:txBody>
      </p:sp>
      <p:sp>
        <p:nvSpPr>
          <p:cNvPr id="6" name="Shape 4"/>
          <p:cNvSpPr/>
          <p:nvPr/>
        </p:nvSpPr>
        <p:spPr>
          <a:xfrm>
            <a:off x="365760" y="1600200"/>
            <a:ext cx="3931920" cy="1463040"/>
          </a:xfrm>
          <a:prstGeom prst="rect">
            <a:avLst/>
          </a:prstGeom>
          <a:solidFill>
            <a:srgbClr val="DAEEF9"/>
          </a:solidFill>
          <a:ln w="12700">
            <a:solidFill>
              <a:srgbClr val="DAEEF9"/>
            </a:solidFill>
            <a:prstDash val="solid"/>
          </a:ln>
        </p:spPr>
        <p:txBody>
          <a:bodyPr/>
          <a:lstStyle/>
          <a:p>
            <a:endParaRPr lang="en-US"/>
          </a:p>
        </p:txBody>
      </p:sp>
      <p:sp>
        <p:nvSpPr>
          <p:cNvPr id="7" name="Text 5"/>
          <p:cNvSpPr txBox="1"/>
          <p:nvPr/>
        </p:nvSpPr>
        <p:spPr>
          <a:xfrm>
            <a:off x="548640" y="1664208"/>
            <a:ext cx="3657600" cy="347472"/>
          </a:xfrm>
          <a:prstGeom prst="rect">
            <a:avLst/>
          </a:prstGeom>
          <a:noFill/>
          <a:ln/>
        </p:spPr>
        <p:txBody>
          <a:bodyPr wrap="square"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The Wikidata Model</a:t>
            </a:r>
            <a:endParaRPr lang="en-US" sz="1500" dirty="0"/>
          </a:p>
        </p:txBody>
      </p:sp>
      <p:sp>
        <p:nvSpPr>
          <p:cNvPr id="8" name="Text 6"/>
          <p:cNvSpPr txBox="1"/>
          <p:nvPr/>
        </p:nvSpPr>
        <p:spPr>
          <a:xfrm>
            <a:off x="548640" y="2011680"/>
            <a:ext cx="3657600" cy="960120"/>
          </a:xfrm>
          <a:prstGeom prst="rect">
            <a:avLst/>
          </a:prstGeom>
          <a:noFill/>
          <a:ln/>
        </p:spPr>
        <p:txBody>
          <a:bodyPr wrap="square" rtlCol="0" anchor="ctr"/>
          <a:lstStyle/>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Every item has a Q-number (e.g. Q64 = Berlin).</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Every property has a P-number (e.g. P625 = coordinates).</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Statements = property + value + optional qualifiers.</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Qualifiers add nuance: 'population: 3.8M (as of 2023)'</a:t>
            </a:r>
            <a:endParaRPr lang="en-US" sz="1200" dirty="0"/>
          </a:p>
        </p:txBody>
      </p:sp>
      <p:sp>
        <p:nvSpPr>
          <p:cNvPr id="9" name="Shape 7"/>
          <p:cNvSpPr/>
          <p:nvPr/>
        </p:nvSpPr>
        <p:spPr>
          <a:xfrm>
            <a:off x="365760" y="3246120"/>
            <a:ext cx="3931920" cy="1600200"/>
          </a:xfrm>
          <a:prstGeom prst="rect">
            <a:avLst/>
          </a:prstGeom>
          <a:solidFill>
            <a:srgbClr val="DAEEF9"/>
          </a:solidFill>
          <a:ln w="12700">
            <a:solidFill>
              <a:srgbClr val="DAEEF9"/>
            </a:solidFill>
            <a:prstDash val="solid"/>
          </a:ln>
        </p:spPr>
        <p:txBody>
          <a:bodyPr/>
          <a:lstStyle/>
          <a:p>
            <a:endParaRPr lang="en-US"/>
          </a:p>
        </p:txBody>
      </p:sp>
      <p:sp>
        <p:nvSpPr>
          <p:cNvPr id="10" name="Text 8"/>
          <p:cNvSpPr txBox="1"/>
          <p:nvPr/>
        </p:nvSpPr>
        <p:spPr>
          <a:xfrm>
            <a:off x="548640" y="3310128"/>
            <a:ext cx="3657600" cy="347472"/>
          </a:xfrm>
          <a:prstGeom prst="rect">
            <a:avLst/>
          </a:prstGeom>
          <a:noFill/>
          <a:ln/>
        </p:spPr>
        <p:txBody>
          <a:bodyPr wrap="square"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Why Wikidata Matters</a:t>
            </a:r>
            <a:endParaRPr lang="en-US" sz="1500" dirty="0"/>
          </a:p>
        </p:txBody>
      </p:sp>
      <p:sp>
        <p:nvSpPr>
          <p:cNvPr id="11" name="Text 9"/>
          <p:cNvSpPr txBox="1"/>
          <p:nvPr/>
        </p:nvSpPr>
        <p:spPr>
          <a:xfrm>
            <a:off x="548640" y="3657600"/>
            <a:ext cx="3657600" cy="1097280"/>
          </a:xfrm>
          <a:prstGeom prst="rect">
            <a:avLst/>
          </a:prstGeom>
          <a:noFill/>
          <a:ln/>
        </p:spPr>
        <p:txBody>
          <a:bodyPr wrap="square" rtlCol="0" anchor="ctr"/>
          <a:lstStyle/>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Powers infoboxes across Wikimedia projects</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Used by Google, Microsoft, Apple, and many AI systems</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Open SPARQL endpoint at query.wikidata.org</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The largest open knowledge graph in the world</a:t>
            </a:r>
            <a:endParaRPr lang="en-US" sz="1200" dirty="0"/>
          </a:p>
        </p:txBody>
      </p:sp>
      <p:sp>
        <p:nvSpPr>
          <p:cNvPr id="12" name="Shape 10"/>
          <p:cNvSpPr/>
          <p:nvPr/>
        </p:nvSpPr>
        <p:spPr>
          <a:xfrm>
            <a:off x="4572000" y="1600200"/>
            <a:ext cx="4297680" cy="3291840"/>
          </a:xfrm>
          <a:prstGeom prst="rect">
            <a:avLst/>
          </a:prstGeom>
          <a:solidFill>
            <a:srgbClr val="0D1B2A"/>
          </a:solidFill>
          <a:ln w="12700">
            <a:solidFill>
              <a:srgbClr val="0D1B2A"/>
            </a:solidFill>
            <a:prstDash val="solid"/>
          </a:ln>
        </p:spPr>
        <p:txBody>
          <a:bodyPr/>
          <a:lstStyle/>
          <a:p>
            <a:endParaRPr lang="en-US"/>
          </a:p>
        </p:txBody>
      </p:sp>
      <p:sp>
        <p:nvSpPr>
          <p:cNvPr id="13" name="Text 11"/>
          <p:cNvSpPr txBox="1"/>
          <p:nvPr/>
        </p:nvSpPr>
        <p:spPr>
          <a:xfrm>
            <a:off x="4709160" y="1664208"/>
            <a:ext cx="4023360" cy="347472"/>
          </a:xfrm>
          <a:prstGeom prst="rect">
            <a:avLst/>
          </a:prstGeom>
          <a:noFill/>
          <a:ln/>
        </p:spPr>
        <p:txBody>
          <a:bodyPr wrap="square"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Example: Q64 — Berlin</a:t>
            </a:r>
            <a:endParaRPr lang="en-US" sz="1400" dirty="0"/>
          </a:p>
        </p:txBody>
      </p:sp>
      <p:sp>
        <p:nvSpPr>
          <p:cNvPr id="14" name="Text 12"/>
          <p:cNvSpPr txBox="1"/>
          <p:nvPr/>
        </p:nvSpPr>
        <p:spPr>
          <a:xfrm>
            <a:off x="4709160" y="2084832"/>
            <a:ext cx="731520" cy="384048"/>
          </a:xfrm>
          <a:prstGeom prst="rect">
            <a:avLst/>
          </a:prstGeom>
          <a:noFill/>
          <a:ln/>
        </p:spPr>
        <p:txBody>
          <a:bodyPr wrap="square" rtlCol="0" anchor="ctr"/>
          <a:lstStyle/>
          <a:p>
            <a:pPr marL="0" indent="0">
              <a:buNone/>
            </a:pPr>
            <a:r>
              <a:rPr lang="en-US" sz="1100" dirty="0">
                <a:solidFill>
                  <a:srgbClr val="E8A838"/>
                </a:solidFill>
                <a:latin typeface="Courier New" pitchFamily="34" charset="0"/>
                <a:ea typeface="Courier New" pitchFamily="34" charset="-122"/>
                <a:cs typeface="Courier New" pitchFamily="34" charset="-120"/>
              </a:rPr>
              <a:t>P31</a:t>
            </a:r>
            <a:endParaRPr lang="en-US" sz="1100" dirty="0"/>
          </a:p>
        </p:txBody>
      </p:sp>
      <p:sp>
        <p:nvSpPr>
          <p:cNvPr id="15" name="Text 13"/>
          <p:cNvSpPr txBox="1"/>
          <p:nvPr/>
        </p:nvSpPr>
        <p:spPr>
          <a:xfrm>
            <a:off x="5440680" y="2084832"/>
            <a:ext cx="1188720" cy="38404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instance of</a:t>
            </a:r>
            <a:endParaRPr lang="en-US" sz="1100" dirty="0">
              <a:solidFill>
                <a:schemeClr val="bg1"/>
              </a:solidFill>
            </a:endParaRPr>
          </a:p>
        </p:txBody>
      </p:sp>
      <p:sp>
        <p:nvSpPr>
          <p:cNvPr id="16" name="Text 14"/>
          <p:cNvSpPr txBox="1"/>
          <p:nvPr/>
        </p:nvSpPr>
        <p:spPr>
          <a:xfrm>
            <a:off x="6629400" y="2084832"/>
            <a:ext cx="13716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city (Q515)</a:t>
            </a:r>
            <a:endParaRPr lang="en-US" sz="1100" dirty="0"/>
          </a:p>
        </p:txBody>
      </p:sp>
      <p:sp>
        <p:nvSpPr>
          <p:cNvPr id="17" name="Text 15"/>
          <p:cNvSpPr txBox="1"/>
          <p:nvPr/>
        </p:nvSpPr>
        <p:spPr>
          <a:xfrm>
            <a:off x="4709160" y="2542032"/>
            <a:ext cx="731520" cy="384048"/>
          </a:xfrm>
          <a:prstGeom prst="rect">
            <a:avLst/>
          </a:prstGeom>
          <a:noFill/>
          <a:ln/>
        </p:spPr>
        <p:txBody>
          <a:bodyPr wrap="square" rtlCol="0" anchor="ctr"/>
          <a:lstStyle/>
          <a:p>
            <a:pPr marL="0" indent="0">
              <a:buNone/>
            </a:pPr>
            <a:r>
              <a:rPr lang="en-US" sz="1100" dirty="0">
                <a:solidFill>
                  <a:srgbClr val="E8A838"/>
                </a:solidFill>
                <a:latin typeface="Courier New" pitchFamily="34" charset="0"/>
                <a:ea typeface="Courier New" pitchFamily="34" charset="-122"/>
                <a:cs typeface="Courier New" pitchFamily="34" charset="-120"/>
              </a:rPr>
              <a:t>P17</a:t>
            </a:r>
            <a:endParaRPr lang="en-US" sz="1100" dirty="0"/>
          </a:p>
        </p:txBody>
      </p:sp>
      <p:sp>
        <p:nvSpPr>
          <p:cNvPr id="18" name="Text 16"/>
          <p:cNvSpPr txBox="1"/>
          <p:nvPr/>
        </p:nvSpPr>
        <p:spPr>
          <a:xfrm>
            <a:off x="5440680" y="2542032"/>
            <a:ext cx="1188720" cy="38404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country</a:t>
            </a:r>
            <a:endParaRPr lang="en-US" sz="1100" dirty="0">
              <a:solidFill>
                <a:schemeClr val="bg1"/>
              </a:solidFill>
            </a:endParaRPr>
          </a:p>
        </p:txBody>
      </p:sp>
      <p:sp>
        <p:nvSpPr>
          <p:cNvPr id="19" name="Text 17"/>
          <p:cNvSpPr txBox="1"/>
          <p:nvPr/>
        </p:nvSpPr>
        <p:spPr>
          <a:xfrm>
            <a:off x="6629400" y="2542032"/>
            <a:ext cx="13716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Germany (Q183)</a:t>
            </a:r>
            <a:endParaRPr lang="en-US" sz="1100" dirty="0"/>
          </a:p>
        </p:txBody>
      </p:sp>
      <p:sp>
        <p:nvSpPr>
          <p:cNvPr id="20" name="Text 18"/>
          <p:cNvSpPr txBox="1"/>
          <p:nvPr/>
        </p:nvSpPr>
        <p:spPr>
          <a:xfrm>
            <a:off x="4709160" y="2999232"/>
            <a:ext cx="731520" cy="384048"/>
          </a:xfrm>
          <a:prstGeom prst="rect">
            <a:avLst/>
          </a:prstGeom>
          <a:noFill/>
          <a:ln/>
        </p:spPr>
        <p:txBody>
          <a:bodyPr wrap="square" rtlCol="0" anchor="ctr"/>
          <a:lstStyle/>
          <a:p>
            <a:pPr marL="0" indent="0">
              <a:buNone/>
            </a:pPr>
            <a:r>
              <a:rPr lang="en-US" sz="1100" dirty="0">
                <a:solidFill>
                  <a:srgbClr val="E8A838"/>
                </a:solidFill>
                <a:latin typeface="Courier New" pitchFamily="34" charset="0"/>
                <a:ea typeface="Courier New" pitchFamily="34" charset="-122"/>
                <a:cs typeface="Courier New" pitchFamily="34" charset="-120"/>
              </a:rPr>
              <a:t>P625</a:t>
            </a:r>
            <a:endParaRPr lang="en-US" sz="1100" dirty="0"/>
          </a:p>
        </p:txBody>
      </p:sp>
      <p:sp>
        <p:nvSpPr>
          <p:cNvPr id="21" name="Text 19"/>
          <p:cNvSpPr txBox="1"/>
          <p:nvPr/>
        </p:nvSpPr>
        <p:spPr>
          <a:xfrm>
            <a:off x="5440680" y="2999232"/>
            <a:ext cx="1188720" cy="38404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coordinates</a:t>
            </a:r>
            <a:endParaRPr lang="en-US" sz="1100" dirty="0">
              <a:solidFill>
                <a:schemeClr val="bg1"/>
              </a:solidFill>
            </a:endParaRPr>
          </a:p>
        </p:txBody>
      </p:sp>
      <p:sp>
        <p:nvSpPr>
          <p:cNvPr id="22" name="Text 20"/>
          <p:cNvSpPr txBox="1"/>
          <p:nvPr/>
        </p:nvSpPr>
        <p:spPr>
          <a:xfrm>
            <a:off x="6629400" y="2999232"/>
            <a:ext cx="13716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52°N, 13°E</a:t>
            </a:r>
            <a:endParaRPr lang="en-US" sz="1100" dirty="0"/>
          </a:p>
        </p:txBody>
      </p:sp>
      <p:sp>
        <p:nvSpPr>
          <p:cNvPr id="23" name="Text 21"/>
          <p:cNvSpPr txBox="1"/>
          <p:nvPr/>
        </p:nvSpPr>
        <p:spPr>
          <a:xfrm>
            <a:off x="4709160" y="3456432"/>
            <a:ext cx="731520" cy="384048"/>
          </a:xfrm>
          <a:prstGeom prst="rect">
            <a:avLst/>
          </a:prstGeom>
          <a:noFill/>
          <a:ln/>
        </p:spPr>
        <p:txBody>
          <a:bodyPr wrap="square" rtlCol="0" anchor="ctr"/>
          <a:lstStyle/>
          <a:p>
            <a:pPr marL="0" indent="0">
              <a:buNone/>
            </a:pPr>
            <a:r>
              <a:rPr lang="en-US" sz="1100" dirty="0">
                <a:solidFill>
                  <a:srgbClr val="E8A838"/>
                </a:solidFill>
                <a:latin typeface="Courier New" pitchFamily="34" charset="0"/>
                <a:ea typeface="Courier New" pitchFamily="34" charset="-122"/>
                <a:cs typeface="Courier New" pitchFamily="34" charset="-120"/>
              </a:rPr>
              <a:t>P1082</a:t>
            </a:r>
            <a:endParaRPr lang="en-US" sz="1100" dirty="0"/>
          </a:p>
        </p:txBody>
      </p:sp>
      <p:sp>
        <p:nvSpPr>
          <p:cNvPr id="24" name="Text 22"/>
          <p:cNvSpPr txBox="1"/>
          <p:nvPr/>
        </p:nvSpPr>
        <p:spPr>
          <a:xfrm>
            <a:off x="5440680" y="3456432"/>
            <a:ext cx="1188720" cy="38404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population</a:t>
            </a:r>
            <a:endParaRPr lang="en-US" sz="1100" dirty="0">
              <a:solidFill>
                <a:schemeClr val="bg1"/>
              </a:solidFill>
            </a:endParaRPr>
          </a:p>
        </p:txBody>
      </p:sp>
      <p:sp>
        <p:nvSpPr>
          <p:cNvPr id="25" name="Text 23"/>
          <p:cNvSpPr txBox="1"/>
          <p:nvPr/>
        </p:nvSpPr>
        <p:spPr>
          <a:xfrm>
            <a:off x="6629400" y="3456432"/>
            <a:ext cx="13716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3,850,809</a:t>
            </a:r>
            <a:endParaRPr lang="en-US" sz="1100" dirty="0"/>
          </a:p>
        </p:txBody>
      </p:sp>
      <p:sp>
        <p:nvSpPr>
          <p:cNvPr id="26" name="Text 24"/>
          <p:cNvSpPr txBox="1"/>
          <p:nvPr/>
        </p:nvSpPr>
        <p:spPr>
          <a:xfrm>
            <a:off x="4709160" y="3913632"/>
            <a:ext cx="731520" cy="384048"/>
          </a:xfrm>
          <a:prstGeom prst="rect">
            <a:avLst/>
          </a:prstGeom>
          <a:noFill/>
          <a:ln/>
        </p:spPr>
        <p:txBody>
          <a:bodyPr wrap="square" rtlCol="0" anchor="ctr"/>
          <a:lstStyle/>
          <a:p>
            <a:pPr marL="0" indent="0">
              <a:buNone/>
            </a:pPr>
            <a:r>
              <a:rPr lang="en-US" sz="1100" dirty="0">
                <a:solidFill>
                  <a:srgbClr val="E8A838"/>
                </a:solidFill>
                <a:latin typeface="Courier New" pitchFamily="34" charset="0"/>
                <a:ea typeface="Courier New" pitchFamily="34" charset="-122"/>
                <a:cs typeface="Courier New" pitchFamily="34" charset="-120"/>
              </a:rPr>
              <a:t>P36</a:t>
            </a:r>
            <a:endParaRPr lang="en-US" sz="1100" dirty="0"/>
          </a:p>
        </p:txBody>
      </p:sp>
      <p:sp>
        <p:nvSpPr>
          <p:cNvPr id="27" name="Text 25"/>
          <p:cNvSpPr txBox="1"/>
          <p:nvPr/>
        </p:nvSpPr>
        <p:spPr>
          <a:xfrm>
            <a:off x="5440680" y="3913632"/>
            <a:ext cx="1188720" cy="38404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is capital of</a:t>
            </a:r>
            <a:endParaRPr lang="en-US" sz="1100" dirty="0">
              <a:solidFill>
                <a:schemeClr val="bg1"/>
              </a:solidFill>
            </a:endParaRPr>
          </a:p>
        </p:txBody>
      </p:sp>
      <p:sp>
        <p:nvSpPr>
          <p:cNvPr id="28" name="Text 26"/>
          <p:cNvSpPr txBox="1"/>
          <p:nvPr/>
        </p:nvSpPr>
        <p:spPr>
          <a:xfrm>
            <a:off x="6629400" y="3913632"/>
            <a:ext cx="13716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Germany (Q183)</a:t>
            </a:r>
            <a:endParaRPr lang="en-US" sz="1100" dirty="0"/>
          </a:p>
        </p:txBody>
      </p:sp>
      <p:sp>
        <p:nvSpPr>
          <p:cNvPr id="29" name="Text 27"/>
          <p:cNvSpPr txBox="1"/>
          <p:nvPr/>
        </p:nvSpPr>
        <p:spPr>
          <a:xfrm>
            <a:off x="4709160" y="4370832"/>
            <a:ext cx="731520" cy="384048"/>
          </a:xfrm>
          <a:prstGeom prst="rect">
            <a:avLst/>
          </a:prstGeom>
          <a:noFill/>
          <a:ln/>
        </p:spPr>
        <p:txBody>
          <a:bodyPr wrap="square" rtlCol="0" anchor="ctr"/>
          <a:lstStyle/>
          <a:p>
            <a:pPr marL="0" indent="0">
              <a:buNone/>
            </a:pPr>
            <a:r>
              <a:rPr lang="en-US" sz="1100" dirty="0">
                <a:solidFill>
                  <a:srgbClr val="E8A838"/>
                </a:solidFill>
                <a:latin typeface="Courier New" pitchFamily="34" charset="0"/>
                <a:ea typeface="Courier New" pitchFamily="34" charset="-122"/>
                <a:cs typeface="Courier New" pitchFamily="34" charset="-120"/>
              </a:rPr>
              <a:t>P18</a:t>
            </a:r>
            <a:endParaRPr lang="en-US" sz="1100" dirty="0"/>
          </a:p>
        </p:txBody>
      </p:sp>
      <p:sp>
        <p:nvSpPr>
          <p:cNvPr id="30" name="Text 28"/>
          <p:cNvSpPr txBox="1"/>
          <p:nvPr/>
        </p:nvSpPr>
        <p:spPr>
          <a:xfrm>
            <a:off x="5440680" y="4370832"/>
            <a:ext cx="1188720" cy="38404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image</a:t>
            </a:r>
            <a:endParaRPr lang="en-US" sz="1100" dirty="0">
              <a:solidFill>
                <a:schemeClr val="bg1"/>
              </a:solidFill>
            </a:endParaRPr>
          </a:p>
        </p:txBody>
      </p:sp>
      <p:sp>
        <p:nvSpPr>
          <p:cNvPr id="31" name="Text 29"/>
          <p:cNvSpPr txBox="1"/>
          <p:nvPr/>
        </p:nvSpPr>
        <p:spPr>
          <a:xfrm>
            <a:off x="6629400" y="4370832"/>
            <a:ext cx="13716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(Reichstag photo)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txBody>
          <a:bodyPr/>
          <a:lstStyle/>
          <a:p>
            <a:endParaRPr lang="en-US"/>
          </a:p>
        </p:txBody>
      </p:sp>
      <p:sp>
        <p:nvSpPr>
          <p:cNvPr id="3" name="Text 1"/>
          <p:cNvSpPr txBox="1"/>
          <p:nvPr/>
        </p:nvSpPr>
        <p:spPr>
          <a:xfrm>
            <a:off x="457200" y="137160"/>
            <a:ext cx="8229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DBpedia: Wikipedia as a Knowledge Graph</a:t>
            </a:r>
            <a:endParaRPr lang="en-US" sz="2600" dirty="0"/>
          </a:p>
        </p:txBody>
      </p:sp>
      <p:sp>
        <p:nvSpPr>
          <p:cNvPr id="4" name="Text 2"/>
          <p:cNvSpPr txBox="1"/>
          <p:nvPr/>
        </p:nvSpPr>
        <p:spPr>
          <a:xfrm>
            <a:off x="457200" y="640080"/>
            <a:ext cx="8229600" cy="320040"/>
          </a:xfrm>
          <a:prstGeom prst="rect">
            <a:avLst/>
          </a:prstGeom>
          <a:noFill/>
          <a:ln/>
        </p:spPr>
        <p:txBody>
          <a:bodyPr wrap="square" rtlCol="0" anchor="ctr"/>
          <a:lstStyle/>
          <a:p>
            <a:pPr marL="0" indent="0">
              <a:buNone/>
            </a:pPr>
            <a:r>
              <a:rPr lang="en-US" sz="1400" i="1" dirty="0">
                <a:solidFill>
                  <a:srgbClr val="02C39A"/>
                </a:solidFill>
                <a:latin typeface="Calibri" pitchFamily="34" charset="0"/>
                <a:ea typeface="Calibri" pitchFamily="34" charset="-122"/>
                <a:cs typeface="Calibri" pitchFamily="34" charset="-120"/>
              </a:rPr>
              <a:t>From encyclopedia text to structured triples — querying with SPARQL</a:t>
            </a:r>
            <a:endParaRPr lang="en-US" sz="1400" dirty="0"/>
          </a:p>
        </p:txBody>
      </p:sp>
      <p:sp>
        <p:nvSpPr>
          <p:cNvPr id="5" name="Text 3"/>
          <p:cNvSpPr txBox="1"/>
          <p:nvPr/>
        </p:nvSpPr>
        <p:spPr>
          <a:xfrm>
            <a:off x="457200" y="1143000"/>
            <a:ext cx="8229600" cy="457200"/>
          </a:xfrm>
          <a:prstGeom prst="rect">
            <a:avLst/>
          </a:prstGeom>
          <a:noFill/>
          <a:ln/>
        </p:spPr>
        <p:txBody>
          <a:bodyPr wrap="square" rtlCol="0" anchor="ctr"/>
          <a:lstStyle/>
          <a:p>
            <a:pPr marL="0" indent="0">
              <a:lnSpc>
                <a:spcPct val="130000"/>
              </a:lnSpc>
              <a:buNone/>
            </a:pPr>
            <a:r>
              <a:rPr lang="en-US" sz="1350" dirty="0">
                <a:solidFill>
                  <a:srgbClr val="1C3553"/>
                </a:solidFill>
                <a:latin typeface="Calibri" pitchFamily="34" charset="0"/>
                <a:ea typeface="Calibri" pitchFamily="34" charset="-122"/>
                <a:cs typeface="Calibri" pitchFamily="34" charset="-120"/>
              </a:rPr>
              <a:t>DBpedia extracts structured data from Wikipedia infoboxes and makes it available as RDF triples — queryable via a live SPARQL endpoint.</a:t>
            </a:r>
            <a:endParaRPr lang="en-US" sz="1350" dirty="0"/>
          </a:p>
        </p:txBody>
      </p:sp>
      <p:sp>
        <p:nvSpPr>
          <p:cNvPr id="6" name="Shape 4"/>
          <p:cNvSpPr/>
          <p:nvPr/>
        </p:nvSpPr>
        <p:spPr>
          <a:xfrm>
            <a:off x="365759" y="1691639"/>
            <a:ext cx="4162697" cy="2002535"/>
          </a:xfrm>
          <a:prstGeom prst="rect">
            <a:avLst/>
          </a:prstGeom>
          <a:solidFill>
            <a:srgbClr val="DAEEF9"/>
          </a:solidFill>
          <a:ln w="12700">
            <a:solidFill>
              <a:srgbClr val="DAEEF9"/>
            </a:solidFill>
            <a:prstDash val="solid"/>
          </a:ln>
        </p:spPr>
        <p:txBody>
          <a:bodyPr/>
          <a:lstStyle/>
          <a:p>
            <a:endParaRPr lang="en-US"/>
          </a:p>
        </p:txBody>
      </p:sp>
      <p:sp>
        <p:nvSpPr>
          <p:cNvPr id="7" name="Text 5"/>
          <p:cNvSpPr txBox="1"/>
          <p:nvPr/>
        </p:nvSpPr>
        <p:spPr>
          <a:xfrm>
            <a:off x="548640" y="1755648"/>
            <a:ext cx="3657600" cy="347472"/>
          </a:xfrm>
          <a:prstGeom prst="rect">
            <a:avLst/>
          </a:prstGeom>
          <a:noFill/>
          <a:ln/>
        </p:spPr>
        <p:txBody>
          <a:bodyPr wrap="square"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What DBpedia Does</a:t>
            </a:r>
            <a:endParaRPr lang="en-US" sz="1500" dirty="0"/>
          </a:p>
        </p:txBody>
      </p:sp>
      <p:sp>
        <p:nvSpPr>
          <p:cNvPr id="8" name="Text 6"/>
          <p:cNvSpPr txBox="1"/>
          <p:nvPr/>
        </p:nvSpPr>
        <p:spPr>
          <a:xfrm>
            <a:off x="548640" y="2121408"/>
            <a:ext cx="3657600" cy="1353312"/>
          </a:xfrm>
          <a:prstGeom prst="rect">
            <a:avLst/>
          </a:prstGeom>
          <a:noFill/>
          <a:ln/>
        </p:spPr>
        <p:txBody>
          <a:bodyPr wrap="square" rtlCol="0" anchor="ctr"/>
          <a:lstStyle/>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Parses Wikipedia's structured infoboxes</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Converts to RDF triples with DBpedia ontology</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Exposes a public SPARQL endpoint (dbpedia.org/snorql)</a:t>
            </a:r>
            <a:endParaRPr lang="en-US" sz="1200" dirty="0"/>
          </a:p>
          <a:p>
            <a:pPr marL="0" indent="0">
              <a:lnSpc>
                <a:spcPct val="135000"/>
              </a:lnSpc>
              <a:buNone/>
            </a:pPr>
            <a:r>
              <a:rPr lang="en-US" sz="1200" dirty="0">
                <a:solidFill>
                  <a:srgbClr val="1C3553"/>
                </a:solidFill>
                <a:latin typeface="Calibri" pitchFamily="34" charset="0"/>
                <a:ea typeface="Calibri" pitchFamily="34" charset="-122"/>
                <a:cs typeface="Calibri" pitchFamily="34" charset="-120"/>
              </a:rPr>
              <a:t>• Interlinked with Wikidata, Schema.org, and other datasets</a:t>
            </a:r>
            <a:endParaRPr lang="en-US" sz="1200" dirty="0"/>
          </a:p>
        </p:txBody>
      </p:sp>
      <p:sp>
        <p:nvSpPr>
          <p:cNvPr id="9" name="Shape 7"/>
          <p:cNvSpPr/>
          <p:nvPr/>
        </p:nvSpPr>
        <p:spPr>
          <a:xfrm>
            <a:off x="4528457" y="1691640"/>
            <a:ext cx="4297680" cy="2002536"/>
          </a:xfrm>
          <a:prstGeom prst="rect">
            <a:avLst/>
          </a:prstGeom>
          <a:solidFill>
            <a:srgbClr val="0D1B2A"/>
          </a:solidFill>
          <a:ln w="12700">
            <a:solidFill>
              <a:srgbClr val="0D1B2A"/>
            </a:solidFill>
            <a:prstDash val="solid"/>
          </a:ln>
        </p:spPr>
        <p:txBody>
          <a:bodyPr/>
          <a:lstStyle/>
          <a:p>
            <a:endParaRPr lang="en-US"/>
          </a:p>
        </p:txBody>
      </p:sp>
      <p:sp>
        <p:nvSpPr>
          <p:cNvPr id="10" name="Text 8"/>
          <p:cNvSpPr txBox="1"/>
          <p:nvPr/>
        </p:nvSpPr>
        <p:spPr>
          <a:xfrm>
            <a:off x="4709160" y="1755648"/>
            <a:ext cx="4023360" cy="320040"/>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Find White Star Line ships:</a:t>
            </a:r>
            <a:endParaRPr lang="en-US" sz="1200" dirty="0"/>
          </a:p>
        </p:txBody>
      </p:sp>
      <p:sp>
        <p:nvSpPr>
          <p:cNvPr id="11" name="Text 9"/>
          <p:cNvSpPr txBox="1"/>
          <p:nvPr/>
        </p:nvSpPr>
        <p:spPr>
          <a:xfrm>
            <a:off x="4709160" y="2170029"/>
            <a:ext cx="4023360" cy="1417320"/>
          </a:xfrm>
          <a:prstGeom prst="rect">
            <a:avLst/>
          </a:prstGeom>
          <a:noFill/>
          <a:ln/>
        </p:spPr>
        <p:txBody>
          <a:bodyPr wrap="square" rtlCol="0" anchor="ctr"/>
          <a:lstStyle/>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SELECT ?ship ?status ?route</a:t>
            </a:r>
            <a:endParaRPr lang="en-US" sz="1150" dirty="0"/>
          </a:p>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WHERE {</a:t>
            </a:r>
            <a:endParaRPr lang="en-US" sz="1150" dirty="0"/>
          </a:p>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  ?ship rdf:type dbo:Ship .</a:t>
            </a:r>
            <a:endParaRPr lang="en-US" sz="1150" dirty="0"/>
          </a:p>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  ?ship dbo:owner dbr:White_Star_Line .</a:t>
            </a:r>
            <a:endParaRPr lang="en-US" sz="1150" dirty="0"/>
          </a:p>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  ?ship dbo:status ?status .</a:t>
            </a:r>
            <a:endParaRPr lang="en-US" sz="1150" dirty="0"/>
          </a:p>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  ?ship dbp:shipRoute ?route</a:t>
            </a:r>
            <a:endParaRPr lang="en-US" sz="1150" dirty="0"/>
          </a:p>
          <a:p>
            <a:pPr marL="0" indent="0">
              <a:lnSpc>
                <a:spcPct val="130000"/>
              </a:lnSpc>
              <a:buNone/>
            </a:pPr>
            <a:r>
              <a:rPr lang="en-US" sz="1150" dirty="0">
                <a:solidFill>
                  <a:srgbClr val="E8A838"/>
                </a:solidFill>
                <a:latin typeface="Courier New" pitchFamily="34" charset="0"/>
                <a:ea typeface="Courier New" pitchFamily="34" charset="-122"/>
                <a:cs typeface="Courier New" pitchFamily="34" charset="-120"/>
              </a:rPr>
              <a:t>}LIMIT 10</a:t>
            </a:r>
            <a:endParaRPr lang="en-US" sz="1150" dirty="0"/>
          </a:p>
        </p:txBody>
      </p:sp>
      <p:sp>
        <p:nvSpPr>
          <p:cNvPr id="12" name="Shape 10"/>
          <p:cNvSpPr/>
          <p:nvPr/>
        </p:nvSpPr>
        <p:spPr>
          <a:xfrm>
            <a:off x="365760" y="3703320"/>
            <a:ext cx="8412480" cy="1234440"/>
          </a:xfrm>
          <a:prstGeom prst="rect">
            <a:avLst/>
          </a:prstGeom>
          <a:solidFill>
            <a:srgbClr val="065A82"/>
          </a:solidFill>
          <a:ln w="12700">
            <a:solidFill>
              <a:srgbClr val="065A82"/>
            </a:solidFill>
            <a:prstDash val="solid"/>
          </a:ln>
        </p:spPr>
        <p:txBody>
          <a:bodyPr/>
          <a:lstStyle/>
          <a:p>
            <a:endParaRPr lang="en-US"/>
          </a:p>
        </p:txBody>
      </p:sp>
      <p:sp>
        <p:nvSpPr>
          <p:cNvPr id="13" name="Text 11"/>
          <p:cNvSpPr txBox="1"/>
          <p:nvPr/>
        </p:nvSpPr>
        <p:spPr>
          <a:xfrm>
            <a:off x="548640" y="3767328"/>
            <a:ext cx="8046720" cy="347472"/>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  The Titanic Connection</a:t>
            </a:r>
            <a:endParaRPr lang="en-US" sz="1500" dirty="0"/>
          </a:p>
        </p:txBody>
      </p:sp>
      <p:sp>
        <p:nvSpPr>
          <p:cNvPr id="14" name="Text 12"/>
          <p:cNvSpPr txBox="1"/>
          <p:nvPr/>
        </p:nvSpPr>
        <p:spPr>
          <a:xfrm>
            <a:off x="548640" y="4114800"/>
            <a:ext cx="8046720" cy="749808"/>
          </a:xfrm>
          <a:prstGeom prst="rect">
            <a:avLst/>
          </a:prstGeom>
          <a:noFill/>
          <a:ln/>
        </p:spPr>
        <p:txBody>
          <a:bodyPr wrap="square"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That query returns White Star Line ships — including RMS Titanic. We used the same Titanic dataset in the Probability module (Gender, Class, Survival). Now you can query the ship's structured knowledge graph directly. Two lenses, one dataset.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1A2C"/>
        </a:solidFill>
        <a:effectLst/>
      </p:bgPr>
    </p:bg>
    <p:spTree>
      <p:nvGrpSpPr>
        <p:cNvPr id="1" name=""/>
        <p:cNvGrpSpPr/>
        <p:nvPr/>
      </p:nvGrpSpPr>
      <p:grpSpPr>
        <a:xfrm>
          <a:off x="0" y="0"/>
          <a:ext cx="0" cy="0"/>
          <a:chOff x="0" y="0"/>
          <a:chExt cx="0" cy="0"/>
        </a:xfrm>
      </p:grpSpPr>
      <p:sp>
        <p:nvSpPr>
          <p:cNvPr id="2" name="Shape 0"/>
          <p:cNvSpPr/>
          <p:nvPr/>
        </p:nvSpPr>
        <p:spPr>
          <a:xfrm>
            <a:off x="6583680" y="-548640"/>
            <a:ext cx="4114800" cy="4114800"/>
          </a:xfrm>
          <a:prstGeom prst="ellipse">
            <a:avLst/>
          </a:prstGeom>
          <a:solidFill>
            <a:srgbClr val="065A82"/>
          </a:solidFill>
          <a:ln w="12700">
            <a:solidFill>
              <a:srgbClr val="065A82"/>
            </a:solidFill>
            <a:prstDash val="solid"/>
          </a:ln>
        </p:spPr>
        <p:txBody>
          <a:bodyPr/>
          <a:lstStyle/>
          <a:p>
            <a:endParaRPr lang="en-US"/>
          </a:p>
        </p:txBody>
      </p:sp>
      <p:sp>
        <p:nvSpPr>
          <p:cNvPr id="3" name="Text 1"/>
          <p:cNvSpPr txBox="1"/>
          <p:nvPr/>
        </p:nvSpPr>
        <p:spPr>
          <a:xfrm>
            <a:off x="548640" y="274320"/>
            <a:ext cx="7772400" cy="1280160"/>
          </a:xfrm>
          <a:prstGeom prst="rect">
            <a:avLst/>
          </a:prstGeom>
          <a:noFill/>
          <a:ln/>
        </p:spPr>
        <p:txBody>
          <a:bodyPr wrap="square" rtlCol="0" anchor="ctr"/>
          <a:lstStyle/>
          <a:p>
            <a:pPr marL="0" indent="0">
              <a:lnSpc>
                <a:spcPct val="120000"/>
              </a:lnSpc>
              <a:buNone/>
            </a:pPr>
            <a:r>
              <a:rPr lang="en-US" sz="3200" b="1" dirty="0">
                <a:solidFill>
                  <a:srgbClr val="FFFFFF"/>
                </a:solidFill>
                <a:latin typeface="Cambria" pitchFamily="34" charset="0"/>
                <a:ea typeface="Cambria" pitchFamily="34" charset="-122"/>
                <a:cs typeface="Cambria" pitchFamily="34" charset="-120"/>
              </a:rPr>
              <a:t>The Semantic Web Is Already</a:t>
            </a:r>
            <a:endParaRPr lang="en-US" sz="3200" dirty="0"/>
          </a:p>
          <a:p>
            <a:pPr marL="0" indent="0">
              <a:lnSpc>
                <a:spcPct val="120000"/>
              </a:lnSpc>
              <a:buNone/>
            </a:pPr>
            <a:r>
              <a:rPr lang="en-US" sz="3200" b="1" dirty="0">
                <a:solidFill>
                  <a:srgbClr val="FFFFFF"/>
                </a:solidFill>
                <a:latin typeface="Cambria" pitchFamily="34" charset="0"/>
                <a:ea typeface="Cambria" pitchFamily="34" charset="-122"/>
                <a:cs typeface="Cambria" pitchFamily="34" charset="-120"/>
              </a:rPr>
              <a:t>Powering AI You Use Every Day</a:t>
            </a:r>
            <a:endParaRPr lang="en-US" sz="3200" dirty="0"/>
          </a:p>
        </p:txBody>
      </p:sp>
      <p:sp>
        <p:nvSpPr>
          <p:cNvPr id="4" name="Shape 2"/>
          <p:cNvSpPr/>
          <p:nvPr/>
        </p:nvSpPr>
        <p:spPr>
          <a:xfrm>
            <a:off x="457200" y="1828800"/>
            <a:ext cx="4023360" cy="1051560"/>
          </a:xfrm>
          <a:prstGeom prst="rect">
            <a:avLst/>
          </a:prstGeom>
          <a:solidFill>
            <a:srgbClr val="065A82"/>
          </a:solidFill>
          <a:ln w="12700">
            <a:solidFill>
              <a:srgbClr val="065A82"/>
            </a:solidFill>
            <a:prstDash val="solid"/>
          </a:ln>
        </p:spPr>
        <p:txBody>
          <a:bodyPr/>
          <a:lstStyle/>
          <a:p>
            <a:endParaRPr lang="en-US"/>
          </a:p>
        </p:txBody>
      </p:sp>
      <p:sp>
        <p:nvSpPr>
          <p:cNvPr id="5" name="Text 3"/>
          <p:cNvSpPr txBox="1"/>
          <p:nvPr/>
        </p:nvSpPr>
        <p:spPr>
          <a:xfrm>
            <a:off x="594360" y="1901952"/>
            <a:ext cx="3749040" cy="320040"/>
          </a:xfrm>
          <a:prstGeom prst="rect">
            <a:avLst/>
          </a:prstGeom>
          <a:noFill/>
          <a:ln/>
        </p:spPr>
        <p:txBody>
          <a:bodyPr wrap="square" lIns="0" tIns="0" rIns="0" bIns="0"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  Google Knowledge Panel</a:t>
            </a:r>
            <a:endParaRPr lang="en-US" sz="1400" dirty="0"/>
          </a:p>
        </p:txBody>
      </p:sp>
      <p:sp>
        <p:nvSpPr>
          <p:cNvPr id="6" name="Text 4"/>
          <p:cNvSpPr txBox="1"/>
          <p:nvPr/>
        </p:nvSpPr>
        <p:spPr>
          <a:xfrm>
            <a:off x="594360" y="2240280"/>
            <a:ext cx="3749040" cy="594360"/>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That sidebar showing a person's bio, birth date, and photos when you Google them? That's a knowledge graph — Google's Knowledge Graph has billions of entities, with Wikidata as a key source.</a:t>
            </a:r>
            <a:endParaRPr lang="en-US" sz="1150" dirty="0"/>
          </a:p>
        </p:txBody>
      </p:sp>
      <p:sp>
        <p:nvSpPr>
          <p:cNvPr id="7" name="Shape 5"/>
          <p:cNvSpPr/>
          <p:nvPr/>
        </p:nvSpPr>
        <p:spPr>
          <a:xfrm>
            <a:off x="457200" y="3017520"/>
            <a:ext cx="4023360" cy="1051560"/>
          </a:xfrm>
          <a:prstGeom prst="rect">
            <a:avLst/>
          </a:prstGeom>
          <a:solidFill>
            <a:srgbClr val="065A82"/>
          </a:solidFill>
          <a:ln w="12700">
            <a:solidFill>
              <a:srgbClr val="065A82"/>
            </a:solidFill>
            <a:prstDash val="solid"/>
          </a:ln>
        </p:spPr>
        <p:txBody>
          <a:bodyPr/>
          <a:lstStyle/>
          <a:p>
            <a:endParaRPr lang="en-US"/>
          </a:p>
        </p:txBody>
      </p:sp>
      <p:sp>
        <p:nvSpPr>
          <p:cNvPr id="8" name="Text 6"/>
          <p:cNvSpPr txBox="1"/>
          <p:nvPr/>
        </p:nvSpPr>
        <p:spPr>
          <a:xfrm>
            <a:off x="594360" y="3090672"/>
            <a:ext cx="3749040" cy="320040"/>
          </a:xfrm>
          <a:prstGeom prst="rect">
            <a:avLst/>
          </a:prstGeom>
          <a:noFill/>
          <a:ln/>
        </p:spPr>
        <p:txBody>
          <a:bodyPr wrap="square" lIns="0" tIns="0" rIns="0" bIns="0"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  ChatGPT &amp; Large Language Models</a:t>
            </a:r>
            <a:endParaRPr lang="en-US" sz="1400" dirty="0"/>
          </a:p>
        </p:txBody>
      </p:sp>
      <p:sp>
        <p:nvSpPr>
          <p:cNvPr id="9" name="Text 7"/>
          <p:cNvSpPr txBox="1"/>
          <p:nvPr/>
        </p:nvSpPr>
        <p:spPr>
          <a:xfrm>
            <a:off x="594360" y="3429000"/>
            <a:ext cx="3749040" cy="594360"/>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LLMs were trained on text that includes structured data from knowledge graphs. Knowledge graphs also help ground LLM outputs — 'retrieval-augmented generation' often uses KG lookups to verify facts.</a:t>
            </a:r>
            <a:endParaRPr lang="en-US" sz="1150" dirty="0"/>
          </a:p>
        </p:txBody>
      </p:sp>
      <p:sp>
        <p:nvSpPr>
          <p:cNvPr id="10" name="Shape 8"/>
          <p:cNvSpPr/>
          <p:nvPr/>
        </p:nvSpPr>
        <p:spPr>
          <a:xfrm>
            <a:off x="4754880" y="1828800"/>
            <a:ext cx="4023360" cy="1051560"/>
          </a:xfrm>
          <a:prstGeom prst="rect">
            <a:avLst/>
          </a:prstGeom>
          <a:solidFill>
            <a:srgbClr val="065A82"/>
          </a:solidFill>
          <a:ln w="12700">
            <a:solidFill>
              <a:srgbClr val="065A82"/>
            </a:solidFill>
            <a:prstDash val="solid"/>
          </a:ln>
        </p:spPr>
        <p:txBody>
          <a:bodyPr/>
          <a:lstStyle/>
          <a:p>
            <a:endParaRPr lang="en-US"/>
          </a:p>
        </p:txBody>
      </p:sp>
      <p:sp>
        <p:nvSpPr>
          <p:cNvPr id="11" name="Text 9"/>
          <p:cNvSpPr txBox="1"/>
          <p:nvPr/>
        </p:nvSpPr>
        <p:spPr>
          <a:xfrm>
            <a:off x="4892040" y="1901952"/>
            <a:ext cx="3749040" cy="320040"/>
          </a:xfrm>
          <a:prstGeom prst="rect">
            <a:avLst/>
          </a:prstGeom>
          <a:noFill/>
          <a:ln/>
        </p:spPr>
        <p:txBody>
          <a:bodyPr wrap="square" lIns="0" tIns="0" rIns="0" bIns="0"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  Siri, Alexa, Cortana</a:t>
            </a:r>
            <a:endParaRPr lang="en-US" sz="1400" dirty="0"/>
          </a:p>
        </p:txBody>
      </p:sp>
      <p:sp>
        <p:nvSpPr>
          <p:cNvPr id="12" name="Text 10"/>
          <p:cNvSpPr txBox="1"/>
          <p:nvPr/>
        </p:nvSpPr>
        <p:spPr>
          <a:xfrm>
            <a:off x="4892040" y="2240280"/>
            <a:ext cx="3749040" cy="594360"/>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'Who directed Oppenheimer?' — these questions are answered by traversing a knowledge graph, not by searching documents. Wikidata and DBpedia are directly used.</a:t>
            </a:r>
            <a:endParaRPr lang="en-US" sz="1150" dirty="0"/>
          </a:p>
        </p:txBody>
      </p:sp>
      <p:sp>
        <p:nvSpPr>
          <p:cNvPr id="13" name="Shape 11"/>
          <p:cNvSpPr/>
          <p:nvPr/>
        </p:nvSpPr>
        <p:spPr>
          <a:xfrm>
            <a:off x="4754880" y="3017520"/>
            <a:ext cx="4023360" cy="1051560"/>
          </a:xfrm>
          <a:prstGeom prst="rect">
            <a:avLst/>
          </a:prstGeom>
          <a:solidFill>
            <a:srgbClr val="065A82"/>
          </a:solidFill>
          <a:ln w="12700">
            <a:solidFill>
              <a:srgbClr val="065A82"/>
            </a:solidFill>
            <a:prstDash val="solid"/>
          </a:ln>
        </p:spPr>
        <p:txBody>
          <a:bodyPr/>
          <a:lstStyle/>
          <a:p>
            <a:endParaRPr lang="en-US"/>
          </a:p>
        </p:txBody>
      </p:sp>
      <p:sp>
        <p:nvSpPr>
          <p:cNvPr id="14" name="Text 12"/>
          <p:cNvSpPr txBox="1"/>
          <p:nvPr/>
        </p:nvSpPr>
        <p:spPr>
          <a:xfrm>
            <a:off x="4892040" y="3090672"/>
            <a:ext cx="3749040" cy="320040"/>
          </a:xfrm>
          <a:prstGeom prst="rect">
            <a:avLst/>
          </a:prstGeom>
          <a:noFill/>
          <a:ln/>
        </p:spPr>
        <p:txBody>
          <a:bodyPr wrap="square" lIns="0" tIns="0" rIns="0" bIns="0"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  Semantic Search</a:t>
            </a:r>
            <a:endParaRPr lang="en-US" sz="1400" dirty="0"/>
          </a:p>
        </p:txBody>
      </p:sp>
      <p:sp>
        <p:nvSpPr>
          <p:cNvPr id="15" name="Text 13"/>
          <p:cNvSpPr txBox="1"/>
          <p:nvPr/>
        </p:nvSpPr>
        <p:spPr>
          <a:xfrm>
            <a:off x="4892040" y="3429000"/>
            <a:ext cx="3749040" cy="594360"/>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Search engines now do entity linking — recognizing 'Einstein' as a person and 'relativity' as his theory, then querying a KG for related structured information, not just keyword matches.</a:t>
            </a:r>
            <a:endParaRPr lang="en-US" sz="1150" dirty="0"/>
          </a:p>
        </p:txBody>
      </p:sp>
      <p:sp>
        <p:nvSpPr>
          <p:cNvPr id="16" name="Text 14"/>
          <p:cNvSpPr txBox="1"/>
          <p:nvPr/>
        </p:nvSpPr>
        <p:spPr>
          <a:xfrm>
            <a:off x="457200" y="4160520"/>
            <a:ext cx="8229600" cy="411480"/>
          </a:xfrm>
          <a:prstGeom prst="rect">
            <a:avLst/>
          </a:prstGeom>
          <a:noFill/>
          <a:ln/>
        </p:spPr>
        <p:txBody>
          <a:bodyPr wrap="square" rtlCol="0" anchor="ctr"/>
          <a:lstStyle/>
          <a:p>
            <a:pPr marL="0" indent="0">
              <a:buNone/>
            </a:pPr>
            <a:r>
              <a:rPr lang="en-US" sz="1400" i="1" dirty="0">
                <a:solidFill>
                  <a:srgbClr val="02C39A"/>
                </a:solidFill>
                <a:latin typeface="Calibri" pitchFamily="34" charset="0"/>
                <a:ea typeface="Calibri" pitchFamily="34" charset="-122"/>
                <a:cs typeface="Calibri" pitchFamily="34" charset="-120"/>
              </a:rPr>
              <a:t>This is not theoretical. The tools we're learning today are part of production infrastructure at global scale.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1A2C"/>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8229600" cy="47548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Connecting It All</a:t>
            </a:r>
            <a:endParaRPr lang="en-US" sz="2800" dirty="0"/>
          </a:p>
        </p:txBody>
      </p:sp>
      <p:sp>
        <p:nvSpPr>
          <p:cNvPr id="3" name="Text 1"/>
          <p:cNvSpPr txBox="1"/>
          <p:nvPr/>
        </p:nvSpPr>
        <p:spPr>
          <a:xfrm>
            <a:off x="548640" y="731520"/>
            <a:ext cx="8229600" cy="347472"/>
          </a:xfrm>
          <a:prstGeom prst="rect">
            <a:avLst/>
          </a:prstGeom>
          <a:noFill/>
          <a:ln/>
        </p:spPr>
        <p:txBody>
          <a:bodyPr wrap="square" rtlCol="0" anchor="ctr"/>
          <a:lstStyle/>
          <a:p>
            <a:pPr marL="0" indent="0">
              <a:buNone/>
            </a:pPr>
            <a:r>
              <a:rPr lang="en-US" sz="1400" i="1" dirty="0">
                <a:solidFill>
                  <a:srgbClr val="5A7A99"/>
                </a:solidFill>
                <a:latin typeface="Calibri" pitchFamily="34" charset="0"/>
                <a:ea typeface="Calibri" pitchFamily="34" charset="-122"/>
                <a:cs typeface="Calibri" pitchFamily="34" charset="-120"/>
              </a:rPr>
              <a:t>Each week's tools are not separate — they're complementary lenses on the same problem</a:t>
            </a:r>
            <a:endParaRPr lang="en-US" sz="1400" dirty="0"/>
          </a:p>
        </p:txBody>
      </p:sp>
      <p:sp>
        <p:nvSpPr>
          <p:cNvPr id="4" name="Shape 2"/>
          <p:cNvSpPr/>
          <p:nvPr/>
        </p:nvSpPr>
        <p:spPr>
          <a:xfrm>
            <a:off x="365760" y="1280160"/>
            <a:ext cx="2011680" cy="411480"/>
          </a:xfrm>
          <a:prstGeom prst="rect">
            <a:avLst/>
          </a:prstGeom>
          <a:solidFill>
            <a:srgbClr val="1C7293"/>
          </a:solidFill>
          <a:ln w="12700">
            <a:solidFill>
              <a:srgbClr val="1C7293"/>
            </a:solidFill>
            <a:prstDash val="solid"/>
          </a:ln>
        </p:spPr>
        <p:txBody>
          <a:bodyPr/>
          <a:lstStyle/>
          <a:p>
            <a:endParaRPr lang="en-US"/>
          </a:p>
        </p:txBody>
      </p:sp>
      <p:sp>
        <p:nvSpPr>
          <p:cNvPr id="5" name="Text 3"/>
          <p:cNvSpPr txBox="1"/>
          <p:nvPr/>
        </p:nvSpPr>
        <p:spPr>
          <a:xfrm>
            <a:off x="457200" y="1325880"/>
            <a:ext cx="1828800"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Tool</a:t>
            </a:r>
            <a:endParaRPr lang="en-US" sz="1300" dirty="0"/>
          </a:p>
        </p:txBody>
      </p:sp>
      <p:sp>
        <p:nvSpPr>
          <p:cNvPr id="6" name="Shape 4"/>
          <p:cNvSpPr/>
          <p:nvPr/>
        </p:nvSpPr>
        <p:spPr>
          <a:xfrm>
            <a:off x="2423160" y="1280160"/>
            <a:ext cx="3200400" cy="411480"/>
          </a:xfrm>
          <a:prstGeom prst="rect">
            <a:avLst/>
          </a:prstGeom>
          <a:solidFill>
            <a:srgbClr val="1C7293"/>
          </a:solidFill>
          <a:ln w="12700">
            <a:solidFill>
              <a:srgbClr val="1C7293"/>
            </a:solidFill>
            <a:prstDash val="solid"/>
          </a:ln>
        </p:spPr>
        <p:txBody>
          <a:bodyPr/>
          <a:lstStyle/>
          <a:p>
            <a:endParaRPr lang="en-US"/>
          </a:p>
        </p:txBody>
      </p:sp>
      <p:sp>
        <p:nvSpPr>
          <p:cNvPr id="7" name="Text 5"/>
          <p:cNvSpPr txBox="1"/>
          <p:nvPr/>
        </p:nvSpPr>
        <p:spPr>
          <a:xfrm>
            <a:off x="2514600" y="1325880"/>
            <a:ext cx="3017520"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What it captures</a:t>
            </a:r>
            <a:endParaRPr lang="en-US" sz="1300" dirty="0"/>
          </a:p>
        </p:txBody>
      </p:sp>
      <p:sp>
        <p:nvSpPr>
          <p:cNvPr id="8" name="Shape 6"/>
          <p:cNvSpPr/>
          <p:nvPr/>
        </p:nvSpPr>
        <p:spPr>
          <a:xfrm>
            <a:off x="5669280" y="1280160"/>
            <a:ext cx="3108960" cy="411480"/>
          </a:xfrm>
          <a:prstGeom prst="rect">
            <a:avLst/>
          </a:prstGeom>
          <a:solidFill>
            <a:srgbClr val="1C7293"/>
          </a:solidFill>
          <a:ln w="12700">
            <a:solidFill>
              <a:srgbClr val="1C7293"/>
            </a:solidFill>
            <a:prstDash val="solid"/>
          </a:ln>
        </p:spPr>
        <p:txBody>
          <a:bodyPr/>
          <a:lstStyle/>
          <a:p>
            <a:endParaRPr lang="en-US"/>
          </a:p>
        </p:txBody>
      </p:sp>
      <p:sp>
        <p:nvSpPr>
          <p:cNvPr id="9" name="Text 7"/>
          <p:cNvSpPr txBox="1"/>
          <p:nvPr/>
        </p:nvSpPr>
        <p:spPr>
          <a:xfrm>
            <a:off x="5760720" y="1325880"/>
            <a:ext cx="2926080"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What it misses</a:t>
            </a:r>
            <a:endParaRPr lang="en-US" sz="1300" dirty="0"/>
          </a:p>
        </p:txBody>
      </p:sp>
      <p:sp>
        <p:nvSpPr>
          <p:cNvPr id="10" name="Shape 8"/>
          <p:cNvSpPr/>
          <p:nvPr/>
        </p:nvSpPr>
        <p:spPr>
          <a:xfrm>
            <a:off x="365760" y="1737360"/>
            <a:ext cx="2011680" cy="777240"/>
          </a:xfrm>
          <a:prstGeom prst="rect">
            <a:avLst/>
          </a:prstGeom>
          <a:solidFill>
            <a:srgbClr val="065A82"/>
          </a:solidFill>
          <a:ln w="12700">
            <a:solidFill>
              <a:srgbClr val="065A82"/>
            </a:solidFill>
            <a:prstDash val="solid"/>
          </a:ln>
        </p:spPr>
        <p:txBody>
          <a:bodyPr/>
          <a:lstStyle/>
          <a:p>
            <a:endParaRPr lang="en-US"/>
          </a:p>
        </p:txBody>
      </p:sp>
      <p:sp>
        <p:nvSpPr>
          <p:cNvPr id="11" name="Text 9"/>
          <p:cNvSpPr txBox="1"/>
          <p:nvPr/>
        </p:nvSpPr>
        <p:spPr>
          <a:xfrm>
            <a:off x="457200" y="1783080"/>
            <a:ext cx="1874520" cy="713232"/>
          </a:xfrm>
          <a:prstGeom prst="rect">
            <a:avLst/>
          </a:prstGeom>
          <a:noFill/>
          <a:ln/>
        </p:spPr>
        <p:txBody>
          <a:bodyPr wrap="square" lIns="0" tIns="0" rIns="0" bIns="0" rtlCol="0" anchor="ctr"/>
          <a:lstStyle/>
          <a:p>
            <a:pPr marL="0" indent="0">
              <a:lnSpc>
                <a:spcPct val="120000"/>
              </a:lnSpc>
              <a:buNone/>
            </a:pPr>
            <a:r>
              <a:rPr lang="en-US" sz="1150" b="1" dirty="0">
                <a:solidFill>
                  <a:srgbClr val="FFFFFF"/>
                </a:solidFill>
                <a:latin typeface="Calibri" pitchFamily="34" charset="0"/>
                <a:ea typeface="Calibri" pitchFamily="34" charset="-122"/>
                <a:cs typeface="Calibri" pitchFamily="34" charset="-120"/>
              </a:rPr>
              <a:t>Probability &amp;</a:t>
            </a:r>
            <a:endParaRPr lang="en-US" sz="1150" dirty="0"/>
          </a:p>
          <a:p>
            <a:pPr marL="0" indent="0">
              <a:lnSpc>
                <a:spcPct val="120000"/>
              </a:lnSpc>
              <a:buNone/>
            </a:pPr>
            <a:r>
              <a:rPr lang="en-US" sz="1150" b="1" dirty="0">
                <a:solidFill>
                  <a:srgbClr val="FFFFFF"/>
                </a:solidFill>
                <a:latin typeface="Calibri" pitchFamily="34" charset="0"/>
                <a:ea typeface="Calibri" pitchFamily="34" charset="-122"/>
                <a:cs typeface="Calibri" pitchFamily="34" charset="-120"/>
              </a:rPr>
              <a:t>Statistics</a:t>
            </a:r>
            <a:endParaRPr lang="en-US" sz="1150" dirty="0"/>
          </a:p>
        </p:txBody>
      </p:sp>
      <p:sp>
        <p:nvSpPr>
          <p:cNvPr id="12" name="Shape 10"/>
          <p:cNvSpPr/>
          <p:nvPr/>
        </p:nvSpPr>
        <p:spPr>
          <a:xfrm>
            <a:off x="2423160" y="1737360"/>
            <a:ext cx="3200400" cy="777240"/>
          </a:xfrm>
          <a:prstGeom prst="rect">
            <a:avLst/>
          </a:prstGeom>
          <a:solidFill>
            <a:srgbClr val="0D2137"/>
          </a:solidFill>
          <a:ln w="12700">
            <a:solidFill>
              <a:srgbClr val="0D2137"/>
            </a:solidFill>
            <a:prstDash val="solid"/>
          </a:ln>
        </p:spPr>
        <p:txBody>
          <a:bodyPr/>
          <a:lstStyle/>
          <a:p>
            <a:endParaRPr lang="en-US"/>
          </a:p>
        </p:txBody>
      </p:sp>
      <p:sp>
        <p:nvSpPr>
          <p:cNvPr id="13" name="Text 11"/>
          <p:cNvSpPr txBox="1"/>
          <p:nvPr/>
        </p:nvSpPr>
        <p:spPr>
          <a:xfrm>
            <a:off x="2514600" y="1783080"/>
            <a:ext cx="306324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Uncertainty, distributions,</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patterns in data</a:t>
            </a:r>
            <a:endParaRPr lang="en-US" sz="1150" dirty="0"/>
          </a:p>
        </p:txBody>
      </p:sp>
      <p:sp>
        <p:nvSpPr>
          <p:cNvPr id="14" name="Shape 12"/>
          <p:cNvSpPr/>
          <p:nvPr/>
        </p:nvSpPr>
        <p:spPr>
          <a:xfrm>
            <a:off x="5669280" y="1737360"/>
            <a:ext cx="3108960" cy="777240"/>
          </a:xfrm>
          <a:prstGeom prst="rect">
            <a:avLst/>
          </a:prstGeom>
          <a:solidFill>
            <a:srgbClr val="0D2137"/>
          </a:solidFill>
          <a:ln w="12700">
            <a:solidFill>
              <a:srgbClr val="0D2137"/>
            </a:solidFill>
            <a:prstDash val="solid"/>
          </a:ln>
        </p:spPr>
        <p:txBody>
          <a:bodyPr/>
          <a:lstStyle/>
          <a:p>
            <a:endParaRPr lang="en-US"/>
          </a:p>
        </p:txBody>
      </p:sp>
      <p:sp>
        <p:nvSpPr>
          <p:cNvPr id="15" name="Text 13"/>
          <p:cNvSpPr txBox="1"/>
          <p:nvPr/>
        </p:nvSpPr>
        <p:spPr>
          <a:xfrm>
            <a:off x="5760720" y="1783080"/>
            <a:ext cx="297180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Explicit relationships</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between entities</a:t>
            </a:r>
            <a:endParaRPr lang="en-US" sz="1150" dirty="0"/>
          </a:p>
        </p:txBody>
      </p:sp>
      <p:sp>
        <p:nvSpPr>
          <p:cNvPr id="16" name="Shape 14"/>
          <p:cNvSpPr/>
          <p:nvPr/>
        </p:nvSpPr>
        <p:spPr>
          <a:xfrm>
            <a:off x="365760" y="2542032"/>
            <a:ext cx="2011680" cy="777240"/>
          </a:xfrm>
          <a:prstGeom prst="rect">
            <a:avLst/>
          </a:prstGeom>
          <a:solidFill>
            <a:srgbClr val="065A82"/>
          </a:solidFill>
          <a:ln w="12700">
            <a:solidFill>
              <a:srgbClr val="065A82"/>
            </a:solidFill>
            <a:prstDash val="solid"/>
          </a:ln>
        </p:spPr>
        <p:txBody>
          <a:bodyPr/>
          <a:lstStyle/>
          <a:p>
            <a:endParaRPr lang="en-US"/>
          </a:p>
        </p:txBody>
      </p:sp>
      <p:sp>
        <p:nvSpPr>
          <p:cNvPr id="17" name="Text 15"/>
          <p:cNvSpPr txBox="1"/>
          <p:nvPr/>
        </p:nvSpPr>
        <p:spPr>
          <a:xfrm>
            <a:off x="457200" y="2587752"/>
            <a:ext cx="1874520" cy="713232"/>
          </a:xfrm>
          <a:prstGeom prst="rect">
            <a:avLst/>
          </a:prstGeom>
          <a:noFill/>
          <a:ln/>
        </p:spPr>
        <p:txBody>
          <a:bodyPr wrap="square" lIns="0" tIns="0" rIns="0" bIns="0" rtlCol="0" anchor="ctr"/>
          <a:lstStyle/>
          <a:p>
            <a:pPr marL="0" indent="0">
              <a:lnSpc>
                <a:spcPct val="120000"/>
              </a:lnSpc>
              <a:buNone/>
            </a:pPr>
            <a:r>
              <a:rPr lang="en-US" sz="1150" b="1" dirty="0">
                <a:solidFill>
                  <a:srgbClr val="FFFFFF"/>
                </a:solidFill>
                <a:latin typeface="Calibri" pitchFamily="34" charset="0"/>
                <a:ea typeface="Calibri" pitchFamily="34" charset="-122"/>
                <a:cs typeface="Calibri" pitchFamily="34" charset="-120"/>
              </a:rPr>
              <a:t>Word Embeddings</a:t>
            </a:r>
            <a:endParaRPr lang="en-US" sz="1150" dirty="0"/>
          </a:p>
          <a:p>
            <a:pPr marL="0" indent="0">
              <a:lnSpc>
                <a:spcPct val="120000"/>
              </a:lnSpc>
              <a:buNone/>
            </a:pPr>
            <a:r>
              <a:rPr lang="en-US" sz="1150" b="1" dirty="0">
                <a:solidFill>
                  <a:srgbClr val="FFFFFF"/>
                </a:solidFill>
                <a:latin typeface="Calibri" pitchFamily="34" charset="0"/>
                <a:ea typeface="Calibri" pitchFamily="34" charset="-122"/>
                <a:cs typeface="Calibri" pitchFamily="34" charset="-120"/>
              </a:rPr>
              <a:t>(Week 5)</a:t>
            </a:r>
            <a:endParaRPr lang="en-US" sz="1150" dirty="0"/>
          </a:p>
        </p:txBody>
      </p:sp>
      <p:sp>
        <p:nvSpPr>
          <p:cNvPr id="18" name="Shape 16"/>
          <p:cNvSpPr/>
          <p:nvPr/>
        </p:nvSpPr>
        <p:spPr>
          <a:xfrm>
            <a:off x="2423160" y="2542032"/>
            <a:ext cx="3200400" cy="777240"/>
          </a:xfrm>
          <a:prstGeom prst="rect">
            <a:avLst/>
          </a:prstGeom>
          <a:solidFill>
            <a:srgbClr val="0A1A2A"/>
          </a:solidFill>
          <a:ln w="12700">
            <a:solidFill>
              <a:srgbClr val="0A1A2A"/>
            </a:solidFill>
            <a:prstDash val="solid"/>
          </a:ln>
        </p:spPr>
        <p:txBody>
          <a:bodyPr/>
          <a:lstStyle/>
          <a:p>
            <a:endParaRPr lang="en-US"/>
          </a:p>
        </p:txBody>
      </p:sp>
      <p:sp>
        <p:nvSpPr>
          <p:cNvPr id="19" name="Text 17"/>
          <p:cNvSpPr txBox="1"/>
          <p:nvPr/>
        </p:nvSpPr>
        <p:spPr>
          <a:xfrm>
            <a:off x="2514600" y="2587752"/>
            <a:ext cx="306324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Semantic similarity —</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'king' ≈ 'queen'</a:t>
            </a:r>
            <a:endParaRPr lang="en-US" sz="1150" dirty="0"/>
          </a:p>
        </p:txBody>
      </p:sp>
      <p:sp>
        <p:nvSpPr>
          <p:cNvPr id="20" name="Shape 18"/>
          <p:cNvSpPr/>
          <p:nvPr/>
        </p:nvSpPr>
        <p:spPr>
          <a:xfrm>
            <a:off x="5669280" y="2542032"/>
            <a:ext cx="3108960" cy="777240"/>
          </a:xfrm>
          <a:prstGeom prst="rect">
            <a:avLst/>
          </a:prstGeom>
          <a:solidFill>
            <a:srgbClr val="0A1A2A"/>
          </a:solidFill>
          <a:ln w="12700">
            <a:solidFill>
              <a:srgbClr val="0A1A2A"/>
            </a:solidFill>
            <a:prstDash val="solid"/>
          </a:ln>
        </p:spPr>
        <p:txBody>
          <a:bodyPr/>
          <a:lstStyle/>
          <a:p>
            <a:endParaRPr lang="en-US"/>
          </a:p>
        </p:txBody>
      </p:sp>
      <p:sp>
        <p:nvSpPr>
          <p:cNvPr id="21" name="Text 19"/>
          <p:cNvSpPr txBox="1"/>
          <p:nvPr/>
        </p:nvSpPr>
        <p:spPr>
          <a:xfrm>
            <a:off x="5760720" y="2587752"/>
            <a:ext cx="297180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Typed, directed relationships —</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'A is capital of B'</a:t>
            </a:r>
            <a:endParaRPr lang="en-US" sz="1150" dirty="0"/>
          </a:p>
        </p:txBody>
      </p:sp>
      <p:sp>
        <p:nvSpPr>
          <p:cNvPr id="22" name="Shape 20"/>
          <p:cNvSpPr/>
          <p:nvPr/>
        </p:nvSpPr>
        <p:spPr>
          <a:xfrm>
            <a:off x="365760" y="3346704"/>
            <a:ext cx="2011680" cy="777240"/>
          </a:xfrm>
          <a:prstGeom prst="rect">
            <a:avLst/>
          </a:prstGeom>
          <a:solidFill>
            <a:srgbClr val="02C39A"/>
          </a:solidFill>
          <a:ln w="12700">
            <a:solidFill>
              <a:srgbClr val="02C39A"/>
            </a:solidFill>
            <a:prstDash val="solid"/>
          </a:ln>
        </p:spPr>
        <p:txBody>
          <a:bodyPr/>
          <a:lstStyle/>
          <a:p>
            <a:endParaRPr lang="en-US"/>
          </a:p>
        </p:txBody>
      </p:sp>
      <p:sp>
        <p:nvSpPr>
          <p:cNvPr id="23" name="Text 21"/>
          <p:cNvSpPr txBox="1"/>
          <p:nvPr/>
        </p:nvSpPr>
        <p:spPr>
          <a:xfrm>
            <a:off x="457200" y="3392424"/>
            <a:ext cx="1874520" cy="713232"/>
          </a:xfrm>
          <a:prstGeom prst="rect">
            <a:avLst/>
          </a:prstGeom>
          <a:noFill/>
          <a:ln/>
        </p:spPr>
        <p:txBody>
          <a:bodyPr wrap="square" lIns="0" tIns="0" rIns="0" bIns="0" rtlCol="0" anchor="ctr"/>
          <a:lstStyle/>
          <a:p>
            <a:pPr marL="0" indent="0">
              <a:lnSpc>
                <a:spcPct val="120000"/>
              </a:lnSpc>
              <a:buNone/>
            </a:pPr>
            <a:r>
              <a:rPr lang="en-US" sz="1150" b="1" dirty="0">
                <a:solidFill>
                  <a:srgbClr val="0D1B2A"/>
                </a:solidFill>
                <a:latin typeface="Calibri" pitchFamily="34" charset="0"/>
                <a:ea typeface="Calibri" pitchFamily="34" charset="-122"/>
                <a:cs typeface="Calibri" pitchFamily="34" charset="-120"/>
              </a:rPr>
              <a:t>Knowledge Graphs</a:t>
            </a:r>
            <a:endParaRPr lang="en-US" sz="1150" dirty="0"/>
          </a:p>
          <a:p>
            <a:pPr marL="0" indent="0">
              <a:lnSpc>
                <a:spcPct val="120000"/>
              </a:lnSpc>
              <a:buNone/>
            </a:pPr>
            <a:r>
              <a:rPr lang="en-US" sz="1150" b="1" dirty="0">
                <a:solidFill>
                  <a:srgbClr val="0D1B2A"/>
                </a:solidFill>
                <a:latin typeface="Calibri" pitchFamily="34" charset="0"/>
                <a:ea typeface="Calibri" pitchFamily="34" charset="-122"/>
                <a:cs typeface="Calibri" pitchFamily="34" charset="-120"/>
              </a:rPr>
              <a:t>(today)</a:t>
            </a:r>
            <a:endParaRPr lang="en-US" sz="1150" dirty="0"/>
          </a:p>
        </p:txBody>
      </p:sp>
      <p:sp>
        <p:nvSpPr>
          <p:cNvPr id="24" name="Shape 22"/>
          <p:cNvSpPr/>
          <p:nvPr/>
        </p:nvSpPr>
        <p:spPr>
          <a:xfrm>
            <a:off x="2423160" y="3346704"/>
            <a:ext cx="3200400" cy="777240"/>
          </a:xfrm>
          <a:prstGeom prst="rect">
            <a:avLst/>
          </a:prstGeom>
          <a:solidFill>
            <a:srgbClr val="0D2137"/>
          </a:solidFill>
          <a:ln w="12700">
            <a:solidFill>
              <a:srgbClr val="0D2137"/>
            </a:solidFill>
            <a:prstDash val="solid"/>
          </a:ln>
        </p:spPr>
        <p:txBody>
          <a:bodyPr/>
          <a:lstStyle/>
          <a:p>
            <a:endParaRPr lang="en-US"/>
          </a:p>
        </p:txBody>
      </p:sp>
      <p:sp>
        <p:nvSpPr>
          <p:cNvPr id="25" name="Text 23"/>
          <p:cNvSpPr txBox="1"/>
          <p:nvPr/>
        </p:nvSpPr>
        <p:spPr>
          <a:xfrm>
            <a:off x="2514600" y="3392424"/>
            <a:ext cx="306324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Typed, directed, named relationships</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between named entities</a:t>
            </a:r>
            <a:endParaRPr lang="en-US" sz="1150" dirty="0"/>
          </a:p>
        </p:txBody>
      </p:sp>
      <p:sp>
        <p:nvSpPr>
          <p:cNvPr id="26" name="Shape 24"/>
          <p:cNvSpPr/>
          <p:nvPr/>
        </p:nvSpPr>
        <p:spPr>
          <a:xfrm>
            <a:off x="5669280" y="3346704"/>
            <a:ext cx="3108960" cy="777240"/>
          </a:xfrm>
          <a:prstGeom prst="rect">
            <a:avLst/>
          </a:prstGeom>
          <a:solidFill>
            <a:srgbClr val="0D2137"/>
          </a:solidFill>
          <a:ln w="12700">
            <a:solidFill>
              <a:srgbClr val="0D2137"/>
            </a:solidFill>
            <a:prstDash val="solid"/>
          </a:ln>
        </p:spPr>
        <p:txBody>
          <a:bodyPr/>
          <a:lstStyle/>
          <a:p>
            <a:endParaRPr lang="en-US"/>
          </a:p>
        </p:txBody>
      </p:sp>
      <p:sp>
        <p:nvSpPr>
          <p:cNvPr id="27" name="Text 25"/>
          <p:cNvSpPr txBox="1"/>
          <p:nvPr/>
        </p:nvSpPr>
        <p:spPr>
          <a:xfrm>
            <a:off x="5760720" y="3392424"/>
            <a:ext cx="297180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Graded similarity,</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nuance, uncertainty</a:t>
            </a:r>
            <a:endParaRPr lang="en-US" sz="1150" dirty="0"/>
          </a:p>
        </p:txBody>
      </p:sp>
      <p:sp>
        <p:nvSpPr>
          <p:cNvPr id="28" name="Shape 26"/>
          <p:cNvSpPr/>
          <p:nvPr/>
        </p:nvSpPr>
        <p:spPr>
          <a:xfrm>
            <a:off x="365760" y="4151376"/>
            <a:ext cx="2011680" cy="777240"/>
          </a:xfrm>
          <a:prstGeom prst="rect">
            <a:avLst/>
          </a:prstGeom>
          <a:solidFill>
            <a:srgbClr val="E8A838"/>
          </a:solidFill>
          <a:ln w="12700">
            <a:solidFill>
              <a:srgbClr val="E8A838"/>
            </a:solidFill>
            <a:prstDash val="solid"/>
          </a:ln>
        </p:spPr>
        <p:txBody>
          <a:bodyPr/>
          <a:lstStyle/>
          <a:p>
            <a:endParaRPr lang="en-US"/>
          </a:p>
        </p:txBody>
      </p:sp>
      <p:sp>
        <p:nvSpPr>
          <p:cNvPr id="29" name="Text 27"/>
          <p:cNvSpPr txBox="1"/>
          <p:nvPr/>
        </p:nvSpPr>
        <p:spPr>
          <a:xfrm>
            <a:off x="457200" y="4197096"/>
            <a:ext cx="1874520" cy="713232"/>
          </a:xfrm>
          <a:prstGeom prst="rect">
            <a:avLst/>
          </a:prstGeom>
          <a:noFill/>
          <a:ln/>
        </p:spPr>
        <p:txBody>
          <a:bodyPr wrap="square" lIns="0" tIns="0" rIns="0" bIns="0" rtlCol="0" anchor="ctr"/>
          <a:lstStyle/>
          <a:p>
            <a:pPr marL="0" indent="0">
              <a:lnSpc>
                <a:spcPct val="120000"/>
              </a:lnSpc>
              <a:buNone/>
            </a:pPr>
            <a:r>
              <a:rPr lang="en-US" sz="1150" b="1" dirty="0">
                <a:solidFill>
                  <a:srgbClr val="0D1B2A"/>
                </a:solidFill>
                <a:latin typeface="Calibri" pitchFamily="34" charset="0"/>
                <a:ea typeface="Calibri" pitchFamily="34" charset="-122"/>
                <a:cs typeface="Calibri" pitchFamily="34" charset="-120"/>
              </a:rPr>
              <a:t>Causal Inference</a:t>
            </a:r>
            <a:endParaRPr lang="en-US" sz="1150" dirty="0"/>
          </a:p>
          <a:p>
            <a:pPr marL="0" indent="0">
              <a:lnSpc>
                <a:spcPct val="120000"/>
              </a:lnSpc>
              <a:buNone/>
            </a:pPr>
            <a:r>
              <a:rPr lang="en-US" sz="1150" b="1" dirty="0">
                <a:solidFill>
                  <a:srgbClr val="0D1B2A"/>
                </a:solidFill>
                <a:latin typeface="Calibri" pitchFamily="34" charset="0"/>
                <a:ea typeface="Calibri" pitchFamily="34" charset="-122"/>
                <a:cs typeface="Calibri" pitchFamily="34" charset="-120"/>
              </a:rPr>
              <a:t>(coming up)</a:t>
            </a:r>
            <a:endParaRPr lang="en-US" sz="1150" dirty="0"/>
          </a:p>
        </p:txBody>
      </p:sp>
      <p:sp>
        <p:nvSpPr>
          <p:cNvPr id="30" name="Shape 28"/>
          <p:cNvSpPr/>
          <p:nvPr/>
        </p:nvSpPr>
        <p:spPr>
          <a:xfrm>
            <a:off x="2423160" y="4151376"/>
            <a:ext cx="3200400" cy="777240"/>
          </a:xfrm>
          <a:prstGeom prst="rect">
            <a:avLst/>
          </a:prstGeom>
          <a:solidFill>
            <a:srgbClr val="0A1A2A"/>
          </a:solidFill>
          <a:ln w="12700">
            <a:solidFill>
              <a:srgbClr val="0A1A2A"/>
            </a:solidFill>
            <a:prstDash val="solid"/>
          </a:ln>
        </p:spPr>
        <p:txBody>
          <a:bodyPr/>
          <a:lstStyle/>
          <a:p>
            <a:endParaRPr lang="en-US"/>
          </a:p>
        </p:txBody>
      </p:sp>
      <p:sp>
        <p:nvSpPr>
          <p:cNvPr id="31" name="Text 29"/>
          <p:cNvSpPr txBox="1"/>
          <p:nvPr/>
        </p:nvSpPr>
        <p:spPr>
          <a:xfrm>
            <a:off x="2514600" y="4197096"/>
            <a:ext cx="306324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Direction of causation —</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not just correlation</a:t>
            </a:r>
            <a:endParaRPr lang="en-US" sz="1150" dirty="0"/>
          </a:p>
        </p:txBody>
      </p:sp>
      <p:sp>
        <p:nvSpPr>
          <p:cNvPr id="32" name="Shape 30"/>
          <p:cNvSpPr/>
          <p:nvPr/>
        </p:nvSpPr>
        <p:spPr>
          <a:xfrm>
            <a:off x="5669280" y="4151376"/>
            <a:ext cx="3108960" cy="777240"/>
          </a:xfrm>
          <a:prstGeom prst="rect">
            <a:avLst/>
          </a:prstGeom>
          <a:solidFill>
            <a:srgbClr val="0A1A2A"/>
          </a:solidFill>
          <a:ln w="12700">
            <a:solidFill>
              <a:srgbClr val="0A1A2A"/>
            </a:solidFill>
            <a:prstDash val="solid"/>
          </a:ln>
        </p:spPr>
        <p:txBody>
          <a:bodyPr/>
          <a:lstStyle/>
          <a:p>
            <a:endParaRPr lang="en-US"/>
          </a:p>
        </p:txBody>
      </p:sp>
      <p:sp>
        <p:nvSpPr>
          <p:cNvPr id="33" name="Text 31"/>
          <p:cNvSpPr txBox="1"/>
          <p:nvPr/>
        </p:nvSpPr>
        <p:spPr>
          <a:xfrm>
            <a:off x="5760720" y="4197096"/>
            <a:ext cx="2971800" cy="713232"/>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All of the above —</a:t>
            </a:r>
            <a:endParaRPr lang="en-US" sz="1150" dirty="0"/>
          </a:p>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it builds on all of it</a:t>
            </a:r>
            <a:endParaRPr lang="en-US" sz="1150" dirty="0"/>
          </a:p>
        </p:txBody>
      </p:sp>
      <p:sp>
        <p:nvSpPr>
          <p:cNvPr id="34" name="Text 32"/>
          <p:cNvSpPr txBox="1"/>
          <p:nvPr/>
        </p:nvSpPr>
        <p:spPr>
          <a:xfrm>
            <a:off x="457200" y="4867218"/>
            <a:ext cx="8229600" cy="347472"/>
          </a:xfrm>
          <a:prstGeom prst="rect">
            <a:avLst/>
          </a:prstGeom>
          <a:noFill/>
          <a:ln/>
        </p:spPr>
        <p:txBody>
          <a:bodyPr wrap="square"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These tools aren't competing — they're complementary. Real knowledge systems use all of them.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2C39A"/>
          </a:solidFill>
          <a:ln w="12700">
            <a:solidFill>
              <a:srgbClr val="02C39A"/>
            </a:solidFill>
            <a:prstDash val="solid"/>
          </a:ln>
        </p:spPr>
        <p:txBody>
          <a:bodyPr/>
          <a:lstStyle/>
          <a:p>
            <a:endParaRPr lang="en-US"/>
          </a:p>
        </p:txBody>
      </p:sp>
      <p:sp>
        <p:nvSpPr>
          <p:cNvPr id="3" name="Text 1"/>
          <p:cNvSpPr txBox="1"/>
          <p:nvPr/>
        </p:nvSpPr>
        <p:spPr>
          <a:xfrm>
            <a:off x="457200" y="109728"/>
            <a:ext cx="8229600" cy="502920"/>
          </a:xfrm>
          <a:prstGeom prst="rect">
            <a:avLst/>
          </a:prstGeom>
          <a:noFill/>
          <a:ln/>
        </p:spPr>
        <p:txBody>
          <a:bodyPr wrap="square" rtlCol="0" anchor="ctr"/>
          <a:lstStyle/>
          <a:p>
            <a:pPr marL="0" indent="0">
              <a:buNone/>
            </a:pPr>
            <a:r>
              <a:rPr lang="en-US" sz="2800" b="1" dirty="0">
                <a:solidFill>
                  <a:srgbClr val="0D1B2A"/>
                </a:solidFill>
                <a:latin typeface="Cambria" pitchFamily="34" charset="0"/>
                <a:ea typeface="Cambria" pitchFamily="34" charset="-122"/>
                <a:cs typeface="Cambria" pitchFamily="34" charset="-120"/>
              </a:rPr>
              <a:t>Where We're Headed</a:t>
            </a:r>
            <a:endParaRPr lang="en-US" sz="2800" dirty="0"/>
          </a:p>
        </p:txBody>
      </p:sp>
      <p:sp>
        <p:nvSpPr>
          <p:cNvPr id="4" name="Text 2"/>
          <p:cNvSpPr txBox="1"/>
          <p:nvPr/>
        </p:nvSpPr>
        <p:spPr>
          <a:xfrm>
            <a:off x="457200" y="612648"/>
            <a:ext cx="8229600" cy="292608"/>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Knowledge graphs in practice — and the question of causation</a:t>
            </a:r>
            <a:endParaRPr lang="en-US" sz="1400" dirty="0"/>
          </a:p>
        </p:txBody>
      </p:sp>
      <p:sp>
        <p:nvSpPr>
          <p:cNvPr id="5" name="Shape 3"/>
          <p:cNvSpPr/>
          <p:nvPr/>
        </p:nvSpPr>
        <p:spPr>
          <a:xfrm>
            <a:off x="365760" y="1097280"/>
            <a:ext cx="3931920" cy="2514600"/>
          </a:xfrm>
          <a:prstGeom prst="rect">
            <a:avLst/>
          </a:prstGeom>
          <a:solidFill>
            <a:srgbClr val="065A82"/>
          </a:solidFill>
          <a:ln w="12700">
            <a:solidFill>
              <a:srgbClr val="065A82"/>
            </a:solidFill>
            <a:prstDash val="solid"/>
          </a:ln>
        </p:spPr>
        <p:txBody>
          <a:bodyPr/>
          <a:lstStyle/>
          <a:p>
            <a:endParaRPr lang="en-US"/>
          </a:p>
        </p:txBody>
      </p:sp>
      <p:sp>
        <p:nvSpPr>
          <p:cNvPr id="6" name="Text 4"/>
          <p:cNvSpPr txBox="1"/>
          <p:nvPr/>
        </p:nvSpPr>
        <p:spPr>
          <a:xfrm>
            <a:off x="548640" y="1170432"/>
            <a:ext cx="3657600" cy="438912"/>
          </a:xfrm>
          <a:prstGeom prst="rect">
            <a:avLst/>
          </a:prstGeom>
          <a:noFill/>
          <a:ln/>
        </p:spPr>
        <p:txBody>
          <a:bodyPr wrap="square" rtlCol="0" anchor="ctr"/>
          <a:lstStyle/>
          <a:p>
            <a:pPr marL="0" indent="0">
              <a:buNone/>
            </a:pPr>
            <a:r>
              <a:rPr lang="en-US" sz="2200" b="1" dirty="0">
                <a:solidFill>
                  <a:srgbClr val="02C39A"/>
                </a:solidFill>
                <a:latin typeface="Cambria" pitchFamily="34" charset="0"/>
                <a:ea typeface="Cambria" pitchFamily="34" charset="-122"/>
                <a:cs typeface="Cambria" pitchFamily="34" charset="-120"/>
              </a:rPr>
              <a:t>Neo4j</a:t>
            </a:r>
            <a:endParaRPr lang="en-US" sz="2200" dirty="0"/>
          </a:p>
        </p:txBody>
      </p:sp>
      <p:sp>
        <p:nvSpPr>
          <p:cNvPr id="7" name="Text 5"/>
          <p:cNvSpPr txBox="1"/>
          <p:nvPr/>
        </p:nvSpPr>
        <p:spPr>
          <a:xfrm>
            <a:off x="548640" y="1600200"/>
            <a:ext cx="3657600" cy="320040"/>
          </a:xfrm>
          <a:prstGeom prst="rect">
            <a:avLst/>
          </a:prstGeom>
          <a:noFill/>
          <a:ln/>
        </p:spPr>
        <p:txBody>
          <a:bodyPr wrap="square" rtlCol="0" anchor="ctr"/>
          <a:lstStyle/>
          <a:p>
            <a:pPr marL="0" indent="0">
              <a:buNone/>
            </a:pPr>
            <a:r>
              <a:rPr lang="en-US" sz="1300" i="1" dirty="0">
                <a:solidFill>
                  <a:srgbClr val="EBF5FB"/>
                </a:solidFill>
                <a:latin typeface="Calibri" pitchFamily="34" charset="0"/>
                <a:ea typeface="Calibri" pitchFamily="34" charset="-122"/>
                <a:cs typeface="Calibri" pitchFamily="34" charset="-120"/>
              </a:rPr>
              <a:t>Graph Database for the Real World</a:t>
            </a:r>
            <a:endParaRPr lang="en-US" sz="1300" dirty="0"/>
          </a:p>
        </p:txBody>
      </p:sp>
      <p:sp>
        <p:nvSpPr>
          <p:cNvPr id="8" name="Text 6"/>
          <p:cNvSpPr txBox="1"/>
          <p:nvPr/>
        </p:nvSpPr>
        <p:spPr>
          <a:xfrm>
            <a:off x="548640" y="1938528"/>
            <a:ext cx="3657600" cy="1572768"/>
          </a:xfrm>
          <a:prstGeom prst="rect">
            <a:avLst/>
          </a:prstGeom>
          <a:noFill/>
          <a:ln/>
        </p:spPr>
        <p:txBody>
          <a:bodyPr wrap="square" rtlCol="0" anchor="ctr"/>
          <a:lstStyle/>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Neo4j is a property graph database built for enterprise use cases. Same conceptual foundation as RDF (nodes + edges + properties), but uses Cypher instead of SPARQL and prioritizes performance over open-world semantics.</a:t>
            </a:r>
            <a:endParaRPr lang="en-US" sz="1200" dirty="0"/>
          </a:p>
          <a:p>
            <a:pPr marL="0" indent="0">
              <a:lnSpc>
                <a:spcPct val="130000"/>
              </a:lnSpc>
              <a:buNone/>
            </a:pPr>
            <a:endParaRPr lang="en-US" sz="1200" dirty="0"/>
          </a:p>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Used for: fraud detection, recommendation engines, supply chain, drug discovery, social network analysis.</a:t>
            </a:r>
            <a:endParaRPr lang="en-US" sz="1200" dirty="0"/>
          </a:p>
        </p:txBody>
      </p:sp>
      <p:sp>
        <p:nvSpPr>
          <p:cNvPr id="9" name="Shape 7"/>
          <p:cNvSpPr/>
          <p:nvPr/>
        </p:nvSpPr>
        <p:spPr>
          <a:xfrm>
            <a:off x="4572000" y="1097280"/>
            <a:ext cx="4206240" cy="2514600"/>
          </a:xfrm>
          <a:prstGeom prst="rect">
            <a:avLst/>
          </a:prstGeom>
          <a:solidFill>
            <a:srgbClr val="1C7293"/>
          </a:solidFill>
          <a:ln w="12700">
            <a:solidFill>
              <a:srgbClr val="1C7293"/>
            </a:solidFill>
            <a:prstDash val="solid"/>
          </a:ln>
        </p:spPr>
        <p:txBody>
          <a:bodyPr/>
          <a:lstStyle/>
          <a:p>
            <a:endParaRPr lang="en-US"/>
          </a:p>
        </p:txBody>
      </p:sp>
      <p:sp>
        <p:nvSpPr>
          <p:cNvPr id="10" name="Text 8"/>
          <p:cNvSpPr txBox="1"/>
          <p:nvPr/>
        </p:nvSpPr>
        <p:spPr>
          <a:xfrm>
            <a:off x="4754880" y="1170432"/>
            <a:ext cx="3840480" cy="438912"/>
          </a:xfrm>
          <a:prstGeom prst="rect">
            <a:avLst/>
          </a:prstGeom>
          <a:noFill/>
          <a:ln/>
        </p:spPr>
        <p:txBody>
          <a:bodyPr wrap="square" rtlCol="0" anchor="ctr"/>
          <a:lstStyle/>
          <a:p>
            <a:pPr marL="0" indent="0">
              <a:buNone/>
            </a:pPr>
            <a:r>
              <a:rPr lang="en-US" sz="2200" b="1" dirty="0">
                <a:solidFill>
                  <a:srgbClr val="E8A838"/>
                </a:solidFill>
                <a:latin typeface="Cambria" pitchFamily="34" charset="0"/>
                <a:ea typeface="Cambria" pitchFamily="34" charset="-122"/>
                <a:cs typeface="Cambria" pitchFamily="34" charset="-120"/>
              </a:rPr>
              <a:t>Causal Inference</a:t>
            </a:r>
            <a:endParaRPr lang="en-US" sz="2200" dirty="0"/>
          </a:p>
        </p:txBody>
      </p:sp>
      <p:sp>
        <p:nvSpPr>
          <p:cNvPr id="11" name="Text 9"/>
          <p:cNvSpPr txBox="1"/>
          <p:nvPr/>
        </p:nvSpPr>
        <p:spPr>
          <a:xfrm>
            <a:off x="4754880" y="1600200"/>
            <a:ext cx="3840480" cy="320040"/>
          </a:xfrm>
          <a:prstGeom prst="rect">
            <a:avLst/>
          </a:prstGeom>
          <a:noFill/>
          <a:ln/>
        </p:spPr>
        <p:txBody>
          <a:bodyPr wrap="square" rtlCol="0" anchor="ctr"/>
          <a:lstStyle/>
          <a:p>
            <a:pPr marL="0" indent="0">
              <a:buNone/>
            </a:pPr>
            <a:r>
              <a:rPr lang="en-US" sz="1300" i="1" dirty="0">
                <a:solidFill>
                  <a:srgbClr val="EBF5FB"/>
                </a:solidFill>
                <a:latin typeface="Calibri" pitchFamily="34" charset="0"/>
                <a:ea typeface="Calibri" pitchFamily="34" charset="-122"/>
                <a:cs typeface="Calibri" pitchFamily="34" charset="-120"/>
              </a:rPr>
              <a:t>Beyond Correlation</a:t>
            </a:r>
            <a:endParaRPr lang="en-US" sz="1300" dirty="0"/>
          </a:p>
        </p:txBody>
      </p:sp>
      <p:sp>
        <p:nvSpPr>
          <p:cNvPr id="12" name="Text 10"/>
          <p:cNvSpPr txBox="1"/>
          <p:nvPr/>
        </p:nvSpPr>
        <p:spPr>
          <a:xfrm>
            <a:off x="4754880" y="1938528"/>
            <a:ext cx="3840480" cy="1572768"/>
          </a:xfrm>
          <a:prstGeom prst="rect">
            <a:avLst/>
          </a:prstGeom>
          <a:noFill/>
          <a:ln/>
        </p:spPr>
        <p:txBody>
          <a:bodyPr wrap="square" rtlCol="0" anchor="ctr"/>
          <a:lstStyle/>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Correlation tells you two things move together. Causation tells you one makes the other happen — the difference matters enormously for decisions.</a:t>
            </a:r>
            <a:endParaRPr lang="en-US" sz="1200" dirty="0"/>
          </a:p>
          <a:p>
            <a:pPr marL="0" indent="0">
              <a:lnSpc>
                <a:spcPct val="130000"/>
              </a:lnSpc>
              <a:buNone/>
            </a:pPr>
            <a:endParaRPr lang="en-US" sz="1200" dirty="0"/>
          </a:p>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Tools: DAGs, do-calculus, instrumental variables, difference-in-differences. Causal graphs are knowledge graphs where edges carry causal meaning.</a:t>
            </a:r>
            <a:endParaRPr lang="en-US" sz="1200" dirty="0"/>
          </a:p>
        </p:txBody>
      </p:sp>
      <p:sp>
        <p:nvSpPr>
          <p:cNvPr id="13" name="Shape 11"/>
          <p:cNvSpPr/>
          <p:nvPr/>
        </p:nvSpPr>
        <p:spPr>
          <a:xfrm>
            <a:off x="365760" y="3749040"/>
            <a:ext cx="8412480" cy="1188720"/>
          </a:xfrm>
          <a:prstGeom prst="rect">
            <a:avLst/>
          </a:prstGeom>
          <a:solidFill>
            <a:srgbClr val="EEF7FD"/>
          </a:solidFill>
          <a:ln w="12700">
            <a:solidFill>
              <a:srgbClr val="EEF7FD"/>
            </a:solidFill>
            <a:prstDash val="solid"/>
          </a:ln>
        </p:spPr>
        <p:txBody>
          <a:bodyPr/>
          <a:lstStyle/>
          <a:p>
            <a:endParaRPr lang="en-US"/>
          </a:p>
        </p:txBody>
      </p:sp>
      <p:sp>
        <p:nvSpPr>
          <p:cNvPr id="14" name="Text 12"/>
          <p:cNvSpPr txBox="1"/>
          <p:nvPr/>
        </p:nvSpPr>
        <p:spPr>
          <a:xfrm>
            <a:off x="548640" y="3813048"/>
            <a:ext cx="8046720" cy="347472"/>
          </a:xfrm>
          <a:prstGeom prst="rect">
            <a:avLst/>
          </a:prstGeom>
          <a:noFill/>
          <a:ln/>
        </p:spPr>
        <p:txBody>
          <a:bodyPr wrap="square"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The thread that connects everything</a:t>
            </a:r>
            <a:endParaRPr lang="en-US" sz="1500" dirty="0"/>
          </a:p>
        </p:txBody>
      </p:sp>
      <p:sp>
        <p:nvSpPr>
          <p:cNvPr id="15" name="Text 13"/>
          <p:cNvSpPr txBox="1"/>
          <p:nvPr/>
        </p:nvSpPr>
        <p:spPr>
          <a:xfrm>
            <a:off x="548640" y="4160520"/>
            <a:ext cx="8046720" cy="713232"/>
          </a:xfrm>
          <a:prstGeom prst="rect">
            <a:avLst/>
          </a:prstGeom>
          <a:noFill/>
          <a:ln/>
        </p:spPr>
        <p:txBody>
          <a:bodyPr wrap="square" rtlCol="0" anchor="ctr"/>
          <a:lstStyle/>
          <a:p>
            <a:pPr marL="0" indent="0">
              <a:lnSpc>
                <a:spcPct val="130000"/>
              </a:lnSpc>
              <a:buNone/>
            </a:pPr>
            <a:r>
              <a:rPr lang="en-US" sz="1250" dirty="0">
                <a:solidFill>
                  <a:srgbClr val="1C3553"/>
                </a:solidFill>
                <a:latin typeface="Calibri" pitchFamily="34" charset="0"/>
                <a:ea typeface="Calibri" pitchFamily="34" charset="-122"/>
                <a:cs typeface="Calibri" pitchFamily="34" charset="-120"/>
              </a:rPr>
              <a:t>Today's SPARQL and Wikidata skills translate almost directly to Neo4j's Cypher query language. The conceptual model — nodes, edges, properties, patterns — is the same. And when you build causal graphs later in the semester, those directed edges are the direct descendants of the RDF triples you're learning today.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1A2C"/>
        </a:solidFill>
        <a:effectLst/>
      </p:bgPr>
    </p:bg>
    <p:spTree>
      <p:nvGrpSpPr>
        <p:cNvPr id="1" name=""/>
        <p:cNvGrpSpPr/>
        <p:nvPr/>
      </p:nvGrpSpPr>
      <p:grpSpPr>
        <a:xfrm>
          <a:off x="0" y="0"/>
          <a:ext cx="0" cy="0"/>
          <a:chOff x="0" y="0"/>
          <a:chExt cx="0" cy="0"/>
        </a:xfrm>
      </p:grpSpPr>
      <p:sp>
        <p:nvSpPr>
          <p:cNvPr id="2" name="Shape 0"/>
          <p:cNvSpPr/>
          <p:nvPr/>
        </p:nvSpPr>
        <p:spPr>
          <a:xfrm>
            <a:off x="-457200" y="-457200"/>
            <a:ext cx="4572000" cy="4572000"/>
          </a:xfrm>
          <a:prstGeom prst="ellipse">
            <a:avLst/>
          </a:prstGeom>
          <a:solidFill>
            <a:srgbClr val="1C7293"/>
          </a:solidFill>
          <a:ln w="12700">
            <a:solidFill>
              <a:srgbClr val="1C7293"/>
            </a:solidFill>
            <a:prstDash val="solid"/>
          </a:ln>
        </p:spPr>
        <p:txBody>
          <a:bodyPr/>
          <a:lstStyle/>
          <a:p>
            <a:endParaRPr lang="en-US"/>
          </a:p>
        </p:txBody>
      </p:sp>
      <p:sp>
        <p:nvSpPr>
          <p:cNvPr id="3" name="Text 1"/>
          <p:cNvSpPr txBox="1"/>
          <p:nvPr/>
        </p:nvSpPr>
        <p:spPr>
          <a:xfrm>
            <a:off x="548640" y="365760"/>
            <a:ext cx="8229600" cy="411480"/>
          </a:xfrm>
          <a:prstGeom prst="rect">
            <a:avLst/>
          </a:prstGeom>
          <a:noFill/>
          <a:ln/>
        </p:spPr>
        <p:txBody>
          <a:bodyPr wrap="square" rtlCol="0" anchor="ctr"/>
          <a:lstStyle/>
          <a:p>
            <a:pPr marL="0" indent="0">
              <a:buNone/>
            </a:pPr>
            <a:r>
              <a:rPr lang="en-US" sz="1600" kern="0" spc="300" dirty="0">
                <a:solidFill>
                  <a:srgbClr val="02C39A"/>
                </a:solidFill>
                <a:latin typeface="Calibri" pitchFamily="34" charset="0"/>
                <a:ea typeface="Calibri" pitchFamily="34" charset="-122"/>
                <a:cs typeface="Calibri" pitchFamily="34" charset="-120"/>
              </a:rPr>
              <a:t>Activity 1</a:t>
            </a:r>
            <a:endParaRPr lang="en-US" sz="1600" dirty="0"/>
          </a:p>
        </p:txBody>
      </p:sp>
      <p:sp>
        <p:nvSpPr>
          <p:cNvPr id="4" name="Text 2"/>
          <p:cNvSpPr txBox="1"/>
          <p:nvPr/>
        </p:nvSpPr>
        <p:spPr>
          <a:xfrm>
            <a:off x="548640" y="777240"/>
            <a:ext cx="8229600" cy="1371600"/>
          </a:xfrm>
          <a:prstGeom prst="rect">
            <a:avLst/>
          </a:prstGeom>
          <a:noFill/>
          <a:ln/>
        </p:spPr>
        <p:txBody>
          <a:bodyPr wrap="square" rtlCol="0" anchor="ctr"/>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SPARQL Queries</a:t>
            </a:r>
            <a:endParaRPr lang="en-US" sz="4000" dirty="0"/>
          </a:p>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on Wikidata</a:t>
            </a:r>
            <a:endParaRPr lang="en-US" sz="4000" dirty="0"/>
          </a:p>
        </p:txBody>
      </p:sp>
      <p:sp>
        <p:nvSpPr>
          <p:cNvPr id="5" name="Text 3"/>
          <p:cNvSpPr txBox="1"/>
          <p:nvPr/>
        </p:nvSpPr>
        <p:spPr>
          <a:xfrm>
            <a:off x="548640" y="2148840"/>
            <a:ext cx="8229600" cy="411480"/>
          </a:xfrm>
          <a:prstGeom prst="rect">
            <a:avLst/>
          </a:prstGeom>
          <a:noFill/>
          <a:ln/>
        </p:spPr>
        <p:txBody>
          <a:bodyPr wrap="square" rtlCol="0" anchor="ctr"/>
          <a:lstStyle/>
          <a:p>
            <a:pPr marL="0" indent="0">
              <a:buNone/>
            </a:pPr>
            <a:r>
              <a:rPr lang="en-US" sz="2000" dirty="0">
                <a:solidFill>
                  <a:srgbClr val="02C39A"/>
                </a:solidFill>
                <a:latin typeface="Courier New" pitchFamily="34" charset="0"/>
                <a:ea typeface="Courier New" pitchFamily="34" charset="-122"/>
                <a:cs typeface="Courier New" pitchFamily="34" charset="-120"/>
              </a:rPr>
              <a:t>query.wikidata.org</a:t>
            </a:r>
            <a:endParaRPr lang="en-US" sz="2000" dirty="0"/>
          </a:p>
        </p:txBody>
      </p:sp>
      <p:sp>
        <p:nvSpPr>
          <p:cNvPr id="6" name="Shape 4"/>
          <p:cNvSpPr/>
          <p:nvPr/>
        </p:nvSpPr>
        <p:spPr>
          <a:xfrm>
            <a:off x="502920" y="2724912"/>
            <a:ext cx="201168" cy="201168"/>
          </a:xfrm>
          <a:prstGeom prst="ellipse">
            <a:avLst/>
          </a:prstGeom>
          <a:solidFill>
            <a:srgbClr val="02C39A"/>
          </a:solidFill>
          <a:ln w="12700">
            <a:solidFill>
              <a:srgbClr val="02C39A"/>
            </a:solidFill>
            <a:prstDash val="solid"/>
          </a:ln>
        </p:spPr>
        <p:txBody>
          <a:bodyPr/>
          <a:lstStyle/>
          <a:p>
            <a:endParaRPr lang="en-US"/>
          </a:p>
        </p:txBody>
      </p:sp>
      <p:sp>
        <p:nvSpPr>
          <p:cNvPr id="7" name="Text 5"/>
          <p:cNvSpPr txBox="1"/>
          <p:nvPr/>
        </p:nvSpPr>
        <p:spPr>
          <a:xfrm>
            <a:off x="502920" y="2715768"/>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777240" y="2697480"/>
            <a:ext cx="795528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Go to query.wikidata.org in your browser</a:t>
            </a:r>
            <a:endParaRPr lang="en-US" sz="1250" dirty="0"/>
          </a:p>
        </p:txBody>
      </p:sp>
      <p:sp>
        <p:nvSpPr>
          <p:cNvPr id="9" name="Shape 7"/>
          <p:cNvSpPr/>
          <p:nvPr/>
        </p:nvSpPr>
        <p:spPr>
          <a:xfrm>
            <a:off x="502920" y="3017520"/>
            <a:ext cx="201168" cy="201168"/>
          </a:xfrm>
          <a:prstGeom prst="ellipse">
            <a:avLst/>
          </a:prstGeom>
          <a:solidFill>
            <a:srgbClr val="02C39A"/>
          </a:solidFill>
          <a:ln w="12700">
            <a:solidFill>
              <a:srgbClr val="02C39A"/>
            </a:solidFill>
            <a:prstDash val="solid"/>
          </a:ln>
        </p:spPr>
        <p:txBody>
          <a:bodyPr/>
          <a:lstStyle/>
          <a:p>
            <a:endParaRPr lang="en-US"/>
          </a:p>
        </p:txBody>
      </p:sp>
      <p:sp>
        <p:nvSpPr>
          <p:cNvPr id="10" name="Text 8"/>
          <p:cNvSpPr txBox="1"/>
          <p:nvPr/>
        </p:nvSpPr>
        <p:spPr>
          <a:xfrm>
            <a:off x="502920" y="3008376"/>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2</a:t>
            </a:r>
            <a:endParaRPr lang="en-US" sz="1000" dirty="0"/>
          </a:p>
        </p:txBody>
      </p:sp>
      <p:sp>
        <p:nvSpPr>
          <p:cNvPr id="11" name="Text 9"/>
          <p:cNvSpPr txBox="1"/>
          <p:nvPr/>
        </p:nvSpPr>
        <p:spPr>
          <a:xfrm>
            <a:off x="777240" y="2990088"/>
            <a:ext cx="795528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Click Examples → Cats to load the starter query</a:t>
            </a:r>
            <a:endParaRPr lang="en-US" sz="1250" dirty="0"/>
          </a:p>
        </p:txBody>
      </p:sp>
      <p:sp>
        <p:nvSpPr>
          <p:cNvPr id="12" name="Shape 10"/>
          <p:cNvSpPr/>
          <p:nvPr/>
        </p:nvSpPr>
        <p:spPr>
          <a:xfrm>
            <a:off x="502920" y="3310128"/>
            <a:ext cx="201168" cy="201168"/>
          </a:xfrm>
          <a:prstGeom prst="ellipse">
            <a:avLst/>
          </a:prstGeom>
          <a:solidFill>
            <a:srgbClr val="02C39A"/>
          </a:solidFill>
          <a:ln w="12700">
            <a:solidFill>
              <a:srgbClr val="02C39A"/>
            </a:solidFill>
            <a:prstDash val="solid"/>
          </a:ln>
        </p:spPr>
        <p:txBody>
          <a:bodyPr/>
          <a:lstStyle/>
          <a:p>
            <a:endParaRPr lang="en-US"/>
          </a:p>
        </p:txBody>
      </p:sp>
      <p:sp>
        <p:nvSpPr>
          <p:cNvPr id="13" name="Text 11"/>
          <p:cNvSpPr txBox="1"/>
          <p:nvPr/>
        </p:nvSpPr>
        <p:spPr>
          <a:xfrm>
            <a:off x="502920" y="3300984"/>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3</a:t>
            </a:r>
            <a:endParaRPr lang="en-US" sz="1000" dirty="0"/>
          </a:p>
        </p:txBody>
      </p:sp>
      <p:sp>
        <p:nvSpPr>
          <p:cNvPr id="14" name="Text 12"/>
          <p:cNvSpPr txBox="1"/>
          <p:nvPr/>
        </p:nvSpPr>
        <p:spPr>
          <a:xfrm>
            <a:off x="777240" y="3282696"/>
            <a:ext cx="795528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Read the query: #comment, SELECT, WHERE, triple pattern</a:t>
            </a:r>
            <a:endParaRPr lang="en-US" sz="1250" dirty="0"/>
          </a:p>
        </p:txBody>
      </p:sp>
      <p:sp>
        <p:nvSpPr>
          <p:cNvPr id="15" name="Shape 13"/>
          <p:cNvSpPr/>
          <p:nvPr/>
        </p:nvSpPr>
        <p:spPr>
          <a:xfrm>
            <a:off x="502920" y="3602736"/>
            <a:ext cx="201168" cy="201168"/>
          </a:xfrm>
          <a:prstGeom prst="ellipse">
            <a:avLst/>
          </a:prstGeom>
          <a:solidFill>
            <a:srgbClr val="02C39A"/>
          </a:solidFill>
          <a:ln w="12700">
            <a:solidFill>
              <a:srgbClr val="02C39A"/>
            </a:solidFill>
            <a:prstDash val="solid"/>
          </a:ln>
        </p:spPr>
        <p:txBody>
          <a:bodyPr/>
          <a:lstStyle/>
          <a:p>
            <a:endParaRPr lang="en-US"/>
          </a:p>
        </p:txBody>
      </p:sp>
      <p:sp>
        <p:nvSpPr>
          <p:cNvPr id="16" name="Text 14"/>
          <p:cNvSpPr txBox="1"/>
          <p:nvPr/>
        </p:nvSpPr>
        <p:spPr>
          <a:xfrm>
            <a:off x="502920" y="3593592"/>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4</a:t>
            </a:r>
            <a:endParaRPr lang="en-US" sz="1000" dirty="0"/>
          </a:p>
        </p:txBody>
      </p:sp>
      <p:sp>
        <p:nvSpPr>
          <p:cNvPr id="17" name="Text 15"/>
          <p:cNvSpPr txBox="1"/>
          <p:nvPr/>
        </p:nvSpPr>
        <p:spPr>
          <a:xfrm>
            <a:off x="777240" y="3575304"/>
            <a:ext cx="795528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Modify it: change Q146 (cats) to Q144 (dogs) using Ctrl+Space autocomplete</a:t>
            </a:r>
            <a:endParaRPr lang="en-US" sz="1250" dirty="0"/>
          </a:p>
        </p:txBody>
      </p:sp>
      <p:sp>
        <p:nvSpPr>
          <p:cNvPr id="18" name="Shape 16"/>
          <p:cNvSpPr/>
          <p:nvPr/>
        </p:nvSpPr>
        <p:spPr>
          <a:xfrm>
            <a:off x="502920" y="3895344"/>
            <a:ext cx="201168" cy="201168"/>
          </a:xfrm>
          <a:prstGeom prst="ellipse">
            <a:avLst/>
          </a:prstGeom>
          <a:solidFill>
            <a:srgbClr val="02C39A"/>
          </a:solidFill>
          <a:ln w="12700">
            <a:solidFill>
              <a:srgbClr val="02C39A"/>
            </a:solidFill>
            <a:prstDash val="solid"/>
          </a:ln>
        </p:spPr>
        <p:txBody>
          <a:bodyPr/>
          <a:lstStyle/>
          <a:p>
            <a:endParaRPr lang="en-US"/>
          </a:p>
        </p:txBody>
      </p:sp>
      <p:sp>
        <p:nvSpPr>
          <p:cNvPr id="19" name="Text 17"/>
          <p:cNvSpPr txBox="1"/>
          <p:nvPr/>
        </p:nvSpPr>
        <p:spPr>
          <a:xfrm>
            <a:off x="502920" y="3886200"/>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5</a:t>
            </a:r>
            <a:endParaRPr lang="en-US" sz="1000" dirty="0"/>
          </a:p>
        </p:txBody>
      </p:sp>
      <p:sp>
        <p:nvSpPr>
          <p:cNvPr id="20" name="Text 18"/>
          <p:cNvSpPr txBox="1"/>
          <p:nvPr/>
        </p:nvSpPr>
        <p:spPr>
          <a:xfrm>
            <a:off x="777240" y="3867912"/>
            <a:ext cx="7955280" cy="256032"/>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Run the query — observe what changes and what stays the same</a:t>
            </a:r>
            <a:endParaRPr lang="en-US" sz="1250" dirty="0">
              <a:solidFill>
                <a:schemeClr val="bg1"/>
              </a:solidFill>
            </a:endParaRPr>
          </a:p>
        </p:txBody>
      </p:sp>
      <p:sp>
        <p:nvSpPr>
          <p:cNvPr id="21" name="Shape 19"/>
          <p:cNvSpPr/>
          <p:nvPr/>
        </p:nvSpPr>
        <p:spPr>
          <a:xfrm>
            <a:off x="502920" y="4187952"/>
            <a:ext cx="201168" cy="201168"/>
          </a:xfrm>
          <a:prstGeom prst="ellipse">
            <a:avLst/>
          </a:prstGeom>
          <a:solidFill>
            <a:srgbClr val="02C39A"/>
          </a:solidFill>
          <a:ln w="12700">
            <a:solidFill>
              <a:srgbClr val="02C39A"/>
            </a:solidFill>
            <a:prstDash val="solid"/>
          </a:ln>
        </p:spPr>
        <p:txBody>
          <a:bodyPr/>
          <a:lstStyle/>
          <a:p>
            <a:endParaRPr lang="en-US"/>
          </a:p>
        </p:txBody>
      </p:sp>
      <p:sp>
        <p:nvSpPr>
          <p:cNvPr id="22" name="Text 20"/>
          <p:cNvSpPr txBox="1"/>
          <p:nvPr/>
        </p:nvSpPr>
        <p:spPr>
          <a:xfrm>
            <a:off x="502920" y="4178808"/>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6</a:t>
            </a:r>
            <a:endParaRPr lang="en-US" sz="1000" dirty="0"/>
          </a:p>
        </p:txBody>
      </p:sp>
      <p:sp>
        <p:nvSpPr>
          <p:cNvPr id="23" name="Text 21"/>
          <p:cNvSpPr txBox="1"/>
          <p:nvPr/>
        </p:nvSpPr>
        <p:spPr>
          <a:xfrm>
            <a:off x="777240" y="4160520"/>
            <a:ext cx="7955280" cy="256032"/>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Add a second condition to the query (e.g. filter by country, or add coordinates)</a:t>
            </a:r>
            <a:endParaRPr lang="en-US" sz="1250" dirty="0">
              <a:solidFill>
                <a:schemeClr val="bg1"/>
              </a:solidFill>
            </a:endParaRPr>
          </a:p>
        </p:txBody>
      </p:sp>
      <p:sp>
        <p:nvSpPr>
          <p:cNvPr id="24" name="Shape 22"/>
          <p:cNvSpPr/>
          <p:nvPr/>
        </p:nvSpPr>
        <p:spPr>
          <a:xfrm>
            <a:off x="502920" y="4480560"/>
            <a:ext cx="201168" cy="201168"/>
          </a:xfrm>
          <a:prstGeom prst="ellipse">
            <a:avLst/>
          </a:prstGeom>
          <a:solidFill>
            <a:srgbClr val="02C39A"/>
          </a:solidFill>
          <a:ln w="12700">
            <a:solidFill>
              <a:srgbClr val="02C39A"/>
            </a:solidFill>
            <a:prstDash val="solid"/>
          </a:ln>
        </p:spPr>
        <p:txBody>
          <a:bodyPr/>
          <a:lstStyle/>
          <a:p>
            <a:endParaRPr lang="en-US"/>
          </a:p>
        </p:txBody>
      </p:sp>
      <p:sp>
        <p:nvSpPr>
          <p:cNvPr id="25" name="Text 23"/>
          <p:cNvSpPr txBox="1"/>
          <p:nvPr/>
        </p:nvSpPr>
        <p:spPr>
          <a:xfrm>
            <a:off x="502920" y="4471416"/>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7</a:t>
            </a:r>
            <a:endParaRPr lang="en-US" sz="1000" dirty="0"/>
          </a:p>
        </p:txBody>
      </p:sp>
      <p:sp>
        <p:nvSpPr>
          <p:cNvPr id="26" name="Text 24"/>
          <p:cNvSpPr txBox="1"/>
          <p:nvPr/>
        </p:nvSpPr>
        <p:spPr>
          <a:xfrm>
            <a:off x="777240" y="4453128"/>
            <a:ext cx="7955280" cy="256032"/>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Use the 'eye' icon on results to try different visualization modes</a:t>
            </a:r>
            <a:endParaRPr lang="en-US" sz="1250" dirty="0">
              <a:solidFill>
                <a:schemeClr val="bg1"/>
              </a:solidFill>
            </a:endParaRPr>
          </a:p>
        </p:txBody>
      </p:sp>
      <p:sp>
        <p:nvSpPr>
          <p:cNvPr id="27" name="Shape 25"/>
          <p:cNvSpPr/>
          <p:nvPr/>
        </p:nvSpPr>
        <p:spPr>
          <a:xfrm>
            <a:off x="502920" y="4773168"/>
            <a:ext cx="201168" cy="201168"/>
          </a:xfrm>
          <a:prstGeom prst="ellipse">
            <a:avLst/>
          </a:prstGeom>
          <a:solidFill>
            <a:srgbClr val="02C39A"/>
          </a:solidFill>
          <a:ln w="12700">
            <a:solidFill>
              <a:srgbClr val="02C39A"/>
            </a:solidFill>
            <a:prstDash val="solid"/>
          </a:ln>
        </p:spPr>
        <p:txBody>
          <a:bodyPr/>
          <a:lstStyle/>
          <a:p>
            <a:endParaRPr lang="en-US"/>
          </a:p>
        </p:txBody>
      </p:sp>
      <p:sp>
        <p:nvSpPr>
          <p:cNvPr id="28" name="Text 26"/>
          <p:cNvSpPr txBox="1"/>
          <p:nvPr/>
        </p:nvSpPr>
        <p:spPr>
          <a:xfrm>
            <a:off x="502920" y="4764024"/>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8</a:t>
            </a:r>
            <a:endParaRPr lang="en-US" sz="1000" dirty="0"/>
          </a:p>
        </p:txBody>
      </p:sp>
      <p:sp>
        <p:nvSpPr>
          <p:cNvPr id="29" name="Text 27"/>
          <p:cNvSpPr txBox="1"/>
          <p:nvPr/>
        </p:nvSpPr>
        <p:spPr>
          <a:xfrm>
            <a:off x="777240" y="4745736"/>
            <a:ext cx="7955280" cy="256032"/>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Copy your query URL using the link button and save it for submission</a:t>
            </a:r>
            <a:endParaRPr lang="en-US" sz="125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1A2C"/>
        </a:solidFill>
        <a:effectLst/>
      </p:bgPr>
    </p:bg>
    <p:spTree>
      <p:nvGrpSpPr>
        <p:cNvPr id="1" name=""/>
        <p:cNvGrpSpPr/>
        <p:nvPr/>
      </p:nvGrpSpPr>
      <p:grpSpPr>
        <a:xfrm>
          <a:off x="0" y="0"/>
          <a:ext cx="0" cy="0"/>
          <a:chOff x="0" y="0"/>
          <a:chExt cx="0" cy="0"/>
        </a:xfrm>
      </p:grpSpPr>
      <p:sp>
        <p:nvSpPr>
          <p:cNvPr id="2" name="Shape 0"/>
          <p:cNvSpPr/>
          <p:nvPr/>
        </p:nvSpPr>
        <p:spPr>
          <a:xfrm>
            <a:off x="6858000" y="3200400"/>
            <a:ext cx="4114800" cy="4114800"/>
          </a:xfrm>
          <a:prstGeom prst="ellipse">
            <a:avLst/>
          </a:prstGeom>
          <a:solidFill>
            <a:srgbClr val="065A82"/>
          </a:solidFill>
          <a:ln w="12700">
            <a:solidFill>
              <a:srgbClr val="065A82"/>
            </a:solidFill>
            <a:prstDash val="solid"/>
          </a:ln>
        </p:spPr>
        <p:txBody>
          <a:bodyPr/>
          <a:lstStyle/>
          <a:p>
            <a:endParaRPr lang="en-US"/>
          </a:p>
        </p:txBody>
      </p:sp>
      <p:sp>
        <p:nvSpPr>
          <p:cNvPr id="3" name="Text 1"/>
          <p:cNvSpPr txBox="1"/>
          <p:nvPr/>
        </p:nvSpPr>
        <p:spPr>
          <a:xfrm>
            <a:off x="548640" y="365760"/>
            <a:ext cx="8229600" cy="411480"/>
          </a:xfrm>
          <a:prstGeom prst="rect">
            <a:avLst/>
          </a:prstGeom>
          <a:noFill/>
          <a:ln/>
        </p:spPr>
        <p:txBody>
          <a:bodyPr wrap="square" rtlCol="0" anchor="ctr"/>
          <a:lstStyle/>
          <a:p>
            <a:pPr marL="0" indent="0">
              <a:buNone/>
            </a:pPr>
            <a:r>
              <a:rPr lang="en-US" sz="1600" kern="0" spc="300" dirty="0">
                <a:solidFill>
                  <a:srgbClr val="E8A838"/>
                </a:solidFill>
                <a:latin typeface="Calibri" pitchFamily="34" charset="0"/>
                <a:ea typeface="Calibri" pitchFamily="34" charset="-122"/>
                <a:cs typeface="Calibri" pitchFamily="34" charset="-120"/>
              </a:rPr>
              <a:t>Activity 2</a:t>
            </a:r>
            <a:endParaRPr lang="en-US" sz="1600" dirty="0"/>
          </a:p>
        </p:txBody>
      </p:sp>
      <p:sp>
        <p:nvSpPr>
          <p:cNvPr id="4" name="Text 2"/>
          <p:cNvSpPr txBox="1"/>
          <p:nvPr/>
        </p:nvSpPr>
        <p:spPr>
          <a:xfrm>
            <a:off x="548640" y="777240"/>
            <a:ext cx="8229600" cy="1371600"/>
          </a:xfrm>
          <a:prstGeom prst="rect">
            <a:avLst/>
          </a:prstGeom>
          <a:noFill/>
          <a:ln/>
        </p:spPr>
        <p:txBody>
          <a:bodyPr wrap="square" rtlCol="0" anchor="ctr"/>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Querying DBpedia</a:t>
            </a:r>
            <a:endParaRPr lang="en-US" sz="4000" dirty="0"/>
          </a:p>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with SPARQL</a:t>
            </a:r>
            <a:endParaRPr lang="en-US" sz="4000" dirty="0"/>
          </a:p>
        </p:txBody>
      </p:sp>
      <p:sp>
        <p:nvSpPr>
          <p:cNvPr id="5" name="Text 3"/>
          <p:cNvSpPr txBox="1"/>
          <p:nvPr/>
        </p:nvSpPr>
        <p:spPr>
          <a:xfrm>
            <a:off x="548640" y="2148840"/>
            <a:ext cx="8229600" cy="411480"/>
          </a:xfrm>
          <a:prstGeom prst="rect">
            <a:avLst/>
          </a:prstGeom>
          <a:noFill/>
          <a:ln/>
        </p:spPr>
        <p:txBody>
          <a:bodyPr wrap="square" rtlCol="0" anchor="ctr"/>
          <a:lstStyle/>
          <a:p>
            <a:pPr marL="0" indent="0">
              <a:buNone/>
            </a:pPr>
            <a:r>
              <a:rPr lang="en-US" sz="2000" dirty="0">
                <a:solidFill>
                  <a:srgbClr val="E8A838"/>
                </a:solidFill>
                <a:latin typeface="Courier New" pitchFamily="34" charset="0"/>
                <a:ea typeface="Courier New" pitchFamily="34" charset="-122"/>
                <a:cs typeface="Courier New" pitchFamily="34" charset="-120"/>
              </a:rPr>
              <a:t>dbpedia.org/snorql</a:t>
            </a:r>
            <a:endParaRPr lang="en-US" sz="2000" dirty="0"/>
          </a:p>
        </p:txBody>
      </p:sp>
      <p:sp>
        <p:nvSpPr>
          <p:cNvPr id="6" name="Shape 4"/>
          <p:cNvSpPr/>
          <p:nvPr/>
        </p:nvSpPr>
        <p:spPr>
          <a:xfrm>
            <a:off x="502920" y="2743200"/>
            <a:ext cx="201168" cy="201168"/>
          </a:xfrm>
          <a:prstGeom prst="ellipse">
            <a:avLst/>
          </a:prstGeom>
          <a:solidFill>
            <a:srgbClr val="E8A838"/>
          </a:solidFill>
          <a:ln w="12700">
            <a:solidFill>
              <a:srgbClr val="E8A838"/>
            </a:solidFill>
            <a:prstDash val="solid"/>
          </a:ln>
        </p:spPr>
        <p:txBody>
          <a:bodyPr/>
          <a:lstStyle/>
          <a:p>
            <a:endParaRPr lang="en-US"/>
          </a:p>
        </p:txBody>
      </p:sp>
      <p:sp>
        <p:nvSpPr>
          <p:cNvPr id="7" name="Text 5"/>
          <p:cNvSpPr txBox="1"/>
          <p:nvPr/>
        </p:nvSpPr>
        <p:spPr>
          <a:xfrm>
            <a:off x="502920" y="2734056"/>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777240" y="2697480"/>
            <a:ext cx="7955280" cy="29260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Go to dbpedia.org/snorql in your browser</a:t>
            </a:r>
            <a:endParaRPr lang="en-US" sz="1250" dirty="0"/>
          </a:p>
        </p:txBody>
      </p:sp>
      <p:sp>
        <p:nvSpPr>
          <p:cNvPr id="9" name="Shape 7"/>
          <p:cNvSpPr/>
          <p:nvPr/>
        </p:nvSpPr>
        <p:spPr>
          <a:xfrm>
            <a:off x="502920" y="3081528"/>
            <a:ext cx="201168" cy="201168"/>
          </a:xfrm>
          <a:prstGeom prst="ellipse">
            <a:avLst/>
          </a:prstGeom>
          <a:solidFill>
            <a:srgbClr val="E8A838"/>
          </a:solidFill>
          <a:ln w="12700">
            <a:solidFill>
              <a:srgbClr val="E8A838"/>
            </a:solidFill>
            <a:prstDash val="solid"/>
          </a:ln>
        </p:spPr>
        <p:txBody>
          <a:bodyPr/>
          <a:lstStyle/>
          <a:p>
            <a:endParaRPr lang="en-US"/>
          </a:p>
        </p:txBody>
      </p:sp>
      <p:sp>
        <p:nvSpPr>
          <p:cNvPr id="10" name="Text 8"/>
          <p:cNvSpPr txBox="1"/>
          <p:nvPr/>
        </p:nvSpPr>
        <p:spPr>
          <a:xfrm>
            <a:off x="502920" y="3072384"/>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2</a:t>
            </a:r>
            <a:endParaRPr lang="en-US" sz="1000" dirty="0"/>
          </a:p>
        </p:txBody>
      </p:sp>
      <p:sp>
        <p:nvSpPr>
          <p:cNvPr id="11" name="Text 9"/>
          <p:cNvSpPr txBox="1"/>
          <p:nvPr/>
        </p:nvSpPr>
        <p:spPr>
          <a:xfrm>
            <a:off x="777240" y="3035808"/>
            <a:ext cx="7955280" cy="29260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Paste and run the ship query from the lecture slides — find White Star Line ships</a:t>
            </a:r>
            <a:endParaRPr lang="en-US" sz="1250" dirty="0"/>
          </a:p>
        </p:txBody>
      </p:sp>
      <p:sp>
        <p:nvSpPr>
          <p:cNvPr id="12" name="Shape 10"/>
          <p:cNvSpPr/>
          <p:nvPr/>
        </p:nvSpPr>
        <p:spPr>
          <a:xfrm>
            <a:off x="502920" y="3419856"/>
            <a:ext cx="201168" cy="201168"/>
          </a:xfrm>
          <a:prstGeom prst="ellipse">
            <a:avLst/>
          </a:prstGeom>
          <a:solidFill>
            <a:srgbClr val="E8A838"/>
          </a:solidFill>
          <a:ln w="12700">
            <a:solidFill>
              <a:srgbClr val="E8A838"/>
            </a:solidFill>
            <a:prstDash val="solid"/>
          </a:ln>
        </p:spPr>
        <p:txBody>
          <a:bodyPr/>
          <a:lstStyle/>
          <a:p>
            <a:endParaRPr lang="en-US"/>
          </a:p>
        </p:txBody>
      </p:sp>
      <p:sp>
        <p:nvSpPr>
          <p:cNvPr id="13" name="Text 11"/>
          <p:cNvSpPr txBox="1"/>
          <p:nvPr/>
        </p:nvSpPr>
        <p:spPr>
          <a:xfrm>
            <a:off x="502920" y="3410712"/>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3</a:t>
            </a:r>
            <a:endParaRPr lang="en-US" sz="1000" dirty="0"/>
          </a:p>
        </p:txBody>
      </p:sp>
      <p:sp>
        <p:nvSpPr>
          <p:cNvPr id="14" name="Text 12"/>
          <p:cNvSpPr txBox="1"/>
          <p:nvPr/>
        </p:nvSpPr>
        <p:spPr>
          <a:xfrm>
            <a:off x="777240" y="3374136"/>
            <a:ext cx="7955280" cy="29260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Observe the results: each ship is a URI — click one to explore its data</a:t>
            </a:r>
            <a:endParaRPr lang="en-US" sz="1250" dirty="0"/>
          </a:p>
        </p:txBody>
      </p:sp>
      <p:sp>
        <p:nvSpPr>
          <p:cNvPr id="15" name="Shape 13"/>
          <p:cNvSpPr/>
          <p:nvPr/>
        </p:nvSpPr>
        <p:spPr>
          <a:xfrm>
            <a:off x="502920" y="3758184"/>
            <a:ext cx="201168" cy="201168"/>
          </a:xfrm>
          <a:prstGeom prst="ellipse">
            <a:avLst/>
          </a:prstGeom>
          <a:solidFill>
            <a:srgbClr val="E8A838"/>
          </a:solidFill>
          <a:ln w="12700">
            <a:solidFill>
              <a:srgbClr val="E8A838"/>
            </a:solidFill>
            <a:prstDash val="solid"/>
          </a:ln>
        </p:spPr>
        <p:txBody>
          <a:bodyPr/>
          <a:lstStyle/>
          <a:p>
            <a:endParaRPr lang="en-US"/>
          </a:p>
        </p:txBody>
      </p:sp>
      <p:sp>
        <p:nvSpPr>
          <p:cNvPr id="16" name="Text 14"/>
          <p:cNvSpPr txBox="1"/>
          <p:nvPr/>
        </p:nvSpPr>
        <p:spPr>
          <a:xfrm>
            <a:off x="502920" y="3749040"/>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4</a:t>
            </a:r>
            <a:endParaRPr lang="en-US" sz="1000" dirty="0"/>
          </a:p>
        </p:txBody>
      </p:sp>
      <p:sp>
        <p:nvSpPr>
          <p:cNvPr id="17" name="Text 15"/>
          <p:cNvSpPr txBox="1"/>
          <p:nvPr/>
        </p:nvSpPr>
        <p:spPr>
          <a:xfrm>
            <a:off x="777240" y="3712464"/>
            <a:ext cx="7955280" cy="292608"/>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Try the country/capital/population query: find countries, their capitals, and populations</a:t>
            </a:r>
            <a:endParaRPr lang="en-US" sz="1250" dirty="0">
              <a:solidFill>
                <a:schemeClr val="bg1"/>
              </a:solidFill>
            </a:endParaRPr>
          </a:p>
        </p:txBody>
      </p:sp>
      <p:sp>
        <p:nvSpPr>
          <p:cNvPr id="18" name="Shape 16"/>
          <p:cNvSpPr/>
          <p:nvPr/>
        </p:nvSpPr>
        <p:spPr>
          <a:xfrm>
            <a:off x="502920" y="4096512"/>
            <a:ext cx="201168" cy="201168"/>
          </a:xfrm>
          <a:prstGeom prst="ellipse">
            <a:avLst/>
          </a:prstGeom>
          <a:solidFill>
            <a:srgbClr val="E8A838"/>
          </a:solidFill>
          <a:ln w="12700">
            <a:solidFill>
              <a:srgbClr val="E8A838"/>
            </a:solidFill>
            <a:prstDash val="solid"/>
          </a:ln>
        </p:spPr>
        <p:txBody>
          <a:bodyPr/>
          <a:lstStyle/>
          <a:p>
            <a:endParaRPr lang="en-US"/>
          </a:p>
        </p:txBody>
      </p:sp>
      <p:sp>
        <p:nvSpPr>
          <p:cNvPr id="19" name="Text 17"/>
          <p:cNvSpPr txBox="1"/>
          <p:nvPr/>
        </p:nvSpPr>
        <p:spPr>
          <a:xfrm>
            <a:off x="502920" y="4087368"/>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5</a:t>
            </a:r>
            <a:endParaRPr lang="en-US" sz="1000" dirty="0"/>
          </a:p>
        </p:txBody>
      </p:sp>
      <p:sp>
        <p:nvSpPr>
          <p:cNvPr id="20" name="Text 18"/>
          <p:cNvSpPr txBox="1"/>
          <p:nvPr/>
        </p:nvSpPr>
        <p:spPr>
          <a:xfrm>
            <a:off x="777240" y="4050792"/>
            <a:ext cx="7955280" cy="292608"/>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Explore the DBpedia ontology at dbpedia.org/ontology to see what types and properties are available</a:t>
            </a:r>
            <a:endParaRPr lang="en-US" sz="1250" dirty="0">
              <a:solidFill>
                <a:schemeClr val="bg1"/>
              </a:solidFill>
            </a:endParaRPr>
          </a:p>
        </p:txBody>
      </p:sp>
      <p:sp>
        <p:nvSpPr>
          <p:cNvPr id="21" name="Shape 19"/>
          <p:cNvSpPr/>
          <p:nvPr/>
        </p:nvSpPr>
        <p:spPr>
          <a:xfrm>
            <a:off x="502920" y="4434840"/>
            <a:ext cx="201168" cy="201168"/>
          </a:xfrm>
          <a:prstGeom prst="ellipse">
            <a:avLst/>
          </a:prstGeom>
          <a:solidFill>
            <a:srgbClr val="E8A838"/>
          </a:solidFill>
          <a:ln w="12700">
            <a:solidFill>
              <a:srgbClr val="E8A838"/>
            </a:solidFill>
            <a:prstDash val="solid"/>
          </a:ln>
        </p:spPr>
        <p:txBody>
          <a:bodyPr/>
          <a:lstStyle/>
          <a:p>
            <a:endParaRPr lang="en-US"/>
          </a:p>
        </p:txBody>
      </p:sp>
      <p:sp>
        <p:nvSpPr>
          <p:cNvPr id="22" name="Text 20"/>
          <p:cNvSpPr txBox="1"/>
          <p:nvPr/>
        </p:nvSpPr>
        <p:spPr>
          <a:xfrm>
            <a:off x="502920" y="4425696"/>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6</a:t>
            </a:r>
            <a:endParaRPr lang="en-US" sz="1000" dirty="0"/>
          </a:p>
        </p:txBody>
      </p:sp>
      <p:sp>
        <p:nvSpPr>
          <p:cNvPr id="23" name="Text 21"/>
          <p:cNvSpPr txBox="1"/>
          <p:nvPr/>
        </p:nvSpPr>
        <p:spPr>
          <a:xfrm>
            <a:off x="777240" y="4389120"/>
            <a:ext cx="7955280" cy="292608"/>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Create your own query with 2–3 triple patterns on a topic of your choice</a:t>
            </a:r>
            <a:endParaRPr lang="en-US" sz="1250" dirty="0">
              <a:solidFill>
                <a:schemeClr val="bg1"/>
              </a:solidFill>
            </a:endParaRPr>
          </a:p>
        </p:txBody>
      </p:sp>
      <p:sp>
        <p:nvSpPr>
          <p:cNvPr id="24" name="Shape 22"/>
          <p:cNvSpPr/>
          <p:nvPr/>
        </p:nvSpPr>
        <p:spPr>
          <a:xfrm>
            <a:off x="502920" y="4773168"/>
            <a:ext cx="201168" cy="201168"/>
          </a:xfrm>
          <a:prstGeom prst="ellipse">
            <a:avLst/>
          </a:prstGeom>
          <a:solidFill>
            <a:srgbClr val="E8A838"/>
          </a:solidFill>
          <a:ln w="12700">
            <a:solidFill>
              <a:srgbClr val="E8A838"/>
            </a:solidFill>
            <a:prstDash val="solid"/>
          </a:ln>
        </p:spPr>
        <p:txBody>
          <a:bodyPr/>
          <a:lstStyle/>
          <a:p>
            <a:endParaRPr lang="en-US"/>
          </a:p>
        </p:txBody>
      </p:sp>
      <p:sp>
        <p:nvSpPr>
          <p:cNvPr id="25" name="Text 23"/>
          <p:cNvSpPr txBox="1"/>
          <p:nvPr/>
        </p:nvSpPr>
        <p:spPr>
          <a:xfrm>
            <a:off x="502920" y="4764024"/>
            <a:ext cx="201168" cy="20116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7</a:t>
            </a:r>
            <a:endParaRPr lang="en-US" sz="1000" dirty="0"/>
          </a:p>
        </p:txBody>
      </p:sp>
      <p:sp>
        <p:nvSpPr>
          <p:cNvPr id="26" name="Text 24"/>
          <p:cNvSpPr txBox="1"/>
          <p:nvPr/>
        </p:nvSpPr>
        <p:spPr>
          <a:xfrm>
            <a:off x="777240" y="4727448"/>
            <a:ext cx="7955280" cy="292608"/>
          </a:xfrm>
          <a:prstGeom prst="rect">
            <a:avLst/>
          </a:prstGeom>
          <a:noFill/>
          <a:ln/>
        </p:spPr>
        <p:txBody>
          <a:bodyPr wrap="square" rtlCol="0" anchor="ctr"/>
          <a:lstStyle/>
          <a:p>
            <a:pPr marL="0" indent="0">
              <a:buNone/>
            </a:pPr>
            <a:r>
              <a:rPr lang="en-US" sz="1250" dirty="0">
                <a:solidFill>
                  <a:schemeClr val="bg1"/>
                </a:solidFill>
                <a:latin typeface="Calibri" pitchFamily="34" charset="0"/>
                <a:ea typeface="Calibri" pitchFamily="34" charset="-122"/>
                <a:cs typeface="Calibri" pitchFamily="34" charset="-120"/>
              </a:rPr>
              <a:t>Copy the query URL and submit it with a short explanation of what you queried and why</a:t>
            </a:r>
            <a:endParaRPr lang="en-US" sz="125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21A2C"/>
        </a:solidFill>
        <a:effectLst/>
      </p:bgPr>
    </p:bg>
    <p:spTree>
      <p:nvGrpSpPr>
        <p:cNvPr id="1" name=""/>
        <p:cNvGrpSpPr/>
        <p:nvPr/>
      </p:nvGrpSpPr>
      <p:grpSpPr>
        <a:xfrm>
          <a:off x="0" y="0"/>
          <a:ext cx="0" cy="0"/>
          <a:chOff x="0" y="0"/>
          <a:chExt cx="0" cy="0"/>
        </a:xfrm>
      </p:grpSpPr>
      <p:sp>
        <p:nvSpPr>
          <p:cNvPr id="2" name="Shape 0"/>
          <p:cNvSpPr/>
          <p:nvPr/>
        </p:nvSpPr>
        <p:spPr>
          <a:xfrm>
            <a:off x="3200400" y="-457200"/>
            <a:ext cx="5486400" cy="5486400"/>
          </a:xfrm>
          <a:prstGeom prst="ellipse">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6400800" y="2743200"/>
            <a:ext cx="3200400" cy="3200400"/>
          </a:xfrm>
          <a:prstGeom prst="ellipse">
            <a:avLst/>
          </a:prstGeom>
          <a:solidFill>
            <a:srgbClr val="065A82"/>
          </a:solidFill>
          <a:ln w="12700">
            <a:solidFill>
              <a:srgbClr val="065A82"/>
            </a:solidFill>
            <a:prstDash val="solid"/>
          </a:ln>
        </p:spPr>
        <p:txBody>
          <a:bodyPr/>
          <a:lstStyle/>
          <a:p>
            <a:endParaRPr lang="en-US"/>
          </a:p>
        </p:txBody>
      </p:sp>
      <p:sp>
        <p:nvSpPr>
          <p:cNvPr id="4" name="Text 2"/>
          <p:cNvSpPr txBox="1"/>
          <p:nvPr/>
        </p:nvSpPr>
        <p:spPr>
          <a:xfrm>
            <a:off x="548640" y="411480"/>
            <a:ext cx="8229600" cy="47548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5" name="Shape 3"/>
          <p:cNvSpPr/>
          <p:nvPr/>
        </p:nvSpPr>
        <p:spPr>
          <a:xfrm>
            <a:off x="502920" y="1078992"/>
            <a:ext cx="320040" cy="320040"/>
          </a:xfrm>
          <a:prstGeom prst="ellipse">
            <a:avLst/>
          </a:prstGeom>
          <a:solidFill>
            <a:srgbClr val="1C7293"/>
          </a:solidFill>
          <a:ln w="12700">
            <a:solidFill>
              <a:srgbClr val="1C7293"/>
            </a:solidFill>
            <a:prstDash val="solid"/>
          </a:ln>
        </p:spPr>
        <p:txBody>
          <a:bodyPr/>
          <a:lstStyle/>
          <a:p>
            <a:endParaRPr lang="en-US"/>
          </a:p>
        </p:txBody>
      </p:sp>
      <p:sp>
        <p:nvSpPr>
          <p:cNvPr id="6" name="Text 4"/>
          <p:cNvSpPr txBox="1"/>
          <p:nvPr/>
        </p:nvSpPr>
        <p:spPr>
          <a:xfrm>
            <a:off x="502920" y="1097280"/>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932688" y="1097280"/>
            <a:ext cx="7772400" cy="457200"/>
          </a:xfrm>
          <a:prstGeom prst="rect">
            <a:avLst/>
          </a:prstGeom>
          <a:noFill/>
          <a:ln/>
        </p:spPr>
        <p:txBody>
          <a:bodyPr wrap="square" rtlCol="0" anchor="ctr"/>
          <a:lstStyle/>
          <a:p>
            <a:pPr marL="0" indent="0">
              <a:buNone/>
            </a:pPr>
            <a:r>
              <a:rPr lang="en-US" sz="1400" dirty="0">
                <a:solidFill>
                  <a:srgbClr val="02C39A"/>
                </a:solidFill>
                <a:latin typeface="Calibri" pitchFamily="34" charset="0"/>
                <a:ea typeface="Calibri" pitchFamily="34" charset="-122"/>
                <a:cs typeface="Calibri" pitchFamily="34" charset="-120"/>
              </a:rPr>
              <a:t>The web is documents; the semantic web adds formal meaning.</a:t>
            </a:r>
            <a:endParaRPr lang="en-US" sz="1400" dirty="0"/>
          </a:p>
        </p:txBody>
      </p:sp>
      <p:sp>
        <p:nvSpPr>
          <p:cNvPr id="8" name="Shape 6"/>
          <p:cNvSpPr/>
          <p:nvPr/>
        </p:nvSpPr>
        <p:spPr>
          <a:xfrm>
            <a:off x="502920" y="1618488"/>
            <a:ext cx="320040" cy="320040"/>
          </a:xfrm>
          <a:prstGeom prst="ellipse">
            <a:avLst/>
          </a:prstGeom>
          <a:solidFill>
            <a:srgbClr val="1C7293"/>
          </a:solidFill>
          <a:ln w="12700">
            <a:solidFill>
              <a:srgbClr val="1C7293"/>
            </a:solidFill>
            <a:prstDash val="solid"/>
          </a:ln>
        </p:spPr>
        <p:txBody>
          <a:bodyPr/>
          <a:lstStyle/>
          <a:p>
            <a:endParaRPr lang="en-US"/>
          </a:p>
        </p:txBody>
      </p:sp>
      <p:sp>
        <p:nvSpPr>
          <p:cNvPr id="9" name="Text 7"/>
          <p:cNvSpPr txBox="1"/>
          <p:nvPr/>
        </p:nvSpPr>
        <p:spPr>
          <a:xfrm>
            <a:off x="502920" y="1636776"/>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932688" y="1636776"/>
            <a:ext cx="7772400" cy="457200"/>
          </a:xfrm>
          <a:prstGeom prst="rect">
            <a:avLst/>
          </a:prstGeom>
          <a:noFill/>
          <a:ln/>
        </p:spPr>
        <p:txBody>
          <a:bodyPr wrap="square" rtlCol="0" anchor="ctr"/>
          <a:lstStyle/>
          <a:p>
            <a:pPr marL="0" indent="0">
              <a:buNone/>
            </a:pPr>
            <a:r>
              <a:rPr lang="en-US" sz="1400" dirty="0">
                <a:solidFill>
                  <a:srgbClr val="02C39A"/>
                </a:solidFill>
                <a:latin typeface="Calibri" pitchFamily="34" charset="0"/>
                <a:ea typeface="Calibri" pitchFamily="34" charset="-122"/>
                <a:cs typeface="Calibri" pitchFamily="34" charset="-120"/>
              </a:rPr>
              <a:t>RDF triples (Subject → Predicate → Object) are the atomic unit of knowledge representation.</a:t>
            </a:r>
            <a:endParaRPr lang="en-US" sz="1400" dirty="0"/>
          </a:p>
        </p:txBody>
      </p:sp>
      <p:sp>
        <p:nvSpPr>
          <p:cNvPr id="11" name="Shape 9"/>
          <p:cNvSpPr/>
          <p:nvPr/>
        </p:nvSpPr>
        <p:spPr>
          <a:xfrm>
            <a:off x="502920" y="2157984"/>
            <a:ext cx="320040" cy="320040"/>
          </a:xfrm>
          <a:prstGeom prst="ellipse">
            <a:avLst/>
          </a:prstGeom>
          <a:solidFill>
            <a:srgbClr val="1C7293"/>
          </a:solidFill>
          <a:ln w="12700">
            <a:solidFill>
              <a:srgbClr val="1C7293"/>
            </a:solidFill>
            <a:prstDash val="solid"/>
          </a:ln>
        </p:spPr>
        <p:txBody>
          <a:bodyPr/>
          <a:lstStyle/>
          <a:p>
            <a:endParaRPr lang="en-US"/>
          </a:p>
        </p:txBody>
      </p:sp>
      <p:sp>
        <p:nvSpPr>
          <p:cNvPr id="12" name="Text 10"/>
          <p:cNvSpPr txBox="1"/>
          <p:nvPr/>
        </p:nvSpPr>
        <p:spPr>
          <a:xfrm>
            <a:off x="502920" y="2176272"/>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932688" y="2176272"/>
            <a:ext cx="7772400" cy="457200"/>
          </a:xfrm>
          <a:prstGeom prst="rect">
            <a:avLst/>
          </a:prstGeom>
          <a:noFill/>
          <a:ln/>
        </p:spPr>
        <p:txBody>
          <a:bodyPr wrap="square" rtlCol="0" anchor="ctr"/>
          <a:lstStyle/>
          <a:p>
            <a:pPr marL="0" indent="0">
              <a:buNone/>
            </a:pPr>
            <a:r>
              <a:rPr lang="en-US" sz="1400" dirty="0">
                <a:solidFill>
                  <a:srgbClr val="E8A838"/>
                </a:solidFill>
                <a:latin typeface="Calibri" pitchFamily="34" charset="0"/>
                <a:ea typeface="Calibri" pitchFamily="34" charset="-122"/>
                <a:cs typeface="Calibri" pitchFamily="34" charset="-120"/>
              </a:rPr>
              <a:t>Knowledge graphs make relationships explicit, typed, and traversable — beyond what embeddings can do.</a:t>
            </a:r>
            <a:endParaRPr lang="en-US" sz="1400" dirty="0"/>
          </a:p>
        </p:txBody>
      </p:sp>
      <p:sp>
        <p:nvSpPr>
          <p:cNvPr id="14" name="Shape 12"/>
          <p:cNvSpPr/>
          <p:nvPr/>
        </p:nvSpPr>
        <p:spPr>
          <a:xfrm>
            <a:off x="502920" y="2697480"/>
            <a:ext cx="320040" cy="320040"/>
          </a:xfrm>
          <a:prstGeom prst="ellipse">
            <a:avLst/>
          </a:prstGeom>
          <a:solidFill>
            <a:srgbClr val="1C7293"/>
          </a:solidFill>
          <a:ln w="12700">
            <a:solidFill>
              <a:srgbClr val="1C7293"/>
            </a:solidFill>
            <a:prstDash val="solid"/>
          </a:ln>
        </p:spPr>
        <p:txBody>
          <a:bodyPr/>
          <a:lstStyle/>
          <a:p>
            <a:endParaRPr lang="en-US"/>
          </a:p>
        </p:txBody>
      </p:sp>
      <p:sp>
        <p:nvSpPr>
          <p:cNvPr id="15" name="Text 13"/>
          <p:cNvSpPr txBox="1"/>
          <p:nvPr/>
        </p:nvSpPr>
        <p:spPr>
          <a:xfrm>
            <a:off x="502920" y="2715768"/>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932688" y="2715768"/>
            <a:ext cx="7772400" cy="457200"/>
          </a:xfrm>
          <a:prstGeom prst="rect">
            <a:avLst/>
          </a:prstGeom>
          <a:noFill/>
          <a:ln/>
        </p:spPr>
        <p:txBody>
          <a:bodyPr wrap="square" rtlCol="0" anchor="ctr"/>
          <a:lstStyle/>
          <a:p>
            <a:pPr marL="0" indent="0">
              <a:buNone/>
            </a:pPr>
            <a:r>
              <a:rPr lang="en-US" sz="1400" dirty="0">
                <a:solidFill>
                  <a:srgbClr val="E8A838"/>
                </a:solidFill>
                <a:latin typeface="Calibri" pitchFamily="34" charset="0"/>
                <a:ea typeface="Calibri" pitchFamily="34" charset="-122"/>
                <a:cs typeface="Calibri" pitchFamily="34" charset="-120"/>
              </a:rPr>
              <a:t>SPARQL is the query language for graphs — SQL for the semantic web.</a:t>
            </a:r>
            <a:endParaRPr lang="en-US" sz="1400" dirty="0"/>
          </a:p>
        </p:txBody>
      </p:sp>
      <p:sp>
        <p:nvSpPr>
          <p:cNvPr id="17" name="Shape 15"/>
          <p:cNvSpPr/>
          <p:nvPr/>
        </p:nvSpPr>
        <p:spPr>
          <a:xfrm>
            <a:off x="502920" y="3236976"/>
            <a:ext cx="320040" cy="320040"/>
          </a:xfrm>
          <a:prstGeom prst="ellipse">
            <a:avLst/>
          </a:prstGeom>
          <a:solidFill>
            <a:srgbClr val="1C7293"/>
          </a:solidFill>
          <a:ln w="12700">
            <a:solidFill>
              <a:srgbClr val="1C7293"/>
            </a:solidFill>
            <a:prstDash val="solid"/>
          </a:ln>
        </p:spPr>
        <p:txBody>
          <a:bodyPr/>
          <a:lstStyle/>
          <a:p>
            <a:endParaRPr lang="en-US"/>
          </a:p>
        </p:txBody>
      </p:sp>
      <p:sp>
        <p:nvSpPr>
          <p:cNvPr id="18" name="Text 16"/>
          <p:cNvSpPr txBox="1"/>
          <p:nvPr/>
        </p:nvSpPr>
        <p:spPr>
          <a:xfrm>
            <a:off x="502920" y="3255264"/>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9" name="Text 17"/>
          <p:cNvSpPr txBox="1"/>
          <p:nvPr/>
        </p:nvSpPr>
        <p:spPr>
          <a:xfrm>
            <a:off x="932688" y="3255264"/>
            <a:ext cx="7772400" cy="4572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Wikidata and DBpedia are live, queryable knowledge graphs you can use right now.</a:t>
            </a:r>
            <a:endParaRPr lang="en-US" sz="1400" dirty="0"/>
          </a:p>
        </p:txBody>
      </p:sp>
      <p:sp>
        <p:nvSpPr>
          <p:cNvPr id="20" name="Shape 18"/>
          <p:cNvSpPr/>
          <p:nvPr/>
        </p:nvSpPr>
        <p:spPr>
          <a:xfrm>
            <a:off x="502920" y="3776472"/>
            <a:ext cx="320040" cy="320040"/>
          </a:xfrm>
          <a:prstGeom prst="ellipse">
            <a:avLst/>
          </a:prstGeom>
          <a:solidFill>
            <a:srgbClr val="1C7293"/>
          </a:solidFill>
          <a:ln w="12700">
            <a:solidFill>
              <a:srgbClr val="1C7293"/>
            </a:solidFill>
            <a:prstDash val="solid"/>
          </a:ln>
        </p:spPr>
        <p:txBody>
          <a:bodyPr/>
          <a:lstStyle/>
          <a:p>
            <a:endParaRPr lang="en-US"/>
          </a:p>
        </p:txBody>
      </p:sp>
      <p:sp>
        <p:nvSpPr>
          <p:cNvPr id="21" name="Text 19"/>
          <p:cNvSpPr txBox="1"/>
          <p:nvPr/>
        </p:nvSpPr>
        <p:spPr>
          <a:xfrm>
            <a:off x="502920" y="3794760"/>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2" name="Text 20"/>
          <p:cNvSpPr txBox="1"/>
          <p:nvPr/>
        </p:nvSpPr>
        <p:spPr>
          <a:xfrm>
            <a:off x="932688" y="3794760"/>
            <a:ext cx="7772400" cy="4572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These tools are already running in Google, Siri, ChatGPT, and every major AI system.</a:t>
            </a:r>
            <a:endParaRPr lang="en-US" sz="1400" dirty="0"/>
          </a:p>
        </p:txBody>
      </p:sp>
      <p:sp>
        <p:nvSpPr>
          <p:cNvPr id="23" name="Shape 21"/>
          <p:cNvSpPr/>
          <p:nvPr/>
        </p:nvSpPr>
        <p:spPr>
          <a:xfrm>
            <a:off x="502920" y="4315968"/>
            <a:ext cx="320040" cy="320040"/>
          </a:xfrm>
          <a:prstGeom prst="ellipse">
            <a:avLst/>
          </a:prstGeom>
          <a:solidFill>
            <a:srgbClr val="1C7293"/>
          </a:solidFill>
          <a:ln w="12700">
            <a:solidFill>
              <a:srgbClr val="1C7293"/>
            </a:solidFill>
            <a:prstDash val="solid"/>
          </a:ln>
        </p:spPr>
        <p:txBody>
          <a:bodyPr/>
          <a:lstStyle/>
          <a:p>
            <a:endParaRPr lang="en-US"/>
          </a:p>
        </p:txBody>
      </p:sp>
      <p:sp>
        <p:nvSpPr>
          <p:cNvPr id="24" name="Text 22"/>
          <p:cNvSpPr txBox="1"/>
          <p:nvPr/>
        </p:nvSpPr>
        <p:spPr>
          <a:xfrm>
            <a:off x="502920" y="4334256"/>
            <a:ext cx="32004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5" name="Text 23"/>
          <p:cNvSpPr txBox="1"/>
          <p:nvPr/>
        </p:nvSpPr>
        <p:spPr>
          <a:xfrm>
            <a:off x="932688" y="4334256"/>
            <a:ext cx="777240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The path ahead: Neo4j brings graphs to enterprise data; causal inference gives edges causal meaning.</a:t>
            </a:r>
            <a:endParaRPr lang="en-US" sz="14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137</TotalTime>
  <Words>9181</Words>
  <Application>Microsoft Office PowerPoint</Application>
  <PresentationFormat>On-screen Show (16:9)</PresentationFormat>
  <Paragraphs>373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Whitworth, Clifford</cp:lastModifiedBy>
  <cp:revision>2</cp:revision>
  <dcterms:created xsi:type="dcterms:W3CDTF">2026-09-06T15:57:18Z</dcterms:created>
  <dcterms:modified xsi:type="dcterms:W3CDTF">2026-09-06T18:22:18Z</dcterms:modified>
</cp:coreProperties>
</file>